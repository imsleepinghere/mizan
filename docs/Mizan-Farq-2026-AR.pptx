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media/image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8"/>
    <p:sldId id="263" r:id="rId9"/>
  </p:sldIdLst>
  <p:sldSz cx="29489400" cy="15240000"/>
  <p:notesSz cx="15240000" cy="29489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307F00D-FDA6-4493-8213-BC9C809603DC}">
          <p14:sldIdLst>
            <p14:sldId id="256"/>
          </p14:sldIdLst>
        </p14:section>
        <p14:section name="Problem" id="{7794F5C2-BDD6-36A5-6A75-9FAABE940FEE}">
          <p14:sldIdLst>
            <p14:sldId id="257"/>
            <p14:sldId id="258"/>
          </p14:sldIdLst>
        </p14:section>
        <p14:section name="Solution" id="{E550209F-3F0B-EE56-BE44-14DD0F986802}">
          <p14:sldIdLst>
            <p14:sldId id="259"/>
          </p14:sldIdLst>
        </p14:section>
        <p14:section name="Demo" id="{C9B1D731-5EC7-E5BC-D338-DFF941FCBEF8}">
          <p14:sldIdLst>
            <p14:sldId id="260"/>
            <p14:sldId id="261"/>
          </p14:sldIdLst>
        </p14:section>
        <p14:section name="Technology" id="{7CCCC48D-DAC2-9033-D766-04E95D2C13EB}">
          <p14:sldIdLst>
            <p14:sldId id="262"/>
          </p14:sldIdLst>
        </p14:section>
        <p14:section name="Close" id="{7B9E9FFD-6CB3-AE99-C72D-E34BE644D5B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16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القرارات الصحيحة (من 120)</c:v>
                </c:pt>
              </c:strCache>
            </c:strRef>
          </c:tx>
          <c:spPr>
            <a:solidFill>
              <a:srgbClr val="CFC3B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FC3B3"/>
              </a:solidFill>
            </c:spPr>
            <c:extLst>
              <c:ext xmlns:c16="http://schemas.microsoft.com/office/drawing/2014/chart" uri="{C3380CC4-5D6E-409C-BE32-E72D297353CC}">
                <c16:uniqueId val="{00000001-1DDF-4958-B726-B6501121E071}"/>
              </c:ext>
            </c:extLst>
          </c:dPt>
          <c:dPt>
            <c:idx val="1"/>
            <c:invertIfNegative val="0"/>
            <c:bubble3D val="0"/>
            <c:spPr>
              <a:solidFill>
                <a:srgbClr val="E3C9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DF-4958-B726-B6501121E071}"/>
              </c:ext>
            </c:extLst>
          </c:dPt>
          <c:dPt>
            <c:idx val="2"/>
            <c:invertIfNegative val="1"/>
            <c:bubble3D val="0"/>
            <c:spPr>
              <a:solidFill>
                <a:srgbClr val="F4A252"/>
              </a:solidFill>
            </c:spPr>
            <c:extLst>
              <c:ext xmlns:c16="http://schemas.microsoft.com/office/drawing/2014/chart" uri="{C3380CC4-5D6E-409C-BE32-E72D297353CC}">
                <c16:uniqueId val="{00000005-1647-4C4E-9E11-F0282D80C6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140" b="0" i="0" u="none" strike="noStrike">
                    <a:solidFill>
                      <a:srgbClr val="1721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الأساسي، تعليمات قديمة</c:v>
                </c:pt>
                <c:pt idx="1">
                  <c:v>الأساسي، تعليمات جديدة</c:v>
                </c:pt>
                <c:pt idx="2">
                  <c:v>بعد التدريب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96</c:v>
                </c:pt>
                <c:pt idx="2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DDF-4958-B726-B6501121E0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900" b="0" i="0" u="none" strike="noStrike">
                <a:solidFill>
                  <a:srgbClr val="17212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axMin"/>
          <c:max val="13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0225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>
                <a:cs typeface="Arial"/>
              </a:rPr>
              <a:t>[0:00–0:20 · الفريق كاملاً · 20 ثانية]</a:t>
            </a:r>
          </a:p>
          <a:p>
            <a:pPr rtl="1" algn="r"/>
            <a:r>
              <a:rPr lang="ar-SA">
                <a:cs typeface="Arial"/>
              </a:rPr>
              <a:t>سلطان: «صباح الخير، نحن فريق ميزان.» (يذكر سلطان وعلي ومشاري الاسم والدور في سطر واحد كما في البطاقات.)</a:t>
            </a:r>
          </a:p>
          <a:p>
            <a:pPr rtl="1" algn="r"/>
            <a:r>
              <a:rPr lang="ar-SA">
                <a:cs typeface="Arial"/>
              </a:rPr>
              <a:t>سلطان: «ميزان مساعد ذكاء اصطناعي محلي يجعل الجدول الجامعي أفضل للطلاب، ويبقى كل تغيير بيد إنسان.»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>
                <a:cs typeface="Arial"/>
              </a:rPr>
              <a:t>[0:20–1:00 · سلطان · 40 ثانية]</a:t>
            </a:r>
          </a:p>
          <a:p>
            <a:pPr rtl="1" algn="r"/>
            <a:r>
              <a:rPr lang="ar-SA">
                <a:cs typeface="Arial"/>
              </a:rPr>
              <a:t>«الجدول يحدد متى يأتي الطالب وكم ينتظر ومتى يغادر، والأبحاث تثبت أثره.</a:t>
            </a:r>
          </a:p>
          <a:p>
            <a:pPr rtl="1" algn="r"/>
            <a:r>
              <a:rPr lang="ar-SA">
                <a:cs typeface="Arial"/>
              </a:rPr>
              <a:t>في جامعة الأمير سلطان بالرياض، تنبأت ثلاثة عوامل في الجدول بغياب الطلاب بدقة 87%، أحدها وقت الفراغ بين المحاضرات. وفي الدراسة نفسها: غياب أكثر يعني معدلاً أقل، بمعامل ارتباط −0.71.</a:t>
            </a:r>
          </a:p>
          <a:p>
            <a:pPr rtl="1" algn="r"/>
            <a:r>
              <a:rPr lang="ar-SA">
                <a:cs typeface="Arial"/>
              </a:rPr>
              <a:t>ودراسة بريطانية وُزّعت فيها الجداول عشوائياً وجدت الشيء نفسه: تتابع المحاضرات يرفع الحضور، ويوم المحاضرة الواحدة يخفضه.</a:t>
            </a:r>
          </a:p>
          <a:p>
            <a:pPr rtl="1" algn="r"/>
            <a:r>
              <a:rPr lang="ar-SA">
                <a:cs typeface="Arial"/>
              </a:rPr>
              <a:t>والقاعات شبه فارغة: نحو 20% استخدام في أكثر من 30 جامعة بريطانية.</a:t>
            </a:r>
          </a:p>
          <a:p>
            <a:pPr rtl="1" algn="r"/>
            <a:r>
              <a:rPr lang="ar-SA">
                <a:cs typeface="Arial"/>
              </a:rPr>
              <a:t>الجدول أداة تملكها كل جامعة، لكنه يُبنى اليوم ليكون صحيحاً لا ليكون جيداً للطلاب.»</a:t>
            </a:r>
          </a:p>
          <a:p>
            <a:pPr rtl="1" algn="r"/>
            <a:r>
              <a:rPr lang="ar-SA">
                <a:cs typeface="Arial"/>
              </a:rPr>
              <a:t>ملاحظة للأسئلة: لا ندّعي رفع المعدلات؛ العلاقة مع الدرجات ارتباط فقط. ندّعي الحضور ووقت الطالب.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>
                <a:cs typeface="Arial"/>
              </a:rPr>
              <a:t>[1:00–1:25 · سلطان · 25 ثانية]</a:t>
            </a:r>
          </a:p>
          <a:p>
            <a:pPr rtl="1" algn="r"/>
            <a:r>
              <a:rPr lang="ar-SA">
                <a:cs typeface="Arial"/>
              </a:rPr>
              <a:t>«لماذا لا نحسّنه ببساطة؟ لأن كل تغيير يمتد أثره: تنقل محاضرة واحدة فتعيد فحص القاعة والأستاذ وكل طالب مسجل ومحاضراته الأخرى.</a:t>
            </a:r>
          </a:p>
          <a:p>
            <a:pPr rtl="1" algn="r"/>
            <a:r>
              <a:rPr lang="ar-SA">
                <a:cs typeface="Arial"/>
              </a:rPr>
              <a:t>جمعنا 30 طلباً حقيقياً من الأساتذة: نقل محاضرة، وقت لاختبار قصير، دمج شعبتين.</a:t>
            </a:r>
          </a:p>
          <a:p>
            <a:pPr rtl="1" algn="r"/>
            <a:r>
              <a:rPr lang="ar-SA">
                <a:cs typeface="Arial"/>
              </a:rPr>
              <a:t>في عرضنا، نقل واحد إلى الأحد 10:00 يُحدث 77 تعارضاً. هذا لا يمكن يدوياً.»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>
                <a:cs typeface="Arial"/>
              </a:rPr>
              <a:t>[1:25–1:50 · مشاري · 25 ثانية]</a:t>
            </a:r>
          </a:p>
          <a:p>
            <a:pPr rtl="1" algn="r"/>
            <a:r>
              <a:rPr lang="ar-SA">
                <a:cs typeface="Arial"/>
              </a:rPr>
              <a:t>«يعمل ميزان في خمس خطوات: استيراد فصل كامل، أو جدول طالب واحد من البوابة بصيغة PDF أو لقطة شاشة. قياس الفجوات وأيام الحضور واستخدام القاعات. تحسين بمحلل لا يقترح إلا جداول صحيحة. اعتماد: ترى اللجنة الفائدة والضرر جنباً إلى جنب. ثم تصدير بتنسيق البوابة.</a:t>
            </a:r>
          </a:p>
          <a:p>
            <a:pPr rtl="1" algn="r"/>
            <a:r>
              <a:rPr lang="ar-SA">
                <a:cs typeface="Arial"/>
              </a:rPr>
              <a:t>يخدم لجنة الجدولة ورؤساء الأقسام والأساتذة والطلاب ومديري التوظيف. سيعرض لكم علي.»</a:t>
            </a:r>
          </a:p>
          <a:p>
            <a:pPr rtl="1" algn="r"/>
            <a:r>
              <a:rPr lang="ar-SA">
                <a:cs typeface="Arial"/>
              </a:rPr>
              <a:t/>
            </a:r>
          </a:p>
          <a:p>
            <a:pPr rtl="1" algn="r"/>
            <a:r>
              <a:rPr lang="ar-SA">
                <a:cs typeface="Arial"/>
              </a:rPr>
              <a:t/>
            </a:r>
          </a:p>
          <a:p>
            <a:pPr rtl="1" algn="r"/>
            <a:r>
              <a:rPr lang="ar-SA">
                <a:cs typeface="Arial"/>
              </a:rPr>
              <a:t>← الانتقال إلى المتصفح (علي). ثم العودة إلى العرض على شريحة الثقة.</a:t>
            </a:r>
          </a:p>
          <a:p>
            <a:pPr rtl="1" algn="r"/>
            <a:r>
              <a:rPr lang="ar-SA">
                <a:cs typeface="Arial"/>
              </a:rPr>
              <a:t/>
            </a:r>
          </a:p>
          <a:p>
            <a:pPr rtl="1" algn="r"/>
            <a:r>
              <a:rPr lang="ar-SA">
                <a:cs typeface="Arial"/>
              </a:rPr>
              <a:t>[1:50–3:00 · علي · عرض حي · 70 ثانية] (على الحاسوب المحمول؛ لا يحتاج هذا الجزء إلى الذكاء الاصطناعي)</a:t>
            </a:r>
          </a:p>
          <a:p>
            <a:pPr rtl="1" algn="r"/>
            <a:r>
              <a:rPr lang="ar-SA">
                <a:cs typeface="Arial"/>
              </a:rPr>
              <a:t>1. النظرة العامة: «هذا فصل تجريبي بـ1,500 طالب افتراضي، بدايته ضعيفة عمداً: 10 ساعات فجوات لكل طالب أسبوعياً. المهم هو المنهجية.»</a:t>
            </a:r>
          </a:p>
          <a:p>
            <a:pPr rtl="1" algn="r"/>
            <a:r>
              <a:rPr lang="ar-SA">
                <a:cs typeface="Arial"/>
              </a:rPr>
              <a:t>2. تحسين الفصل ← تشغيل (15 ثانية). أثناء الانتظار: «المحلل يبحث في الجداول الصحيحة، ومدقق مستقل يعيد فحص كل نتيجة.»</a:t>
            </a:r>
          </a:p>
          <a:p>
            <a:pPr rtl="1" algn="r"/>
            <a:r>
              <a:rPr lang="ar-SA">
                <a:cs typeface="Arial"/>
              </a:rPr>
              <a:t>3. الأدلة: «نحو 1,800 ساعة طالب أسبوعياً، 225 طالباً استفادوا، لا أحد تضرر، ولا تعارضات؛ الفائدة والضرر معروضان منفصلين.»</a:t>
            </a:r>
          </a:p>
          <a:p>
            <a:pPr rtl="1" algn="r"/>
            <a:r>
              <a:rPr lang="ar-SA">
                <a:cs typeface="Arial"/>
              </a:rPr>
              <a:t>4. اعتماد ← تبقى النافذة مفتوحة ← نشر: «لا يتغير شيء حتى يعتمد إنسان وينشر.»</a:t>
            </a:r>
          </a:p>
          <a:p>
            <a:pPr rtl="1" algn="r"/>
            <a:r>
              <a:rPr lang="ar-SA">
                <a:cs typeface="Arial"/>
              </a:rPr>
              <a:t>إذا تعطل شيء: شغّل فيديو العرض الاحتياطي على سطح المكتب.</a:t>
            </a:r>
          </a:p>
          <a:p>
            <a:pPr rtl="1" algn="r"/>
            <a:r>
              <a:rPr lang="ar-SA">
                <a:cs typeface="Arial"/>
              </a:rPr>
              <a:t/>
            </a:r>
          </a:p>
          <a:p>
            <a:pPr rtl="1" algn="r"/>
            <a:r>
              <a:rPr lang="ar-SA">
                <a:cs typeface="Arial"/>
              </a:rPr>
              <a:t>[3:00–3:30 · علي · عرض حي · 30 ثانية]</a:t>
            </a:r>
          </a:p>
          <a:p>
            <a:pPr rtl="1" algn="r"/>
            <a:r>
              <a:rPr lang="ar-SA">
                <a:cs typeface="Arial"/>
              </a:rPr>
              <a:t>«ويتعامل ميزان مع صيغة اليمامة نفسها.» مختبر الفصل ← استيراد البوابة: ارفع لقطة شاشة التطبيق (تُقرأ في ثانية على هذا الجهاز ولا يُحفظ الملف). «أي شيء غير مؤكد يُظلَّل لتراجعه.»</a:t>
            </a:r>
          </a:p>
          <a:p>
            <a:pPr rtl="1" algn="r"/>
            <a:r>
              <a:rPr lang="ar-SA">
                <a:cs typeface="Arial"/>
              </a:rPr>
              <a:t>ثم نزّل ملف PDF الجاهز: «تعود النتيجة بتنسيق البوابة مع تظليل الصفوف المتغيرة. المحاضرون وسعة القاعات ليست في جدول الطالب، لذا يعلّمها ميزان كافتراضية ولا ينشر حتى تُوثَّق.»</a:t>
            </a:r>
          </a:p>
          <a:p>
            <a:pPr rtl="1" algn="r"/>
            <a:r>
              <a:rPr lang="ar-SA">
                <a:cs typeface="Arial"/>
              </a:rPr>
              <a:t>قبل العرض: استورد جدولك وحسّنه مرة واحدة ليكون ملف التصدير جاهزاً.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>
                <a:cs typeface="Arial"/>
              </a:rPr>
              <a:t>[3:30–4:10 · علي · 40 ثانية]</a:t>
            </a:r>
          </a:p>
          <a:p>
            <a:pPr rtl="1" algn="r"/>
            <a:r>
              <a:rPr lang="ar-SA">
                <a:cs typeface="Arial"/>
              </a:rPr>
              <a:t>«ثلاثة أسباب للثقة. أولاً: الذكاء الاصطناعي يعمل على هذا الجهاز، بلا سحابة، ولا تغادر بيانات الطلاب الجامعة. اختبرنا وكيل التنسيق على 120 قراراً افتراضياً: تعليمات أفضل رفعت النموذج الأساسي من 75 إلى 96 قراراً صحيحاً، والتدريب أضاف نحو 10 أخرى ليصل إلى 106.</a:t>
            </a:r>
          </a:p>
          <a:p>
            <a:pPr rtl="1" algn="r"/>
            <a:r>
              <a:rPr lang="ar-SA">
                <a:cs typeface="Arial"/>
              </a:rPr>
              <a:t>ثانياً: الذكاء الاصطناعي لا يقرر أي قاعدة إلزامية ولا النتيجة النهائية؛ المحلل يجد جداول صحيحة، ومدقق مستقل يعيد فحص كل واحد.</a:t>
            </a:r>
          </a:p>
          <a:p>
            <a:pPr rtl="1" algn="r"/>
            <a:r>
              <a:rPr lang="ar-SA">
                <a:cs typeface="Arial"/>
              </a:rPr>
              <a:t>ثالثاً: 99 اختباراً آلياً وثلاث مجموعات اختبار للمتصفح تنجح، والعربية والإنجليزية تعرضان الأرقام نفسها دائماً.»</a:t>
            </a:r>
          </a:p>
          <a:p>
            <a:pPr rtl="1" algn="r"/>
            <a:r>
              <a:rPr lang="ar-SA">
                <a:cs typeface="Arial"/>
              </a:rPr>
              <a:t>للأسئلة: التدريب وحده صحّح 14 قراراً وأفسد 4 (p ≈ 0.03)، وحالات الاختبار من المولّد نفسه لبيانات التدريب. لا تذكر «111» أبداً.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 algn="r"/>
            <a:r>
              <a:rPr lang="ar-SA">
                <a:cs typeface="Arial"/>
              </a:rPr>
              <a:t>[4:10–4:50 · مشاري · 40 ثانية] ثم [4:50–5:00 · سلطان · 10 ثوانٍ]</a:t>
            </a:r>
          </a:p>
          <a:p>
            <a:pPr rtl="1" algn="r"/>
            <a:r>
              <a:rPr lang="ar-SA">
                <a:cs typeface="Arial"/>
              </a:rPr>
              <a:t>مشاري: «للطلاب: ساعات انتظار وأيام حضور أقل، وأسباب أكثر للحضور. للجنة: كل تغيير يُفحص في ثوانٍ، بالأدلة بدل سلاسل البريد. للجامعة: القاعات غير المستخدمة تصبح مرئية، والبيانات تبقى داخل الجامعة.</a:t>
            </a:r>
          </a:p>
          <a:p>
            <a:pPr rtl="1" algn="r"/>
            <a:r>
              <a:rPr lang="ar-SA">
                <a:cs typeface="Arial"/>
              </a:rPr>
              <a:t>الخطوات التالية: تجربة في كلية واحدة ببيانات حقيقية من البوابة مع توثيق القاعات والمحاضرين، ثم تقويم دراسي للتغييرات لمرة واحدة والاختبارات ومواعيد رمضان، ثم الاعتمادات والإشعارات ليُبلَّغ الطلاب عند تغيّر جدولهم.»</a:t>
            </a:r>
          </a:p>
          <a:p>
            <a:pPr rtl="1" algn="r"/>
            <a:r>
              <a:rPr lang="ar-SA">
                <a:cs typeface="Arial"/>
              </a:rPr>
              <a:t>سلطان: «كل ساعة تصنع فرقاً. شكراً لكم، يسعدنا تلقي أسئلتكم.»</a:t>
            </a:r>
          </a:p>
          <a:p>
            <a:pPr rtl="1" algn="r"/>
            <a:r>
              <a:rPr lang="ar-SA">
                <a:cs typeface="Arial"/>
              </a:rPr>
              <a:t>توزيع الأسئلة: المشكلة والبحث ← سلطان؛ الذكاء الاصطناعي والمحلل والبيانات والأمان ← علي؛ القيمة والتجربة والتكلفة والمستخدمون ← مشاري. مثال القدرات إن سُئلتم: «36 من 112 طالباً يحتاجون مقرر تعلم الآلة لن يجدوا مقعداً.»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ZAN_DARK">
    <p:bg>
      <p:bgPr>
        <a:solidFill>
          <a:srgbClr val="111C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ZAN_CONTENT"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00038" y="928939"/>
            <a:ext cx="26762293" cy="176936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r" rtl="1">
              <a:buNone/>
            </a:pPr>
            <a:r>
              <a:rPr lang="ar-SA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Title</a:t>
            </a:r>
            <a:endParaRPr lang="en-US" sz="7260" dirty="0"/>
          </a:p>
        </p:txBody>
      </p:sp>
      <p:sp>
        <p:nvSpPr>
          <p:cNvPr id="3" name="Text 0"/>
          <p:cNvSpPr/>
          <p:nvPr/>
        </p:nvSpPr>
        <p:spPr>
          <a:xfrm>
            <a:off x="14891735" y="14332214"/>
            <a:ext cx="13270596" cy="55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 algn="r">
              <a:buNone/>
            </a:pPr>
            <a:r>
              <a:rPr lang="ar-SA" sz="218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ميزان  ·  فرق 2026</a:t>
            </a:r>
            <a:endParaRPr lang="en-US" sz="2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3374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 rtl="1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27097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mpus photo" descr="C:\Users\Admin\AppData\Local\Temp\claude\C--Users-Admin-Documents-GitHub-Mizan\b7a3e5b0-497b-48e5-8b06-72387145df4d\scratchpad\deck\img_campu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122372" cy="15236830"/>
          </a:xfrm>
          <a:prstGeom prst="rect">
            <a:avLst/>
          </a:prstGeom>
        </p:spPr>
      </p:pic>
      <p:sp>
        <p:nvSpPr>
          <p:cNvPr id="3" name="Photo shade"/>
          <p:cNvSpPr/>
          <p:nvPr/>
        </p:nvSpPr>
        <p:spPr>
          <a:xfrm>
            <a:off x="0" y="0"/>
            <a:ext cx="13122372" cy="15236830"/>
          </a:xfrm>
          <a:prstGeom prst="rect">
            <a:avLst/>
          </a:prstGeom>
          <a:solidFill>
            <a:srgbClr val="111C21">
              <a:alpha val="55000"/>
            </a:srgbClr>
          </a:solidFill>
          <a:ln w="12700">
            <a:solidFill>
              <a:srgbClr val="111C21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4" name="Brand mark"/>
          <p:cNvSpPr/>
          <p:nvPr/>
        </p:nvSpPr>
        <p:spPr>
          <a:xfrm>
            <a:off x="26923776" y="1327069"/>
            <a:ext cx="1238555" cy="1238555"/>
          </a:xfrm>
          <a:prstGeom prst="roundRect">
            <a:avLst>
              <a:gd name="adj" fmla="val 14286"/>
            </a:avLst>
          </a:prstGeom>
          <a:solidFill>
            <a:srgbClr val="F4A252"/>
          </a:solidFill>
          <a:ln w="12700">
            <a:solidFill>
              <a:srgbClr val="F4A25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5" name="Brand letter"/>
          <p:cNvSpPr txBox="1"/>
          <p:nvPr/>
        </p:nvSpPr>
        <p:spPr>
          <a:xfrm>
            <a:off x="26923776" y="1327069"/>
            <a:ext cx="1238555" cy="12385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5320" b="1" dirty="0">
                <a:solidFill>
                  <a:srgbClr val="111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en-US" sz="5320" dirty="0"/>
          </a:p>
        </p:txBody>
      </p:sp>
      <p:sp>
        <p:nvSpPr>
          <p:cNvPr id="6" name="Brand name"/>
          <p:cNvSpPr txBox="1"/>
          <p:nvPr/>
        </p:nvSpPr>
        <p:spPr>
          <a:xfrm>
            <a:off x="17722901" y="1504005"/>
            <a:ext cx="8847003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 algn="r">
              <a:buNone/>
            </a:pPr>
            <a:r>
              <a:rPr lang="ar-SA" sz="3870" b="1" kern="0" spc="7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MIZAN</a:t>
            </a:r>
            <a:r>
              <a:rPr lang="ar-SA" sz="387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ميزان</a:t>
            </a:r>
            <a:endParaRPr lang="en-US" sz="3870" dirty="0"/>
          </a:p>
        </p:txBody>
      </p:sp>
      <p:sp>
        <p:nvSpPr>
          <p:cNvPr id="7" name="Headline"/>
          <p:cNvSpPr txBox="1"/>
          <p:nvPr/>
        </p:nvSpPr>
        <p:spPr>
          <a:xfrm>
            <a:off x="13564758" y="3870564"/>
            <a:ext cx="14597573" cy="3317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968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كل ساعة في الأسبوع،</a:t>
            </a:r>
            <a:endParaRPr lang="en-US" sz="9680" dirty="0"/>
          </a:p>
          <a:p>
            <a:pPr marL="0" indent="0" rtl="1" algn="r">
              <a:buNone/>
            </a:pPr>
            <a:r>
              <a:rPr lang="ar-SA" sz="968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في ميزان</a:t>
            </a:r>
            <a:endParaRPr lang="en-US" sz="9680" dirty="0"/>
          </a:p>
        </p:txBody>
      </p:sp>
      <p:sp>
        <p:nvSpPr>
          <p:cNvPr id="8" name="Tagline"/>
          <p:cNvSpPr txBox="1"/>
          <p:nvPr/>
        </p:nvSpPr>
        <p:spPr>
          <a:xfrm>
            <a:off x="14449440" y="7409383"/>
            <a:ext cx="13712891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870" dirty="0">
                <a:solidFill>
                  <a:srgbClr val="E3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ذكاء اصطناعي محلي يجعل الجداول الجامعية أفضل للطلاب، ويترك كل قرار للإنسان.</a:t>
            </a:r>
            <a:endParaRPr lang="en-US" sz="3870" dirty="0"/>
          </a:p>
        </p:txBody>
      </p:sp>
      <p:sp>
        <p:nvSpPr>
          <p:cNvPr id="9" name="Team label"/>
          <p:cNvSpPr txBox="1"/>
          <p:nvPr/>
        </p:nvSpPr>
        <p:spPr>
          <a:xfrm>
            <a:off x="21527079" y="10218329"/>
            <a:ext cx="6635252" cy="55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420" b="1" kern="0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الفريق</a:t>
            </a:r>
            <a:endParaRPr lang="en-US" sz="2420" dirty="0"/>
          </a:p>
        </p:txBody>
      </p:sp>
      <p:sp>
        <p:nvSpPr>
          <p:cNvPr id="10" name="Team card 1"/>
          <p:cNvSpPr/>
          <p:nvPr/>
        </p:nvSpPr>
        <p:spPr>
          <a:xfrm>
            <a:off x="24844705" y="10948203"/>
            <a:ext cx="3317626" cy="1813621"/>
          </a:xfrm>
          <a:prstGeom prst="roundRect">
            <a:avLst>
              <a:gd name="adj" fmla="val 7316"/>
            </a:avLst>
          </a:prstGeom>
          <a:solidFill>
            <a:srgbClr val="1E2C33"/>
          </a:solidFill>
          <a:ln w="12700">
            <a:solidFill>
              <a:srgbClr val="1E2C33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1" name="Team member 1"/>
          <p:cNvSpPr txBox="1"/>
          <p:nvPr/>
        </p:nvSpPr>
        <p:spPr>
          <a:xfrm>
            <a:off x="25021641" y="11191524"/>
            <a:ext cx="2875331" cy="1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سلطان البنعلي</a:t>
            </a:r>
            <a:endParaRPr lang="en-US" sz="2900" dirty="0"/>
          </a:p>
          <a:p>
            <a:pPr marL="0" indent="0" rtl="1" algn="r">
              <a:buNone/>
            </a:pPr>
            <a:r>
              <a:rPr lang="ar-SA" sz="242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 والبحث</a:t>
            </a:r>
            <a:endParaRPr lang="en-US" sz="2900" dirty="0"/>
          </a:p>
        </p:txBody>
      </p:sp>
      <p:sp>
        <p:nvSpPr>
          <p:cNvPr id="14" name="Team card 3"/>
          <p:cNvSpPr/>
          <p:nvPr/>
        </p:nvSpPr>
        <p:spPr>
          <a:xfrm>
            <a:off x="21261720" y="10948203"/>
            <a:ext cx="3317626" cy="1813621"/>
          </a:xfrm>
          <a:prstGeom prst="roundRect">
            <a:avLst>
              <a:gd name="adj" fmla="val 7316"/>
            </a:avLst>
          </a:prstGeom>
          <a:solidFill>
            <a:srgbClr val="1E2C33"/>
          </a:solidFill>
          <a:ln w="12700">
            <a:solidFill>
              <a:srgbClr val="1E2C33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5" name="Team member 3"/>
          <p:cNvSpPr txBox="1"/>
          <p:nvPr/>
        </p:nvSpPr>
        <p:spPr>
          <a:xfrm>
            <a:off x="21438565" y="11191524"/>
            <a:ext cx="2875331" cy="1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علي البنعلي</a:t>
            </a:r>
            <a:endParaRPr lang="en-US" sz="2900" dirty="0"/>
          </a:p>
          <a:p>
            <a:pPr marL="0" indent="0" rtl="1" algn="r">
              <a:buNone/>
            </a:pPr>
            <a:r>
              <a:rPr lang="ar-SA" sz="242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والتحسين</a:t>
            </a:r>
            <a:endParaRPr lang="en-US" sz="2900" dirty="0"/>
          </a:p>
        </p:txBody>
      </p:sp>
      <p:sp>
        <p:nvSpPr>
          <p:cNvPr id="16" name="Team card 4"/>
          <p:cNvSpPr/>
          <p:nvPr/>
        </p:nvSpPr>
        <p:spPr>
          <a:xfrm>
            <a:off x="17678644" y="10948203"/>
            <a:ext cx="3317626" cy="1813621"/>
          </a:xfrm>
          <a:prstGeom prst="roundRect">
            <a:avLst>
              <a:gd name="adj" fmla="val 7316"/>
            </a:avLst>
          </a:prstGeom>
          <a:solidFill>
            <a:srgbClr val="1E2C33"/>
          </a:solidFill>
          <a:ln w="12700">
            <a:solidFill>
              <a:srgbClr val="1E2C33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7" name="Team member 4"/>
          <p:cNvSpPr txBox="1"/>
          <p:nvPr/>
        </p:nvSpPr>
        <p:spPr>
          <a:xfrm>
            <a:off x="17811370" y="11191524"/>
            <a:ext cx="3052175" cy="1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 العوض</a:t>
            </a:r>
            <a:endParaRPr lang="en-US" sz="2900" dirty="0"/>
          </a:p>
          <a:p>
            <a:pPr marL="0" indent="0" rtl="1" algn="r">
              <a:buNone/>
            </a:pPr>
            <a:r>
              <a:rPr lang="ar-SA" sz="242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والخطوات التالية</a:t>
            </a:r>
            <a:endParaRPr lang="en-US" sz="2900" dirty="0"/>
          </a:p>
        </p:txBody>
      </p:sp>
      <p:sp>
        <p:nvSpPr>
          <p:cNvPr id="18" name="Event"/>
          <p:cNvSpPr txBox="1"/>
          <p:nvPr/>
        </p:nvSpPr>
        <p:spPr>
          <a:xfrm>
            <a:off x="13785860" y="13934084"/>
            <a:ext cx="14376471" cy="66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420" dirty="0">
                <a:solidFill>
                  <a:srgbClr val="A9A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هاكاثون فرق 2026</a:t>
            </a:r>
            <a:endParaRPr lang="en-US" sz="24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00038" y="928939"/>
            <a:ext cx="26762293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الفجوات بين المحاضرات تكلّف الطلاب حضورهم</a:t>
            </a:r>
            <a:endParaRPr lang="en-US" sz="7260" dirty="0"/>
          </a:p>
        </p:txBody>
      </p:sp>
      <p:sp>
        <p:nvSpPr>
          <p:cNvPr id="3" name="Stat card 1"/>
          <p:cNvSpPr/>
          <p:nvPr/>
        </p:nvSpPr>
        <p:spPr>
          <a:xfrm>
            <a:off x="21925209" y="3428268"/>
            <a:ext cx="6237122" cy="8736452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4" name="Stat 1"/>
          <p:cNvSpPr txBox="1"/>
          <p:nvPr/>
        </p:nvSpPr>
        <p:spPr>
          <a:xfrm>
            <a:off x="22301211" y="3981206"/>
            <a:ext cx="5308183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0" algn="r">
              <a:buNone/>
            </a:pPr>
            <a:r>
              <a:rPr lang="en-US" sz="10640" dirty="0">
                <a:solidFill>
                  <a:srgbClr val="B9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‎87%</a:t>
            </a:r>
            <a:endParaRPr lang="en-US" sz="10640" dirty="0"/>
          </a:p>
        </p:txBody>
      </p:sp>
      <p:sp>
        <p:nvSpPr>
          <p:cNvPr id="5" name="Stat label 1"/>
          <p:cNvSpPr txBox="1"/>
          <p:nvPr/>
        </p:nvSpPr>
        <p:spPr>
          <a:xfrm>
            <a:off x="22411762" y="6303508"/>
            <a:ext cx="5197632" cy="353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39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دقة التنبؤ بغياب الطلاب من ثلاثة عوامل في الجدول، أحدها وقت الفراغ بين المحاضرات.</a:t>
            </a:r>
            <a:endParaRPr lang="en-US" sz="3390" dirty="0"/>
          </a:p>
        </p:txBody>
      </p:sp>
      <p:sp>
        <p:nvSpPr>
          <p:cNvPr id="6" name="Stat source 1"/>
          <p:cNvSpPr txBox="1"/>
          <p:nvPr/>
        </p:nvSpPr>
        <p:spPr>
          <a:xfrm>
            <a:off x="22411762" y="10505816"/>
            <a:ext cx="5197632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42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جامعة الأمير سلطان، الرياض · 4,325 طالباً · مجلة PLoS ONE، عام 2021</a:t>
            </a:r>
            <a:endParaRPr lang="en-US" sz="2420" dirty="0"/>
          </a:p>
        </p:txBody>
      </p:sp>
      <p:sp>
        <p:nvSpPr>
          <p:cNvPr id="7" name="Stat card 2"/>
          <p:cNvSpPr/>
          <p:nvPr/>
        </p:nvSpPr>
        <p:spPr>
          <a:xfrm>
            <a:off x="15157278" y="3428268"/>
            <a:ext cx="6237122" cy="8736452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8" name="Stat 2"/>
          <p:cNvSpPr txBox="1"/>
          <p:nvPr/>
        </p:nvSpPr>
        <p:spPr>
          <a:xfrm>
            <a:off x="15533279" y="3981206"/>
            <a:ext cx="5308183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0" algn="r">
              <a:buNone/>
            </a:pPr>
            <a:r>
              <a:rPr lang="en-US" sz="10640" dirty="0">
                <a:solidFill>
                  <a:srgbClr val="B9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‎−0.71</a:t>
            </a:r>
            <a:endParaRPr lang="en-US" sz="10640" dirty="0"/>
          </a:p>
        </p:txBody>
      </p:sp>
      <p:sp>
        <p:nvSpPr>
          <p:cNvPr id="9" name="Stat label 2"/>
          <p:cNvSpPr txBox="1"/>
          <p:nvPr/>
        </p:nvSpPr>
        <p:spPr>
          <a:xfrm>
            <a:off x="15643830" y="6303508"/>
            <a:ext cx="5197632" cy="353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39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معامل الارتباط بين الغياب والمعدل التراكمي في الدراسة السعودية نفسها: غياب أكثر، معدل أقل.</a:t>
            </a:r>
            <a:endParaRPr lang="en-US" sz="3390" dirty="0"/>
          </a:p>
        </p:txBody>
      </p:sp>
      <p:sp>
        <p:nvSpPr>
          <p:cNvPr id="10" name="Stat source 2"/>
          <p:cNvSpPr txBox="1"/>
          <p:nvPr/>
        </p:nvSpPr>
        <p:spPr>
          <a:xfrm>
            <a:off x="15643830" y="10505816"/>
            <a:ext cx="5197632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42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دراسة Larabi-Marie-Sainte وآخرين · مجلة PLoS ONE، عام 2021</a:t>
            </a:r>
            <a:endParaRPr lang="en-US" sz="2420" dirty="0"/>
          </a:p>
        </p:txBody>
      </p:sp>
      <p:sp>
        <p:nvSpPr>
          <p:cNvPr id="11" name="Stat card 3"/>
          <p:cNvSpPr/>
          <p:nvPr/>
        </p:nvSpPr>
        <p:spPr>
          <a:xfrm>
            <a:off x="8389255" y="3428268"/>
            <a:ext cx="6237122" cy="8736452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2" name="Stat 3"/>
          <p:cNvSpPr txBox="1"/>
          <p:nvPr/>
        </p:nvSpPr>
        <p:spPr>
          <a:xfrm>
            <a:off x="8765256" y="3981206"/>
            <a:ext cx="5308183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0" algn="r">
              <a:buNone/>
            </a:pPr>
            <a:r>
              <a:rPr lang="en-US" sz="10640" dirty="0">
                <a:solidFill>
                  <a:srgbClr val="529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‎+1.5</a:t>
            </a:r>
            <a:endParaRPr lang="en-US" sz="10640" dirty="0"/>
          </a:p>
        </p:txBody>
      </p:sp>
      <p:sp>
        <p:nvSpPr>
          <p:cNvPr id="13" name="Stat label 3"/>
          <p:cNvSpPr txBox="1"/>
          <p:nvPr/>
        </p:nvSpPr>
        <p:spPr>
          <a:xfrm>
            <a:off x="8875807" y="6303508"/>
            <a:ext cx="5197632" cy="353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39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مئوية في نسبة الحضور عندما تتتابع المحاضرات، واليوم ذو المحاضرة الواحدة يخفضها (−0.9 نقطة).</a:t>
            </a:r>
            <a:endParaRPr lang="en-US" sz="3390" dirty="0"/>
          </a:p>
        </p:txBody>
      </p:sp>
      <p:sp>
        <p:nvSpPr>
          <p:cNvPr id="14" name="Stat source 3"/>
          <p:cNvSpPr txBox="1"/>
          <p:nvPr/>
        </p:nvSpPr>
        <p:spPr>
          <a:xfrm>
            <a:off x="8875807" y="10505816"/>
            <a:ext cx="5197632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42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جامعة بريطانية · 307,488 حدثاً دراسياً · ورقة IZA رقم 17979، عام 2025</a:t>
            </a:r>
            <a:endParaRPr lang="en-US" sz="2420" dirty="0"/>
          </a:p>
        </p:txBody>
      </p:sp>
      <p:sp>
        <p:nvSpPr>
          <p:cNvPr id="15" name="Stat card 4"/>
          <p:cNvSpPr/>
          <p:nvPr/>
        </p:nvSpPr>
        <p:spPr>
          <a:xfrm>
            <a:off x="1621232" y="3428268"/>
            <a:ext cx="6237122" cy="8736452"/>
          </a:xfrm>
          <a:prstGeom prst="roundRect">
            <a:avLst>
              <a:gd name="adj" fmla="val 2127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6" name="Stat 4"/>
          <p:cNvSpPr txBox="1"/>
          <p:nvPr/>
        </p:nvSpPr>
        <p:spPr>
          <a:xfrm>
            <a:off x="1997233" y="3981206"/>
            <a:ext cx="5308183" cy="210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0" algn="r">
              <a:buNone/>
            </a:pPr>
            <a:r>
              <a:rPr lang="en-US" sz="10640" dirty="0">
                <a:solidFill>
                  <a:srgbClr val="4B6C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‎~20%</a:t>
            </a:r>
            <a:endParaRPr lang="en-US" sz="10640" dirty="0"/>
          </a:p>
        </p:txBody>
      </p:sp>
      <p:sp>
        <p:nvSpPr>
          <p:cNvPr id="17" name="Stat label 4"/>
          <p:cNvSpPr txBox="1"/>
          <p:nvPr/>
        </p:nvSpPr>
        <p:spPr>
          <a:xfrm>
            <a:off x="2107784" y="6303508"/>
            <a:ext cx="5197632" cy="3538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39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استخدام القاعات الدراسية في الجامعات، وبعض المباني قرب 10%.</a:t>
            </a:r>
            <a:endParaRPr lang="en-US" sz="3390" dirty="0"/>
          </a:p>
        </p:txBody>
      </p:sp>
      <p:sp>
        <p:nvSpPr>
          <p:cNvPr id="18" name="Stat source 4"/>
          <p:cNvSpPr txBox="1"/>
          <p:nvPr/>
        </p:nvSpPr>
        <p:spPr>
          <a:xfrm>
            <a:off x="2107784" y="10505816"/>
            <a:ext cx="5197632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42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أكثر من 30 جامعة بريطانية · منتدى Smart Space، يوليو 2026</a:t>
            </a:r>
            <a:endParaRPr lang="en-US" sz="2420" dirty="0"/>
          </a:p>
        </p:txBody>
      </p:sp>
      <p:sp>
        <p:nvSpPr>
          <p:cNvPr id="19" name="Takeaway"/>
          <p:cNvSpPr txBox="1"/>
          <p:nvPr/>
        </p:nvSpPr>
        <p:spPr>
          <a:xfrm>
            <a:off x="1400038" y="12717658"/>
            <a:ext cx="26762293" cy="110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11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الجدول أداة تملكها كل جامعة، لكنه يُبنى اليوم ليكون صحيحاً، لا ليكون جيداً للطلاب.</a:t>
            </a:r>
            <a:endParaRPr lang="en-US" sz="4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3374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 rtl="1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00038" y="928939"/>
            <a:ext cx="26762293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تغيير واحد يمس القاعات والأساتذة ومئات الطلاب</a:t>
            </a:r>
            <a:endParaRPr lang="en-US" sz="7260" dirty="0"/>
          </a:p>
        </p:txBody>
      </p:sp>
      <p:sp>
        <p:nvSpPr>
          <p:cNvPr id="3" name="Why icon bg 1"/>
          <p:cNvSpPr/>
          <p:nvPr/>
        </p:nvSpPr>
        <p:spPr>
          <a:xfrm>
            <a:off x="26791005" y="3538819"/>
            <a:ext cx="1371326" cy="1371326"/>
          </a:xfrm>
          <a:prstGeom prst="roundRect">
            <a:avLst>
              <a:gd name="adj" fmla="val 49997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4" name="Why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2841" y="3870564"/>
            <a:ext cx="707746" cy="707746"/>
          </a:xfrm>
          <a:prstGeom prst="rect">
            <a:avLst/>
          </a:prstGeom>
        </p:spPr>
      </p:pic>
      <p:sp>
        <p:nvSpPr>
          <p:cNvPr id="5" name="Why head 1"/>
          <p:cNvSpPr txBox="1"/>
          <p:nvPr/>
        </p:nvSpPr>
        <p:spPr>
          <a:xfrm>
            <a:off x="14781185" y="3494562"/>
            <a:ext cx="11501140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الصحة لا تكفي</a:t>
            </a:r>
            <a:endParaRPr lang="en-US" sz="4350" dirty="0"/>
          </a:p>
        </p:txBody>
      </p:sp>
      <p:sp>
        <p:nvSpPr>
          <p:cNvPr id="6" name="Why body 1"/>
          <p:cNvSpPr txBox="1"/>
          <p:nvPr/>
        </p:nvSpPr>
        <p:spPr>
          <a:xfrm>
            <a:off x="14781185" y="4467758"/>
            <a:ext cx="11501140" cy="199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39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جدول بلا تعارضات صعب بما يكفي، وتحسينه يدوياً يعني إعادة فحص كل قاعة وأستاذ وطالب من جديد.</a:t>
            </a:r>
            <a:endParaRPr lang="en-US" sz="3390" dirty="0"/>
          </a:p>
        </p:txBody>
      </p:sp>
      <p:sp>
        <p:nvSpPr>
          <p:cNvPr id="7" name="Why icon bg 2"/>
          <p:cNvSpPr/>
          <p:nvPr/>
        </p:nvSpPr>
        <p:spPr>
          <a:xfrm>
            <a:off x="26791005" y="6856446"/>
            <a:ext cx="1371326" cy="1371326"/>
          </a:xfrm>
          <a:prstGeom prst="roundRect">
            <a:avLst>
              <a:gd name="adj" fmla="val 49997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8" name="Why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22841" y="7188190"/>
            <a:ext cx="707746" cy="707746"/>
          </a:xfrm>
          <a:prstGeom prst="rect">
            <a:avLst/>
          </a:prstGeom>
        </p:spPr>
      </p:pic>
      <p:sp>
        <p:nvSpPr>
          <p:cNvPr id="9" name="Why head 2"/>
          <p:cNvSpPr txBox="1"/>
          <p:nvPr/>
        </p:nvSpPr>
        <p:spPr>
          <a:xfrm>
            <a:off x="14781185" y="6812189"/>
            <a:ext cx="11501140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الطلبات تصل واحداً تلو الآخر</a:t>
            </a:r>
            <a:endParaRPr lang="en-US" sz="4350" dirty="0"/>
          </a:p>
        </p:txBody>
      </p:sp>
      <p:sp>
        <p:nvSpPr>
          <p:cNvPr id="10" name="Why body 2"/>
          <p:cNvSpPr txBox="1"/>
          <p:nvPr/>
        </p:nvSpPr>
        <p:spPr>
          <a:xfrm>
            <a:off x="14781185" y="7785384"/>
            <a:ext cx="11501140" cy="199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39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جمعنا 30 طلباً حقيقياً من الأساتذة: نقل محاضرة، إيجاد وقت لاختبار قصير، دمج شعبتين. كل طلب يتطلب فحص كل طالب مسجل.</a:t>
            </a:r>
            <a:endParaRPr lang="en-US" sz="3390" dirty="0"/>
          </a:p>
        </p:txBody>
      </p:sp>
      <p:sp>
        <p:nvSpPr>
          <p:cNvPr id="11" name="Why icon bg 3"/>
          <p:cNvSpPr/>
          <p:nvPr/>
        </p:nvSpPr>
        <p:spPr>
          <a:xfrm>
            <a:off x="26791005" y="10174072"/>
            <a:ext cx="1371326" cy="1371326"/>
          </a:xfrm>
          <a:prstGeom prst="roundRect">
            <a:avLst>
              <a:gd name="adj" fmla="val 49997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12" name="Why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2841" y="10505816"/>
            <a:ext cx="707746" cy="707746"/>
          </a:xfrm>
          <a:prstGeom prst="rect">
            <a:avLst/>
          </a:prstGeom>
        </p:spPr>
      </p:pic>
      <p:sp>
        <p:nvSpPr>
          <p:cNvPr id="13" name="Why head 3"/>
          <p:cNvSpPr txBox="1"/>
          <p:nvPr/>
        </p:nvSpPr>
        <p:spPr>
          <a:xfrm>
            <a:off x="14781185" y="10129906"/>
            <a:ext cx="11501140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نقل صغير قد يُفسد الكثير</a:t>
            </a:r>
            <a:endParaRPr lang="en-US" sz="4350" dirty="0"/>
          </a:p>
        </p:txBody>
      </p:sp>
      <p:sp>
        <p:nvSpPr>
          <p:cNvPr id="14" name="Why body 3"/>
          <p:cNvSpPr txBox="1"/>
          <p:nvPr/>
        </p:nvSpPr>
        <p:spPr>
          <a:xfrm>
            <a:off x="14781185" y="11103011"/>
            <a:ext cx="11501140" cy="1990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39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فصلنا التجريبي، نقل شعبة واحدة إلى الأحد 10:00 يُحدث 77 تعارضاً. يشرح ميزان كل تعارض ويقترح 3 بدائل صحيحة.</a:t>
            </a:r>
            <a:endParaRPr lang="en-US" sz="3390" dirty="0"/>
          </a:p>
        </p:txBody>
      </p:sp>
      <p:sp>
        <p:nvSpPr>
          <p:cNvPr id="15" name="Ripple line 1"/>
          <p:cNvSpPr/>
          <p:nvPr/>
        </p:nvSpPr>
        <p:spPr>
          <a:xfrm flipH="1">
            <a:off x="7482444" y="4976439"/>
            <a:ext cx="4755246" cy="2985882"/>
          </a:xfrm>
          <a:prstGeom prst="line">
            <a:avLst/>
          </a:prstGeom>
          <a:noFill/>
          <a:ln w="60960">
            <a:solidFill>
              <a:srgbClr val="CFC3B3"/>
            </a:solidFill>
            <a:prstDash val="dash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6" name="Ripple line 2"/>
          <p:cNvSpPr/>
          <p:nvPr/>
        </p:nvSpPr>
        <p:spPr>
          <a:xfrm flipH="0">
            <a:off x="2727106" y="4976439"/>
            <a:ext cx="4755246" cy="2985882"/>
          </a:xfrm>
          <a:prstGeom prst="line">
            <a:avLst/>
          </a:prstGeom>
          <a:noFill/>
          <a:ln w="60960">
            <a:solidFill>
              <a:srgbClr val="CFC3B3"/>
            </a:solidFill>
            <a:prstDash val="dash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7" name="Ripple line 3"/>
          <p:cNvSpPr/>
          <p:nvPr/>
        </p:nvSpPr>
        <p:spPr>
          <a:xfrm flipH="0">
            <a:off x="7482444" y="7962321"/>
            <a:ext cx="4755246" cy="2985882"/>
          </a:xfrm>
          <a:prstGeom prst="line">
            <a:avLst/>
          </a:prstGeom>
          <a:noFill/>
          <a:ln w="60960">
            <a:solidFill>
              <a:srgbClr val="CFC3B3"/>
            </a:solidFill>
            <a:prstDash val="dash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8" name="Ripple line 4"/>
          <p:cNvSpPr/>
          <p:nvPr/>
        </p:nvSpPr>
        <p:spPr>
          <a:xfrm flipH="1">
            <a:off x="2727106" y="7962321"/>
            <a:ext cx="4755246" cy="2985882"/>
          </a:xfrm>
          <a:prstGeom prst="line">
            <a:avLst/>
          </a:prstGeom>
          <a:noFill/>
          <a:ln w="60960">
            <a:solidFill>
              <a:srgbClr val="CFC3B3"/>
            </a:solidFill>
            <a:prstDash val="dash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9" name="Ripple node 1"/>
          <p:cNvSpPr/>
          <p:nvPr/>
        </p:nvSpPr>
        <p:spPr>
          <a:xfrm>
            <a:off x="10512582" y="3693627"/>
            <a:ext cx="3450306" cy="2565624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B6C9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20" name="Ripple label 1"/>
          <p:cNvSpPr txBox="1"/>
          <p:nvPr/>
        </p:nvSpPr>
        <p:spPr>
          <a:xfrm>
            <a:off x="10578877" y="3870564"/>
            <a:ext cx="3317626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3140" b="1" dirty="0">
                <a:solidFill>
                  <a:srgbClr val="4B6C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القاعة</a:t>
            </a:r>
            <a:endParaRPr lang="en-US" sz="3140" dirty="0"/>
          </a:p>
        </p:txBody>
      </p:sp>
      <p:sp>
        <p:nvSpPr>
          <p:cNvPr id="21" name="Ripple node 2"/>
          <p:cNvSpPr/>
          <p:nvPr/>
        </p:nvSpPr>
        <p:spPr>
          <a:xfrm>
            <a:off x="1001999" y="3693627"/>
            <a:ext cx="3450306" cy="2565624"/>
          </a:xfrm>
          <a:prstGeom prst="ellipse">
            <a:avLst/>
          </a:prstGeom>
          <a:solidFill>
            <a:srgbClr val="FFFFFF"/>
          </a:solidFill>
          <a:ln w="76200">
            <a:solidFill>
              <a:srgbClr val="529573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22" name="Ripple label 2"/>
          <p:cNvSpPr txBox="1"/>
          <p:nvPr/>
        </p:nvSpPr>
        <p:spPr>
          <a:xfrm>
            <a:off x="1068294" y="3870564"/>
            <a:ext cx="3317626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3140" b="1" dirty="0">
                <a:solidFill>
                  <a:srgbClr val="529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الأستاذ</a:t>
            </a:r>
            <a:endParaRPr lang="en-US" sz="3140" dirty="0"/>
          </a:p>
        </p:txBody>
      </p:sp>
      <p:sp>
        <p:nvSpPr>
          <p:cNvPr id="23" name="Ripple node 3"/>
          <p:cNvSpPr/>
          <p:nvPr/>
        </p:nvSpPr>
        <p:spPr>
          <a:xfrm>
            <a:off x="10512582" y="9665391"/>
            <a:ext cx="3450306" cy="2565624"/>
          </a:xfrm>
          <a:prstGeom prst="ellipse">
            <a:avLst/>
          </a:prstGeom>
          <a:solidFill>
            <a:srgbClr val="FFFFFF"/>
          </a:solidFill>
          <a:ln w="76200">
            <a:solidFill>
              <a:srgbClr val="B9504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24" name="Ripple label 3"/>
          <p:cNvSpPr txBox="1"/>
          <p:nvPr/>
        </p:nvSpPr>
        <p:spPr>
          <a:xfrm>
            <a:off x="10578877" y="9842327"/>
            <a:ext cx="3317626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3140" b="1" dirty="0">
                <a:solidFill>
                  <a:srgbClr val="B9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طالب</a:t>
            </a:r>
            <a:endParaRPr lang="en-US" sz="3140" dirty="0"/>
          </a:p>
          <a:p>
            <a:pPr marL="0" indent="0" algn="ctr" rtl="1">
              <a:buNone/>
            </a:pPr>
            <a:r>
              <a:rPr lang="ar-SA" sz="3140" b="1" dirty="0">
                <a:solidFill>
                  <a:srgbClr val="B9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مسجل</a:t>
            </a:r>
            <a:endParaRPr lang="en-US" sz="3140" dirty="0"/>
          </a:p>
        </p:txBody>
      </p:sp>
      <p:sp>
        <p:nvSpPr>
          <p:cNvPr id="25" name="Ripple node 4"/>
          <p:cNvSpPr/>
          <p:nvPr/>
        </p:nvSpPr>
        <p:spPr>
          <a:xfrm>
            <a:off x="1001999" y="9665391"/>
            <a:ext cx="3450306" cy="2565624"/>
          </a:xfrm>
          <a:prstGeom prst="ellipse">
            <a:avLst/>
          </a:prstGeom>
          <a:solidFill>
            <a:srgbClr val="FFFFFF"/>
          </a:solidFill>
          <a:ln w="76200">
            <a:solidFill>
              <a:srgbClr val="68645B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26" name="Ripple label 4"/>
          <p:cNvSpPr txBox="1"/>
          <p:nvPr/>
        </p:nvSpPr>
        <p:spPr>
          <a:xfrm>
            <a:off x="1068294" y="9842327"/>
            <a:ext cx="3317626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3140" b="1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الشعب</a:t>
            </a:r>
            <a:endParaRPr lang="en-US" sz="3140" dirty="0"/>
          </a:p>
          <a:p>
            <a:pPr marL="0" indent="0" algn="ctr" rtl="1">
              <a:buNone/>
            </a:pPr>
            <a:r>
              <a:rPr lang="ar-SA" sz="3140" b="1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الأخرى</a:t>
            </a:r>
            <a:endParaRPr lang="en-US" sz="3140" dirty="0"/>
          </a:p>
        </p:txBody>
      </p:sp>
      <p:sp>
        <p:nvSpPr>
          <p:cNvPr id="27" name="Ripple centre"/>
          <p:cNvSpPr/>
          <p:nvPr/>
        </p:nvSpPr>
        <p:spPr>
          <a:xfrm>
            <a:off x="5602346" y="6082314"/>
            <a:ext cx="3760013" cy="3760013"/>
          </a:xfrm>
          <a:prstGeom prst="ellipse">
            <a:avLst/>
          </a:prstGeom>
          <a:solidFill>
            <a:srgbClr val="F4A252"/>
          </a:solidFill>
          <a:ln w="12700">
            <a:solidFill>
              <a:srgbClr val="F4A25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28" name="Ripple centre label"/>
          <p:cNvSpPr txBox="1"/>
          <p:nvPr/>
        </p:nvSpPr>
        <p:spPr>
          <a:xfrm>
            <a:off x="5712989" y="6856446"/>
            <a:ext cx="3538819" cy="2211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3870" b="1" dirty="0">
                <a:solidFill>
                  <a:srgbClr val="111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نقل محاضرة</a:t>
            </a:r>
            <a:endParaRPr lang="en-US" sz="3870" dirty="0"/>
          </a:p>
          <a:p>
            <a:pPr marL="0" indent="0" algn="ctr" rtl="1">
              <a:buNone/>
            </a:pPr>
            <a:r>
              <a:rPr lang="ar-SA" sz="3870" b="1" dirty="0">
                <a:solidFill>
                  <a:srgbClr val="111C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واحدة</a:t>
            </a:r>
            <a:endParaRPr lang="en-US" sz="387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3374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 rtl="1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00038" y="928939"/>
            <a:ext cx="26762293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ميزان يقيس ويحسّن ويتحقق، ثم يقرر الإنسان</a:t>
            </a:r>
            <a:endParaRPr lang="en-US" sz="7260" dirty="0"/>
          </a:p>
        </p:txBody>
      </p:sp>
      <p:sp>
        <p:nvSpPr>
          <p:cNvPr id="3" name="Step card 1"/>
          <p:cNvSpPr/>
          <p:nvPr/>
        </p:nvSpPr>
        <p:spPr>
          <a:xfrm>
            <a:off x="23252186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4" name="Step icon bg 1"/>
          <p:cNvSpPr/>
          <p:nvPr/>
        </p:nvSpPr>
        <p:spPr>
          <a:xfrm>
            <a:off x="26016966" y="4091757"/>
            <a:ext cx="1592428" cy="1592428"/>
          </a:xfrm>
          <a:prstGeom prst="ellipse">
            <a:avLst/>
          </a:prstGeom>
          <a:solidFill>
            <a:srgbClr val="4B6C9F"/>
          </a:solidFill>
          <a:ln w="12700">
            <a:solidFill>
              <a:srgbClr val="4B6C9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5" name="Step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5004" y="4489887"/>
            <a:ext cx="796260" cy="796260"/>
          </a:xfrm>
          <a:prstGeom prst="rect">
            <a:avLst/>
          </a:prstGeom>
        </p:spPr>
      </p:pic>
      <p:sp>
        <p:nvSpPr>
          <p:cNvPr id="6" name="Step number 1"/>
          <p:cNvSpPr txBox="1"/>
          <p:nvPr/>
        </p:nvSpPr>
        <p:spPr>
          <a:xfrm>
            <a:off x="23738830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40" dirty="0"/>
          </a:p>
        </p:txBody>
      </p:sp>
      <p:sp>
        <p:nvSpPr>
          <p:cNvPr id="7" name="Step head 1"/>
          <p:cNvSpPr txBox="1"/>
          <p:nvPr/>
        </p:nvSpPr>
        <p:spPr>
          <a:xfrm>
            <a:off x="23628188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الاستيراد</a:t>
            </a:r>
            <a:endParaRPr lang="en-US" sz="4350" dirty="0"/>
          </a:p>
        </p:txBody>
      </p:sp>
      <p:sp>
        <p:nvSpPr>
          <p:cNvPr id="8" name="Step body 1"/>
          <p:cNvSpPr txBox="1"/>
          <p:nvPr/>
        </p:nvSpPr>
        <p:spPr>
          <a:xfrm>
            <a:off x="23628188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 PDF من البوابة، أو لقطة شاشة من التطبيق، أو ملف فصل كامل. تُقرأ على هذا الجهاز.</a:t>
            </a:r>
            <a:endParaRPr lang="en-US" sz="3140" dirty="0"/>
          </a:p>
        </p:txBody>
      </p:sp>
      <p:pic>
        <p:nvPicPr>
          <p:cNvPr id="9" name="Step arrow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2765634" y="6635252"/>
            <a:ext cx="442387" cy="884682"/>
          </a:xfrm>
          <a:prstGeom prst="rect">
            <a:avLst/>
          </a:prstGeom>
        </p:spPr>
      </p:pic>
      <p:sp>
        <p:nvSpPr>
          <p:cNvPr id="10" name="Step card 2"/>
          <p:cNvSpPr/>
          <p:nvPr/>
        </p:nvSpPr>
        <p:spPr>
          <a:xfrm>
            <a:off x="17811232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1" name="Step icon bg 2"/>
          <p:cNvSpPr/>
          <p:nvPr/>
        </p:nvSpPr>
        <p:spPr>
          <a:xfrm>
            <a:off x="20576011" y="4091757"/>
            <a:ext cx="1592428" cy="1592428"/>
          </a:xfrm>
          <a:prstGeom prst="ellipse">
            <a:avLst/>
          </a:prstGeom>
          <a:solidFill>
            <a:srgbClr val="4B6C9F"/>
          </a:solidFill>
          <a:ln w="12700">
            <a:solidFill>
              <a:srgbClr val="4B6C9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12" name="Step icon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4141" y="4489887"/>
            <a:ext cx="796260" cy="796260"/>
          </a:xfrm>
          <a:prstGeom prst="rect">
            <a:avLst/>
          </a:prstGeom>
        </p:spPr>
      </p:pic>
      <p:sp>
        <p:nvSpPr>
          <p:cNvPr id="13" name="Step number 2"/>
          <p:cNvSpPr txBox="1"/>
          <p:nvPr/>
        </p:nvSpPr>
        <p:spPr>
          <a:xfrm>
            <a:off x="18297876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40" dirty="0"/>
          </a:p>
        </p:txBody>
      </p:sp>
      <p:sp>
        <p:nvSpPr>
          <p:cNvPr id="14" name="Step head 2"/>
          <p:cNvSpPr txBox="1"/>
          <p:nvPr/>
        </p:nvSpPr>
        <p:spPr>
          <a:xfrm>
            <a:off x="18187233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القياس</a:t>
            </a:r>
            <a:endParaRPr lang="en-US" sz="4350" dirty="0"/>
          </a:p>
        </p:txBody>
      </p:sp>
      <p:sp>
        <p:nvSpPr>
          <p:cNvPr id="15" name="Step body 2"/>
          <p:cNvSpPr txBox="1"/>
          <p:nvPr/>
        </p:nvSpPr>
        <p:spPr>
          <a:xfrm>
            <a:off x="18187233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ساعات الفجوات وأيام الحضور واستخدام القاعات ودرجة جودة لكل طالب.</a:t>
            </a:r>
            <a:endParaRPr lang="en-US" sz="3140" dirty="0"/>
          </a:p>
        </p:txBody>
      </p:sp>
      <p:pic>
        <p:nvPicPr>
          <p:cNvPr id="16" name="Step arrow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7324679" y="6635252"/>
            <a:ext cx="442387" cy="884682"/>
          </a:xfrm>
          <a:prstGeom prst="rect">
            <a:avLst/>
          </a:prstGeom>
        </p:spPr>
      </p:pic>
      <p:sp>
        <p:nvSpPr>
          <p:cNvPr id="17" name="Step card 3"/>
          <p:cNvSpPr/>
          <p:nvPr/>
        </p:nvSpPr>
        <p:spPr>
          <a:xfrm>
            <a:off x="12370369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8" name="Step icon bg 3"/>
          <p:cNvSpPr/>
          <p:nvPr/>
        </p:nvSpPr>
        <p:spPr>
          <a:xfrm>
            <a:off x="15135148" y="4091757"/>
            <a:ext cx="1592428" cy="1592428"/>
          </a:xfrm>
          <a:prstGeom prst="ellipse">
            <a:avLst/>
          </a:prstGeom>
          <a:solidFill>
            <a:srgbClr val="F4A252"/>
          </a:solidFill>
          <a:ln w="12700">
            <a:solidFill>
              <a:srgbClr val="F4A25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19" name="Step icon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33187" y="4489887"/>
            <a:ext cx="796260" cy="796260"/>
          </a:xfrm>
          <a:prstGeom prst="rect">
            <a:avLst/>
          </a:prstGeom>
        </p:spPr>
      </p:pic>
      <p:sp>
        <p:nvSpPr>
          <p:cNvPr id="20" name="Step number 3"/>
          <p:cNvSpPr txBox="1"/>
          <p:nvPr/>
        </p:nvSpPr>
        <p:spPr>
          <a:xfrm>
            <a:off x="12857013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40" dirty="0"/>
          </a:p>
        </p:txBody>
      </p:sp>
      <p:sp>
        <p:nvSpPr>
          <p:cNvPr id="21" name="Step head 3"/>
          <p:cNvSpPr txBox="1"/>
          <p:nvPr/>
        </p:nvSpPr>
        <p:spPr>
          <a:xfrm>
            <a:off x="12746370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التحسين</a:t>
            </a:r>
            <a:endParaRPr lang="en-US" sz="4350" dirty="0"/>
          </a:p>
        </p:txBody>
      </p:sp>
      <p:sp>
        <p:nvSpPr>
          <p:cNvPr id="22" name="Step body 3"/>
          <p:cNvSpPr txBox="1"/>
          <p:nvPr/>
        </p:nvSpPr>
        <p:spPr>
          <a:xfrm>
            <a:off x="12746370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محلل رياضي يبحث في الجداول الصحيحة، وستة وكلاء ذكاء اصطناعي يشرحون الموازنات.</a:t>
            </a:r>
            <a:endParaRPr lang="en-US" sz="3140" dirty="0"/>
          </a:p>
        </p:txBody>
      </p:sp>
      <p:pic>
        <p:nvPicPr>
          <p:cNvPr id="23" name="Step arrow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883725" y="6635252"/>
            <a:ext cx="442387" cy="884682"/>
          </a:xfrm>
          <a:prstGeom prst="rect">
            <a:avLst/>
          </a:prstGeom>
        </p:spPr>
      </p:pic>
      <p:sp>
        <p:nvSpPr>
          <p:cNvPr id="24" name="Step card 4"/>
          <p:cNvSpPr/>
          <p:nvPr/>
        </p:nvSpPr>
        <p:spPr>
          <a:xfrm>
            <a:off x="6929415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25" name="Step icon bg 4"/>
          <p:cNvSpPr/>
          <p:nvPr/>
        </p:nvSpPr>
        <p:spPr>
          <a:xfrm>
            <a:off x="9694194" y="4091757"/>
            <a:ext cx="1592428" cy="1592428"/>
          </a:xfrm>
          <a:prstGeom prst="ellipse">
            <a:avLst/>
          </a:prstGeom>
          <a:solidFill>
            <a:srgbClr val="529573"/>
          </a:solidFill>
          <a:ln w="12700">
            <a:solidFill>
              <a:srgbClr val="529573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26" name="Step icon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2232" y="4489887"/>
            <a:ext cx="796260" cy="796260"/>
          </a:xfrm>
          <a:prstGeom prst="rect">
            <a:avLst/>
          </a:prstGeom>
        </p:spPr>
      </p:pic>
      <p:sp>
        <p:nvSpPr>
          <p:cNvPr id="27" name="Step number 4"/>
          <p:cNvSpPr txBox="1"/>
          <p:nvPr/>
        </p:nvSpPr>
        <p:spPr>
          <a:xfrm>
            <a:off x="7416058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40" dirty="0"/>
          </a:p>
        </p:txBody>
      </p:sp>
      <p:sp>
        <p:nvSpPr>
          <p:cNvPr id="28" name="Step head 4"/>
          <p:cNvSpPr txBox="1"/>
          <p:nvPr/>
        </p:nvSpPr>
        <p:spPr>
          <a:xfrm>
            <a:off x="7305416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</a:t>
            </a:r>
            <a:endParaRPr lang="en-US" sz="4350" dirty="0"/>
          </a:p>
        </p:txBody>
      </p:sp>
      <p:sp>
        <p:nvSpPr>
          <p:cNvPr id="29" name="Step body 4"/>
          <p:cNvSpPr txBox="1"/>
          <p:nvPr/>
        </p:nvSpPr>
        <p:spPr>
          <a:xfrm>
            <a:off x="7305416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الفائدة والضرر جنباً إلى جنب. لا يُنشر شيء دون إنسان.</a:t>
            </a:r>
            <a:endParaRPr lang="en-US" sz="3140" dirty="0"/>
          </a:p>
        </p:txBody>
      </p:sp>
      <p:pic>
        <p:nvPicPr>
          <p:cNvPr id="30" name="Step arrow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442862" y="6635252"/>
            <a:ext cx="442387" cy="884682"/>
          </a:xfrm>
          <a:prstGeom prst="rect">
            <a:avLst/>
          </a:prstGeom>
        </p:spPr>
      </p:pic>
      <p:sp>
        <p:nvSpPr>
          <p:cNvPr id="31" name="Step card 5"/>
          <p:cNvSpPr/>
          <p:nvPr/>
        </p:nvSpPr>
        <p:spPr>
          <a:xfrm>
            <a:off x="1488460" y="3538819"/>
            <a:ext cx="4910145" cy="7077639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32" name="Step icon bg 5"/>
          <p:cNvSpPr/>
          <p:nvPr/>
        </p:nvSpPr>
        <p:spPr>
          <a:xfrm>
            <a:off x="4253240" y="4091757"/>
            <a:ext cx="1592428" cy="1592428"/>
          </a:xfrm>
          <a:prstGeom prst="ellipse">
            <a:avLst/>
          </a:prstGeom>
          <a:solidFill>
            <a:srgbClr val="529573"/>
          </a:solidFill>
          <a:ln w="12700">
            <a:solidFill>
              <a:srgbClr val="529573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33" name="Step icon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1278" y="4489887"/>
            <a:ext cx="796260" cy="796260"/>
          </a:xfrm>
          <a:prstGeom prst="rect">
            <a:avLst/>
          </a:prstGeom>
        </p:spPr>
      </p:pic>
      <p:sp>
        <p:nvSpPr>
          <p:cNvPr id="34" name="Step number 5"/>
          <p:cNvSpPr txBox="1"/>
          <p:nvPr/>
        </p:nvSpPr>
        <p:spPr>
          <a:xfrm>
            <a:off x="1975104" y="4202308"/>
            <a:ext cx="884682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1">
              <a:buNone/>
            </a:pPr>
            <a:r>
              <a:rPr lang="ar-SA" sz="484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40" dirty="0"/>
          </a:p>
        </p:txBody>
      </p:sp>
      <p:sp>
        <p:nvSpPr>
          <p:cNvPr id="35" name="Step head 5"/>
          <p:cNvSpPr txBox="1"/>
          <p:nvPr/>
        </p:nvSpPr>
        <p:spPr>
          <a:xfrm>
            <a:off x="1864462" y="6192957"/>
            <a:ext cx="3981206" cy="928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التصدير</a:t>
            </a:r>
            <a:endParaRPr lang="en-US" sz="4350" dirty="0"/>
          </a:p>
        </p:txBody>
      </p:sp>
      <p:sp>
        <p:nvSpPr>
          <p:cNvPr id="36" name="Step body 5"/>
          <p:cNvSpPr txBox="1"/>
          <p:nvPr/>
        </p:nvSpPr>
        <p:spPr>
          <a:xfrm>
            <a:off x="1864462" y="7254575"/>
            <a:ext cx="3981206" cy="30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140" dirty="0">
                <a:solidFill>
                  <a:srgbClr val="303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طباعة النتيجة بتنسيق البوابة مع تمييز الصفوف المتغيرة.</a:t>
            </a:r>
            <a:endParaRPr lang="en-US" sz="3140" dirty="0"/>
          </a:p>
        </p:txBody>
      </p:sp>
      <p:sp>
        <p:nvSpPr>
          <p:cNvPr id="37" name="Users label"/>
          <p:cNvSpPr txBox="1"/>
          <p:nvPr/>
        </p:nvSpPr>
        <p:spPr>
          <a:xfrm>
            <a:off x="23738830" y="11456883"/>
            <a:ext cx="4423501" cy="663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2420" b="1" kern="0" dirty="0">
                <a:solidFill>
                  <a:srgbClr val="6864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مصمَّم لـ</a:t>
            </a:r>
            <a:endParaRPr lang="en-US" sz="2420" dirty="0"/>
          </a:p>
        </p:txBody>
      </p:sp>
      <p:sp>
        <p:nvSpPr>
          <p:cNvPr id="38" name="User chip 1"/>
          <p:cNvSpPr/>
          <p:nvPr/>
        </p:nvSpPr>
        <p:spPr>
          <a:xfrm>
            <a:off x="23384957" y="12275271"/>
            <a:ext cx="4777374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39" name="User 1"/>
          <p:cNvSpPr txBox="1"/>
          <p:nvPr/>
        </p:nvSpPr>
        <p:spPr>
          <a:xfrm>
            <a:off x="23384957" y="12275271"/>
            <a:ext cx="4777374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لجنة الجدولة</a:t>
            </a:r>
            <a:endParaRPr lang="en-US" sz="2900" dirty="0"/>
          </a:p>
        </p:txBody>
      </p:sp>
      <p:sp>
        <p:nvSpPr>
          <p:cNvPr id="40" name="User chip 2"/>
          <p:cNvSpPr/>
          <p:nvPr/>
        </p:nvSpPr>
        <p:spPr>
          <a:xfrm>
            <a:off x="18987973" y="12275271"/>
            <a:ext cx="3998854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41" name="User 2"/>
          <p:cNvSpPr txBox="1"/>
          <p:nvPr/>
        </p:nvSpPr>
        <p:spPr>
          <a:xfrm>
            <a:off x="18987973" y="12275271"/>
            <a:ext cx="3998854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رئيس القسم</a:t>
            </a:r>
            <a:endParaRPr lang="en-US" sz="2900" dirty="0"/>
          </a:p>
        </p:txBody>
      </p:sp>
      <p:sp>
        <p:nvSpPr>
          <p:cNvPr id="42" name="User chip 3"/>
          <p:cNvSpPr/>
          <p:nvPr/>
        </p:nvSpPr>
        <p:spPr>
          <a:xfrm>
            <a:off x="8946581" y="12275271"/>
            <a:ext cx="9643262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43" name="User 3"/>
          <p:cNvSpPr txBox="1"/>
          <p:nvPr/>
        </p:nvSpPr>
        <p:spPr>
          <a:xfrm>
            <a:off x="8946581" y="12275271"/>
            <a:ext cx="9643262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الأساتذة · «اسأل ميزان» بالعربية أو الإنجليزية</a:t>
            </a:r>
            <a:endParaRPr lang="en-US" sz="2900" dirty="0"/>
          </a:p>
        </p:txBody>
      </p:sp>
      <p:sp>
        <p:nvSpPr>
          <p:cNvPr id="44" name="User chip 4"/>
          <p:cNvSpPr/>
          <p:nvPr/>
        </p:nvSpPr>
        <p:spPr>
          <a:xfrm>
            <a:off x="6106637" y="12275271"/>
            <a:ext cx="2441814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45" name="User 4"/>
          <p:cNvSpPr txBox="1"/>
          <p:nvPr/>
        </p:nvSpPr>
        <p:spPr>
          <a:xfrm>
            <a:off x="6106637" y="12275271"/>
            <a:ext cx="2441814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الطلاب</a:t>
            </a:r>
            <a:endParaRPr lang="en-US" sz="2900" dirty="0"/>
          </a:p>
        </p:txBody>
      </p:sp>
      <p:sp>
        <p:nvSpPr>
          <p:cNvPr id="46" name="User chip 5"/>
          <p:cNvSpPr/>
          <p:nvPr/>
        </p:nvSpPr>
        <p:spPr>
          <a:xfrm>
            <a:off x="1904238" y="12275271"/>
            <a:ext cx="3804270" cy="1061618"/>
          </a:xfrm>
          <a:prstGeom prst="roundRect">
            <a:avLst>
              <a:gd name="adj" fmla="val 50000"/>
            </a:avLst>
          </a:prstGeom>
          <a:solidFill>
            <a:srgbClr val="F3ECDF"/>
          </a:solidFill>
          <a:ln w="12700">
            <a:solidFill>
              <a:srgbClr val="F3ECD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47" name="User 5"/>
          <p:cNvSpPr txBox="1"/>
          <p:nvPr/>
        </p:nvSpPr>
        <p:spPr>
          <a:xfrm>
            <a:off x="1904238" y="12275271"/>
            <a:ext cx="3804270" cy="1061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2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مديرو التوظيف</a:t>
            </a:r>
            <a:endParaRPr lang="en-US" sz="29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3374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 rtl="1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00038" y="928939"/>
            <a:ext cx="26762293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sz="726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مبني للثقة: ذكاء اصطناعي محلي، وقواعد تفرضها الشيفرة</a:t>
            </a:r>
            <a:endParaRPr lang="en-US" sz="7260" dirty="0"/>
          </a:p>
        </p:txBody>
      </p:sp>
      <p:sp>
        <p:nvSpPr>
          <p:cNvPr id="3" name="Trust card 1"/>
          <p:cNvSpPr/>
          <p:nvPr/>
        </p:nvSpPr>
        <p:spPr>
          <a:xfrm>
            <a:off x="19647072" y="3317626"/>
            <a:ext cx="8515259" cy="1050581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4" name="Trust icon bg 1"/>
          <p:cNvSpPr/>
          <p:nvPr/>
        </p:nvSpPr>
        <p:spPr>
          <a:xfrm>
            <a:off x="26171682" y="3870564"/>
            <a:ext cx="1371326" cy="1371326"/>
          </a:xfrm>
          <a:prstGeom prst="ellipse">
            <a:avLst/>
          </a:prstGeom>
          <a:solidFill>
            <a:srgbClr val="F4A252"/>
          </a:solidFill>
          <a:ln w="12700">
            <a:solidFill>
              <a:srgbClr val="F4A25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5" name="Trust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3518" y="4202308"/>
            <a:ext cx="707746" cy="707746"/>
          </a:xfrm>
          <a:prstGeom prst="rect">
            <a:avLst/>
          </a:prstGeom>
        </p:spPr>
      </p:pic>
      <p:sp>
        <p:nvSpPr>
          <p:cNvPr id="6" name="Trust head 1"/>
          <p:cNvSpPr txBox="1"/>
          <p:nvPr/>
        </p:nvSpPr>
        <p:spPr>
          <a:xfrm>
            <a:off x="19978909" y="3981206"/>
            <a:ext cx="5861121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 algn="r">
              <a:buNone/>
            </a:pPr>
            <a:r>
              <a:rPr lang="ar-SA" sz="411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اصطناعي يبقى في الجامعة</a:t>
            </a:r>
            <a:endParaRPr lang="en-US" sz="4110" dirty="0"/>
          </a:p>
        </p:txBody>
      </p:sp>
      <p:sp>
        <p:nvSpPr>
          <p:cNvPr id="7" name="Trust card 2"/>
          <p:cNvSpPr/>
          <p:nvPr/>
        </p:nvSpPr>
        <p:spPr>
          <a:xfrm>
            <a:off x="10578876" y="3317626"/>
            <a:ext cx="8515259" cy="1050581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8" name="Trust icon bg 2"/>
          <p:cNvSpPr/>
          <p:nvPr/>
        </p:nvSpPr>
        <p:spPr>
          <a:xfrm>
            <a:off x="17103486" y="3870564"/>
            <a:ext cx="1371326" cy="1371326"/>
          </a:xfrm>
          <a:prstGeom prst="ellipse">
            <a:avLst/>
          </a:prstGeom>
          <a:solidFill>
            <a:srgbClr val="529573"/>
          </a:solidFill>
          <a:ln w="12700">
            <a:solidFill>
              <a:srgbClr val="529573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9" name="Trust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5322" y="4202308"/>
            <a:ext cx="707746" cy="707746"/>
          </a:xfrm>
          <a:prstGeom prst="rect">
            <a:avLst/>
          </a:prstGeom>
        </p:spPr>
      </p:pic>
      <p:sp>
        <p:nvSpPr>
          <p:cNvPr id="10" name="Trust head 2"/>
          <p:cNvSpPr txBox="1"/>
          <p:nvPr/>
        </p:nvSpPr>
        <p:spPr>
          <a:xfrm>
            <a:off x="10910621" y="3981206"/>
            <a:ext cx="5861121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 algn="r">
              <a:buNone/>
            </a:pPr>
            <a:r>
              <a:rPr lang="ar-SA" sz="411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القواعد الإلزامية شيفرة</a:t>
            </a:r>
            <a:endParaRPr lang="en-US" sz="4110" dirty="0"/>
          </a:p>
        </p:txBody>
      </p:sp>
      <p:sp>
        <p:nvSpPr>
          <p:cNvPr id="11" name="Trust card 3"/>
          <p:cNvSpPr/>
          <p:nvPr/>
        </p:nvSpPr>
        <p:spPr>
          <a:xfrm>
            <a:off x="1510680" y="3317626"/>
            <a:ext cx="8515259" cy="1050581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3DBC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2" name="Trust icon bg 3"/>
          <p:cNvSpPr/>
          <p:nvPr/>
        </p:nvSpPr>
        <p:spPr>
          <a:xfrm>
            <a:off x="8035290" y="3870564"/>
            <a:ext cx="1371326" cy="1371326"/>
          </a:xfrm>
          <a:prstGeom prst="ellipse">
            <a:avLst/>
          </a:prstGeom>
          <a:solidFill>
            <a:srgbClr val="4B6C9F"/>
          </a:solidFill>
          <a:ln w="12700">
            <a:solidFill>
              <a:srgbClr val="4B6C9F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pic>
        <p:nvPicPr>
          <p:cNvPr id="13" name="Trust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125" y="4202308"/>
            <a:ext cx="707746" cy="707746"/>
          </a:xfrm>
          <a:prstGeom prst="rect">
            <a:avLst/>
          </a:prstGeom>
        </p:spPr>
      </p:pic>
      <p:sp>
        <p:nvSpPr>
          <p:cNvPr id="14" name="Trust head 3"/>
          <p:cNvSpPr txBox="1"/>
          <p:nvPr/>
        </p:nvSpPr>
        <p:spPr>
          <a:xfrm>
            <a:off x="1842425" y="3981206"/>
            <a:ext cx="5861121" cy="1216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 algn="r">
              <a:buNone/>
            </a:pPr>
            <a:r>
              <a:rPr lang="ar-SA" sz="411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مُختبَر كمنتج حقيقي</a:t>
            </a:r>
            <a:endParaRPr lang="en-US" sz="4110" dirty="0"/>
          </a:p>
        </p:txBody>
      </p:sp>
      <p:sp>
        <p:nvSpPr>
          <p:cNvPr id="15" name="AI text"/>
          <p:cNvSpPr txBox="1"/>
          <p:nvPr/>
        </p:nvSpPr>
        <p:spPr>
          <a:xfrm>
            <a:off x="20133625" y="5750570"/>
            <a:ext cx="7409383" cy="2764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spcAft>
                <a:spcPts val="1450"/>
              </a:spcAft>
              <a:buNone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Qwen3-8B على هذا الجهاز. لا سحابة، ولا تغادر بيانات الطلاب الجهاز.</a:t>
            </a:r>
            <a:endParaRPr lang="en-US" sz="3140" dirty="0"/>
          </a:p>
          <a:p>
            <a:pPr marL="0" indent="0" rtl="1" algn="r">
              <a:spcAft>
                <a:spcPts val="1450"/>
              </a:spcAft>
              <a:buNone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درّبنا وكيل التنسيق. القرارات الصحيحة من أصل 120 حالة اختبار افتراضية:</a:t>
            </a:r>
            <a:endParaRPr lang="en-US" sz="3140" dirty="0"/>
          </a:p>
        </p:txBody>
      </p:sp>
      <p:graphicFrame>
        <p:nvGraphicFramePr>
          <p:cNvPr id="16" name="Coordinator chart"/>
          <p:cNvGraphicFramePr/>
          <p:nvPr/>
        </p:nvGraphicFramePr>
        <p:xfrm>
          <a:off x="19978817" y="8515259"/>
          <a:ext cx="7851770" cy="4976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Trust list 4.98"/>
          <p:cNvSpPr txBox="1"/>
          <p:nvPr/>
        </p:nvSpPr>
        <p:spPr>
          <a:xfrm>
            <a:off x="11065429" y="5750570"/>
            <a:ext cx="7409383" cy="7630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0530" indent="-430530" rtl="1" algn="r">
              <a:spcAft>
                <a:spcPts val="2180"/>
              </a:spcAft>
              <a:buSzPct val="100000"/>
              <a:buChar char="•"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محلل OR-Tools يبحث في الجداول الصحيحة.</a:t>
            </a:r>
            <a:endParaRPr lang="en-US" sz="3140" dirty="0"/>
          </a:p>
          <a:p>
            <a:pPr marL="430530" indent="-430530" rtl="1" algn="r">
              <a:spcAft>
                <a:spcPts val="2180"/>
              </a:spcAft>
              <a:buSzPct val="100000"/>
              <a:buChar char="•"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مدقق مستقل يعيد فحص كل نتيجة قبل أن يراها أحد.</a:t>
            </a:r>
            <a:endParaRPr lang="en-US" sz="3140" dirty="0"/>
          </a:p>
          <a:p>
            <a:pPr marL="430530" indent="-430530" rtl="1" algn="r">
              <a:spcAft>
                <a:spcPts val="2180"/>
              </a:spcAft>
              <a:buSzPct val="100000"/>
              <a:buChar char="•"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 لا يقرر أي قاعدة إلزامية: لا تعارض ولا قاعة ولا سعة تُترك للنموذج.</a:t>
            </a:r>
            <a:endParaRPr lang="en-US" sz="3140" dirty="0"/>
          </a:p>
          <a:p>
            <a:pPr marL="430530" indent="-430530" rtl="1" algn="r">
              <a:spcAft>
                <a:spcPts val="2180"/>
              </a:spcAft>
              <a:buSzPct val="100000"/>
              <a:buChar char="•"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النتائج تقول OPTIMAL أو FEASIBLE أو INFEASIBLE، ولا تدّعي أكثر.</a:t>
            </a:r>
            <a:endParaRPr lang="en-US" sz="3140" dirty="0"/>
          </a:p>
        </p:txBody>
      </p:sp>
      <p:sp>
        <p:nvSpPr>
          <p:cNvPr id="18" name="Trust list 9.08"/>
          <p:cNvSpPr txBox="1"/>
          <p:nvPr/>
        </p:nvSpPr>
        <p:spPr>
          <a:xfrm>
            <a:off x="1997233" y="5750570"/>
            <a:ext cx="7409383" cy="7630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30530" indent="-430530" rtl="1" algn="r">
              <a:spcAft>
                <a:spcPts val="2180"/>
              </a:spcAft>
              <a:buSzPct val="100000"/>
              <a:buChar char="•"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اختباراً آلياً و3 مجموعات اختبار للمتصفح تنجح.</a:t>
            </a:r>
            <a:endParaRPr lang="en-US" sz="3140" dirty="0"/>
          </a:p>
          <a:p>
            <a:pPr marL="430530" indent="-430530" rtl="1" algn="r">
              <a:spcAft>
                <a:spcPts val="2180"/>
              </a:spcAft>
              <a:buSzPct val="100000"/>
              <a:buChar char="•"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جميع معايير القبول الـ15 مرتبطة باختبارات ناجحة.</a:t>
            </a:r>
            <a:endParaRPr lang="en-US" sz="3140" dirty="0"/>
          </a:p>
          <a:p>
            <a:pPr marL="430530" indent="-430530" rtl="1" algn="r">
              <a:spcAft>
                <a:spcPts val="2180"/>
              </a:spcAft>
              <a:buSzPct val="100000"/>
              <a:buChar char="•"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 والإنجليزية تعرضان الأرقام نفسها، ويُتحقق من ذلك آلياً.</a:t>
            </a:r>
            <a:endParaRPr lang="en-US" sz="3140" dirty="0"/>
          </a:p>
          <a:p>
            <a:pPr marL="430530" indent="-430530" rtl="1" algn="r">
              <a:spcAft>
                <a:spcPts val="2180"/>
              </a:spcAft>
              <a:buSzPct val="100000"/>
              <a:buChar char="•"/>
            </a:pPr>
            <a:r>
              <a:rPr lang="ar-SA" sz="314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قرار يُسجَّل في سجل العمليات.</a:t>
            </a:r>
            <a:endParaRPr lang="en-US" sz="3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333744" y="14332214"/>
            <a:ext cx="884682" cy="55293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2180">
                <a:solidFill>
                  <a:srgbClr val="68645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 rtl="1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 title"/>
          <p:cNvSpPr txBox="1"/>
          <p:nvPr/>
        </p:nvSpPr>
        <p:spPr>
          <a:xfrm>
            <a:off x="1621231" y="1216426"/>
            <a:ext cx="26541100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774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من العرض التجريبي إلى تجربة فعلية في اليمامة</a:t>
            </a:r>
            <a:endParaRPr lang="en-US" sz="7740" dirty="0"/>
          </a:p>
        </p:txBody>
      </p:sp>
      <p:sp>
        <p:nvSpPr>
          <p:cNvPr id="3" name="Value who 1"/>
          <p:cNvSpPr txBox="1"/>
          <p:nvPr/>
        </p:nvSpPr>
        <p:spPr>
          <a:xfrm>
            <a:off x="23960023" y="3760013"/>
            <a:ext cx="4202308" cy="110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الطلاب</a:t>
            </a:r>
            <a:endParaRPr lang="en-US" sz="4350" dirty="0"/>
          </a:p>
        </p:txBody>
      </p:sp>
      <p:sp>
        <p:nvSpPr>
          <p:cNvPr id="4" name="Value what 1"/>
          <p:cNvSpPr txBox="1"/>
          <p:nvPr/>
        </p:nvSpPr>
        <p:spPr>
          <a:xfrm>
            <a:off x="15113020" y="3760013"/>
            <a:ext cx="8847003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630" dirty="0">
                <a:solidFill>
                  <a:srgbClr val="E3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ساعات انتظار وأيام حضور أقل، وأسباب أكثر للحضور</a:t>
            </a:r>
            <a:endParaRPr lang="en-US" sz="3630" dirty="0"/>
          </a:p>
        </p:txBody>
      </p:sp>
      <p:sp>
        <p:nvSpPr>
          <p:cNvPr id="5" name="Value who 2"/>
          <p:cNvSpPr txBox="1"/>
          <p:nvPr/>
        </p:nvSpPr>
        <p:spPr>
          <a:xfrm>
            <a:off x="23960023" y="6082314"/>
            <a:ext cx="4202308" cy="110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اللجنة</a:t>
            </a:r>
            <a:endParaRPr lang="en-US" sz="4350" dirty="0"/>
          </a:p>
        </p:txBody>
      </p:sp>
      <p:sp>
        <p:nvSpPr>
          <p:cNvPr id="6" name="Value what 2"/>
          <p:cNvSpPr txBox="1"/>
          <p:nvPr/>
        </p:nvSpPr>
        <p:spPr>
          <a:xfrm>
            <a:off x="15113020" y="6082314"/>
            <a:ext cx="8847003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630" dirty="0">
                <a:solidFill>
                  <a:srgbClr val="E3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تغيير يُفحص في ثوانٍ، بالأدلة بدل سلاسل البريد</a:t>
            </a:r>
            <a:endParaRPr lang="en-US" sz="3630" dirty="0"/>
          </a:p>
        </p:txBody>
      </p:sp>
      <p:sp>
        <p:nvSpPr>
          <p:cNvPr id="7" name="Value who 3"/>
          <p:cNvSpPr txBox="1"/>
          <p:nvPr/>
        </p:nvSpPr>
        <p:spPr>
          <a:xfrm>
            <a:off x="23960023" y="8404708"/>
            <a:ext cx="4202308" cy="110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35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الجامعة</a:t>
            </a:r>
            <a:endParaRPr lang="en-US" sz="4350" dirty="0"/>
          </a:p>
        </p:txBody>
      </p:sp>
      <p:sp>
        <p:nvSpPr>
          <p:cNvPr id="8" name="Value what 3"/>
          <p:cNvSpPr txBox="1"/>
          <p:nvPr/>
        </p:nvSpPr>
        <p:spPr>
          <a:xfrm>
            <a:off x="15113020" y="8404708"/>
            <a:ext cx="8847003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630" dirty="0">
                <a:solidFill>
                  <a:srgbClr val="E3DB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سعة القاعات غير المستخدمة، وبقاء البيانات في الجامعة</a:t>
            </a:r>
            <a:endParaRPr lang="en-US" sz="3630" dirty="0"/>
          </a:p>
        </p:txBody>
      </p:sp>
      <p:sp>
        <p:nvSpPr>
          <p:cNvPr id="9" name="Next dot 1"/>
          <p:cNvSpPr/>
          <p:nvPr/>
        </p:nvSpPr>
        <p:spPr>
          <a:xfrm>
            <a:off x="12016496" y="3760013"/>
            <a:ext cx="1327069" cy="1327069"/>
          </a:xfrm>
          <a:prstGeom prst="ellipse">
            <a:avLst/>
          </a:prstGeom>
          <a:solidFill>
            <a:srgbClr val="1E2C33"/>
          </a:solidFill>
          <a:ln w="60960">
            <a:solidFill>
              <a:srgbClr val="F4A25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0" name="Next number 1"/>
          <p:cNvSpPr txBox="1"/>
          <p:nvPr/>
        </p:nvSpPr>
        <p:spPr>
          <a:xfrm>
            <a:off x="12016496" y="3760013"/>
            <a:ext cx="1327069" cy="132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387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70" dirty="0"/>
          </a:p>
        </p:txBody>
      </p:sp>
      <p:sp>
        <p:nvSpPr>
          <p:cNvPr id="11" name="Next step 1"/>
          <p:cNvSpPr txBox="1"/>
          <p:nvPr/>
        </p:nvSpPr>
        <p:spPr>
          <a:xfrm>
            <a:off x="1289486" y="3671499"/>
            <a:ext cx="10174072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في كلية واحدة</a:t>
            </a:r>
            <a:endParaRPr lang="en-US" sz="4110" dirty="0"/>
          </a:p>
          <a:p>
            <a:pPr marL="0" indent="0" rtl="1" algn="r">
              <a:buNone/>
            </a:pPr>
            <a:r>
              <a:rPr lang="ar-SA" sz="339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حقيقية من البوابة، مع توثيق القاعات والمحاضرين</a:t>
            </a:r>
            <a:endParaRPr lang="en-US" sz="4110" dirty="0"/>
          </a:p>
        </p:txBody>
      </p:sp>
      <p:sp>
        <p:nvSpPr>
          <p:cNvPr id="12" name="Next line 1"/>
          <p:cNvSpPr/>
          <p:nvPr/>
        </p:nvSpPr>
        <p:spPr>
          <a:xfrm flipH="1">
            <a:off x="12679985" y="5131247"/>
            <a:ext cx="0" cy="928939"/>
          </a:xfrm>
          <a:prstGeom prst="line">
            <a:avLst/>
          </a:prstGeom>
          <a:noFill/>
          <a:ln w="60960">
            <a:solidFill>
              <a:srgbClr val="3A4A5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3" name="Next dot 2"/>
          <p:cNvSpPr/>
          <p:nvPr/>
        </p:nvSpPr>
        <p:spPr>
          <a:xfrm>
            <a:off x="12016496" y="6082314"/>
            <a:ext cx="1327069" cy="1327069"/>
          </a:xfrm>
          <a:prstGeom prst="ellipse">
            <a:avLst/>
          </a:prstGeom>
          <a:solidFill>
            <a:srgbClr val="1E2C33"/>
          </a:solidFill>
          <a:ln w="60960">
            <a:solidFill>
              <a:srgbClr val="F4A25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4" name="Next number 2"/>
          <p:cNvSpPr txBox="1"/>
          <p:nvPr/>
        </p:nvSpPr>
        <p:spPr>
          <a:xfrm>
            <a:off x="12016496" y="6082314"/>
            <a:ext cx="1327069" cy="132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387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70" dirty="0"/>
          </a:p>
        </p:txBody>
      </p:sp>
      <p:sp>
        <p:nvSpPr>
          <p:cNvPr id="15" name="Next step 2"/>
          <p:cNvSpPr txBox="1"/>
          <p:nvPr/>
        </p:nvSpPr>
        <p:spPr>
          <a:xfrm>
            <a:off x="1289486" y="5993892"/>
            <a:ext cx="10174072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التقويم الدراسي</a:t>
            </a:r>
            <a:endParaRPr lang="en-US" sz="4110" dirty="0"/>
          </a:p>
          <a:p>
            <a:pPr marL="0" indent="0" rtl="1" algn="r">
              <a:buNone/>
            </a:pPr>
            <a:r>
              <a:rPr lang="ar-SA" sz="339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تغييرات لمرة واحدة، والاختبارات، ومواعيد رمضان</a:t>
            </a:r>
            <a:endParaRPr lang="en-US" sz="4110" dirty="0"/>
          </a:p>
        </p:txBody>
      </p:sp>
      <p:sp>
        <p:nvSpPr>
          <p:cNvPr id="16" name="Next line 2"/>
          <p:cNvSpPr/>
          <p:nvPr/>
        </p:nvSpPr>
        <p:spPr>
          <a:xfrm flipH="1">
            <a:off x="12679985" y="7453640"/>
            <a:ext cx="0" cy="928939"/>
          </a:xfrm>
          <a:prstGeom prst="line">
            <a:avLst/>
          </a:prstGeom>
          <a:noFill/>
          <a:ln w="60960">
            <a:solidFill>
              <a:srgbClr val="3A4A5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7" name="Next dot 3"/>
          <p:cNvSpPr/>
          <p:nvPr/>
        </p:nvSpPr>
        <p:spPr>
          <a:xfrm>
            <a:off x="12016496" y="8404708"/>
            <a:ext cx="1327069" cy="1327069"/>
          </a:xfrm>
          <a:prstGeom prst="ellipse">
            <a:avLst/>
          </a:prstGeom>
          <a:solidFill>
            <a:srgbClr val="1E2C33"/>
          </a:solidFill>
          <a:ln w="60960">
            <a:solidFill>
              <a:srgbClr val="F4A252"/>
            </a:solidFill>
            <a:prstDash val="solid"/>
          </a:ln>
        </p:spPr>
        <p:txBody>
          <a:bodyPr/>
          <a:lstStyle/>
          <a:p>
            <a:pPr rtl="1" algn="r"/>
            <a:endParaRPr lang="en-US"/>
          </a:p>
        </p:txBody>
      </p:sp>
      <p:sp>
        <p:nvSpPr>
          <p:cNvPr id="18" name="Next number 3"/>
          <p:cNvSpPr txBox="1"/>
          <p:nvPr/>
        </p:nvSpPr>
        <p:spPr>
          <a:xfrm>
            <a:off x="12016496" y="8404708"/>
            <a:ext cx="1327069" cy="132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sz="3870" b="1" dirty="0">
                <a:solidFill>
                  <a:srgbClr val="F4A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70" dirty="0"/>
          </a:p>
        </p:txBody>
      </p:sp>
      <p:sp>
        <p:nvSpPr>
          <p:cNvPr id="19" name="Next step 3"/>
          <p:cNvSpPr txBox="1"/>
          <p:nvPr/>
        </p:nvSpPr>
        <p:spPr>
          <a:xfrm>
            <a:off x="1289486" y="8316194"/>
            <a:ext cx="10174072" cy="188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4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الاعتمادات والإشعارات</a:t>
            </a:r>
            <a:endParaRPr lang="en-US" sz="4110" dirty="0"/>
          </a:p>
          <a:p>
            <a:pPr marL="0" indent="0" rtl="1" algn="r">
              <a:buNone/>
            </a:pPr>
            <a:r>
              <a:rPr lang="ar-SA" sz="3390" dirty="0">
                <a:solidFill>
                  <a:srgbClr val="CFC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القسم ثم القبول والتسجيل، ويُبلَّغ الطلاب</a:t>
            </a:r>
            <a:endParaRPr lang="en-US" sz="4110" dirty="0"/>
          </a:p>
        </p:txBody>
      </p:sp>
      <p:sp>
        <p:nvSpPr>
          <p:cNvPr id="20" name="Closing line"/>
          <p:cNvSpPr txBox="1"/>
          <p:nvPr/>
        </p:nvSpPr>
        <p:spPr>
          <a:xfrm>
            <a:off x="10468234" y="11611783"/>
            <a:ext cx="17694097" cy="176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871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Arial" pitchFamily="34" charset="-120"/>
              </a:rPr>
              <a:t>كل ساعة تصنع فرقاً.</a:t>
            </a:r>
            <a:endParaRPr lang="en-US" sz="8710" dirty="0"/>
          </a:p>
        </p:txBody>
      </p:sp>
      <p:sp>
        <p:nvSpPr>
          <p:cNvPr id="21" name="Thanks"/>
          <p:cNvSpPr txBox="1"/>
          <p:nvPr/>
        </p:nvSpPr>
        <p:spPr>
          <a:xfrm>
            <a:off x="10468234" y="13491698"/>
            <a:ext cx="17694097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rtl="1" algn="r">
              <a:buNone/>
            </a:pPr>
            <a:r>
              <a:rPr lang="ar-SA" sz="3390" dirty="0">
                <a:solidFill>
                  <a:srgbClr val="A9A1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 · يسعدنا تلقي أسئلتكم</a:t>
            </a:r>
            <a:endParaRPr lang="en-US" sz="33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zan">
  <a:themeElements>
    <a:clrScheme name="Mizan">
      <a:dk1>
        <a:srgbClr val="172126"/>
      </a:dk1>
      <a:lt1>
        <a:srgbClr val="FFFCF7"/>
      </a:lt1>
      <a:dk2>
        <a:srgbClr val="111C21"/>
      </a:dk2>
      <a:lt2>
        <a:srgbClr val="EEE8DE"/>
      </a:lt2>
      <a:accent1>
        <a:srgbClr val="F4A252"/>
      </a:accent1>
      <a:accent2>
        <a:srgbClr val="529573"/>
      </a:accent2>
      <a:accent3>
        <a:srgbClr val="4B6C9F"/>
      </a:accent3>
      <a:accent4>
        <a:srgbClr val="B95042"/>
      </a:accent4>
      <a:accent5>
        <a:srgbClr val="EAAA62"/>
      </a:accent5>
      <a:accent6>
        <a:srgbClr val="68645B"/>
      </a:accent6>
      <a:hlink>
        <a:srgbClr val="315583"/>
      </a:hlink>
      <a:folHlink>
        <a:srgbClr val="303533"/>
      </a:folHlink>
    </a:clrScheme>
    <a:fontScheme name="Miza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1914</Words>
  <Application>Microsoft Office PowerPoint</Application>
  <PresentationFormat>Custom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Mizan</vt:lpstr>
      <vt:lpstr>PowerPoint Presentation</vt:lpstr>
      <vt:lpstr>Gaps between classes cost students their attendance</vt:lpstr>
      <vt:lpstr>One change touches rooms, professors and hundreds of students</vt:lpstr>
      <vt:lpstr>Mizan measures, improves and checks, then people decide</vt:lpstr>
      <vt:lpstr>Live demo: a whole semester improved in 15 seconds</vt:lpstr>
      <vt:lpstr>Your real Edugate schedule in, a better one out</vt:lpstr>
      <vt:lpstr>Built to be trusted: local AI, rules enforced by code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ميزان — النهائي في هاكاثون فرق 2026</dc:title>
  <dc:subject>PptxGenJS Presentation</dc:subject>
  <dc:creator>Mizan team</dc:creator>
  <cp:lastModifiedBy>ali bin ali</cp:lastModifiedBy>
  <cp:revision>2</cp:revision>
  <dcterms:created xsi:type="dcterms:W3CDTF">2026-10-04T06:06:49Z</dcterms:created>
  <dcterms:modified xsi:type="dcterms:W3CDTF">2026-10-05T01:44:21Z</dcterms:modified>
</cp:coreProperties>
</file>