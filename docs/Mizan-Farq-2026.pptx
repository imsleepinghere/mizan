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29489400" cy="15240000"/>
  <p:notesSz cx="15240000" cy="29489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307F00D-FDA6-4493-8213-BC9C809603DC}">
          <p14:sldIdLst>
            <p14:sldId id="256"/>
          </p14:sldIdLst>
        </p14:section>
        <p14:section name="Problem" id="{7794F5C2-BDD6-36A5-6A75-9FAABE940FEE}">
          <p14:sldIdLst>
            <p14:sldId id="257"/>
            <p14:sldId id="258"/>
          </p14:sldIdLst>
        </p14:section>
        <p14:section name="Solution" id="{E550209F-3F0B-EE56-BE44-14DD0F986802}">
          <p14:sldIdLst>
            <p14:sldId id="259"/>
          </p14:sldIdLst>
        </p14:section>
        <p14:section name="Demo" id="{C9B1D731-5EC7-E5BC-D338-DFF941FCBEF8}">
          <p14:sldIdLst>
            <p14:sldId id="260"/>
            <p14:sldId id="261"/>
          </p14:sldIdLst>
        </p14:section>
        <p14:section name="Technology" id="{7CCCC48D-DAC2-9033-D766-04E95D2C13EB}">
          <p14:sldIdLst>
            <p14:sldId id="262"/>
          </p14:sldIdLst>
        </p14:section>
        <p14:section name="Close" id="{7B9E9FFD-6CB3-AE99-C72D-E34BE644D5B7}">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4" d="100"/>
          <a:sy n="54" d="100"/>
        </p:scale>
        <p:origin x="168" y="2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2900" b="0" i="0" u="none" strike="noStrike">
                <a:solidFill>
                  <a:srgbClr val="172126"/>
                </a:solidFill>
                <a:latin typeface="+mn-lt"/>
              </a:defRPr>
            </a:pPr>
            <a:r>
              <a:rPr lang="en-US" sz="2900" b="0" i="0" u="none" strike="noStrike">
                <a:solidFill>
                  <a:srgbClr val="172126"/>
                </a:solidFill>
                <a:latin typeface="+mn-lt"/>
              </a:rPr>
              <a:t>Student gap hours per week</a:t>
            </a:r>
          </a:p>
        </c:rich>
      </c:tx>
      <c:overlay val="0"/>
    </c:title>
    <c:autoTitleDeleted val="0"/>
    <c:plotArea>
      <c:layout/>
      <c:barChart>
        <c:barDir val="col"/>
        <c:grouping val="clustered"/>
        <c:varyColors val="0"/>
        <c:ser>
          <c:idx val="0"/>
          <c:order val="0"/>
          <c:tx>
            <c:strRef>
              <c:f>Sheet1!$B$1</c:f>
              <c:strCache>
                <c:ptCount val="1"/>
                <c:pt idx="0">
                  <c:v>Student gap hours per week</c:v>
                </c:pt>
              </c:strCache>
            </c:strRef>
          </c:tx>
          <c:spPr>
            <a:solidFill>
              <a:srgbClr val="B95042"/>
            </a:solidFill>
            <a:effectLst/>
          </c:spPr>
          <c:invertIfNegative val="0"/>
          <c:dPt>
            <c:idx val="0"/>
            <c:invertIfNegative val="0"/>
            <c:bubble3D val="0"/>
            <c:extLst>
              <c:ext xmlns:c16="http://schemas.microsoft.com/office/drawing/2014/chart" uri="{C3380CC4-5D6E-409C-BE32-E72D297353CC}">
                <c16:uniqueId val="{00000001-826A-4A9C-8D81-FF3384971CCA}"/>
              </c:ext>
            </c:extLst>
          </c:dPt>
          <c:dPt>
            <c:idx val="1"/>
            <c:invertIfNegative val="0"/>
            <c:bubble3D val="0"/>
            <c:spPr>
              <a:solidFill>
                <a:srgbClr val="529573"/>
              </a:solidFill>
              <a:effectLst/>
            </c:spPr>
            <c:extLst>
              <c:ext xmlns:c16="http://schemas.microsoft.com/office/drawing/2014/chart" uri="{C3380CC4-5D6E-409C-BE32-E72D297353CC}">
                <c16:uniqueId val="{00000003-826A-4A9C-8D81-FF3384971CCA}"/>
              </c:ext>
            </c:extLst>
          </c:dPt>
          <c:dLbls>
            <c:numFmt formatCode="#,##0" sourceLinked="0"/>
            <c:spPr>
              <a:noFill/>
              <a:ln>
                <a:noFill/>
              </a:ln>
              <a:effectLst/>
            </c:spPr>
            <c:txPr>
              <a:bodyPr/>
              <a:lstStyle/>
              <a:p>
                <a:pPr>
                  <a:defRPr sz="2900" b="0" i="0" u="none" strike="noStrike">
                    <a:solidFill>
                      <a:srgbClr val="17212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Before</c:v>
                </c:pt>
                <c:pt idx="1">
                  <c:v>After 15 s</c:v>
                </c:pt>
              </c:strCache>
            </c:strRef>
          </c:cat>
          <c:val>
            <c:numRef>
              <c:f>Sheet1!$B$2:$B$3</c:f>
              <c:numCache>
                <c:formatCode>General</c:formatCode>
                <c:ptCount val="2"/>
                <c:pt idx="0">
                  <c:v>15000</c:v>
                </c:pt>
                <c:pt idx="1">
                  <c:v>13200</c:v>
                </c:pt>
              </c:numCache>
            </c:numRef>
          </c:val>
          <c:extLst>
            <c:ext xmlns:c16="http://schemas.microsoft.com/office/drawing/2014/chart" uri="{C3380CC4-5D6E-409C-BE32-E72D297353CC}">
              <c16:uniqueId val="{00000004-826A-4A9C-8D81-FF3384971CCA}"/>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660" b="0" i="0" u="none" strike="noStrike">
                <a:solidFill>
                  <a:srgbClr val="68645B"/>
                </a:solidFill>
                <a:latin typeface="+mn-lt"/>
              </a:defRPr>
            </a:pPr>
            <a:endParaRPr lang="en-US"/>
          </a:p>
        </c:txPr>
        <c:crossAx val="2094734552"/>
        <c:crosses val="autoZero"/>
        <c:auto val="1"/>
        <c:lblAlgn val="ctr"/>
        <c:lblOffset val="100"/>
        <c:noMultiLvlLbl val="1"/>
      </c:catAx>
      <c:valAx>
        <c:axId val="2094734552"/>
        <c:scaling>
          <c:orientation val="minMax"/>
          <c:max val="170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Correct decisions (of 120)</c:v>
                </c:pt>
              </c:strCache>
            </c:strRef>
          </c:tx>
          <c:spPr>
            <a:solidFill>
              <a:srgbClr val="CFC3B3"/>
            </a:solidFill>
            <a:effectLst/>
          </c:spPr>
          <c:invertIfNegative val="0"/>
          <c:dPt>
            <c:idx val="0"/>
            <c:invertIfNegative val="0"/>
            <c:bubble3D val="0"/>
            <c:spPr>
              <a:solidFill>
                <a:srgbClr val="CFC3B3"/>
              </a:solidFill>
            </c:spPr>
            <c:extLst>
              <c:ext xmlns:c16="http://schemas.microsoft.com/office/drawing/2014/chart" uri="{C3380CC4-5D6E-409C-BE32-E72D297353CC}">
                <c16:uniqueId val="{00000001-1DDF-4958-B726-B6501121E071}"/>
              </c:ext>
            </c:extLst>
          </c:dPt>
          <c:dPt>
            <c:idx val="1"/>
            <c:invertIfNegative val="0"/>
            <c:bubble3D val="0"/>
            <c:spPr>
              <a:solidFill>
                <a:srgbClr val="E3C9A0"/>
              </a:solidFill>
              <a:effectLst/>
            </c:spPr>
            <c:extLst>
              <c:ext xmlns:c16="http://schemas.microsoft.com/office/drawing/2014/chart" uri="{C3380CC4-5D6E-409C-BE32-E72D297353CC}">
                <c16:uniqueId val="{00000003-1DDF-4958-B726-B6501121E071}"/>
              </c:ext>
            </c:extLst>
          </c:dPt>
          <c:dPt>
            <c:idx val="2"/>
            <c:spPr>
              <a:solidFill>
                <a:srgbClr val="F4A252"/>
              </a:solidFill>
            </c:spPr>
          </c:dPt>
          <c:dLbls>
            <c:numFmt formatCode="#,##0" sourceLinked="0"/>
            <c:spPr>
              <a:noFill/>
              <a:ln>
                <a:noFill/>
              </a:ln>
              <a:effectLst/>
            </c:spPr>
            <c:txPr>
              <a:bodyPr/>
              <a:lstStyle/>
              <a:p>
                <a:pPr>
                  <a:defRPr sz="3140" b="0" i="0" u="none" strike="noStrike">
                    <a:solidFill>
                      <a:srgbClr val="17212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Base, old prompt</c:v>
                </c:pt>
                <c:pt idx="1">
                  <c:v>Base, new prompt</c:v>
                </c:pt>
                <c:pt idx="2">
                  <c:v>Fine-tuned</c:v>
                </c:pt>
              </c:strCache>
            </c:strRef>
          </c:cat>
          <c:val>
            <c:numRef>
              <c:f>Sheet1!$B$2:$B$4</c:f>
              <c:numCache>
                <c:formatCode>General</c:formatCode>
                <c:ptCount val="3"/>
                <c:pt idx="0">
                  <c:v>75</c:v>
                </c:pt>
                <c:pt idx="1">
                  <c:v>96</c:v>
                </c:pt>
                <c:pt idx="2">
                  <c:v>106</c:v>
                </c:pt>
              </c:numCache>
            </c:numRef>
          </c:val>
          <c:extLst>
            <c:ext xmlns:c16="http://schemas.microsoft.com/office/drawing/2014/chart" uri="{C3380CC4-5D6E-409C-BE32-E72D297353CC}">
              <c16:uniqueId val="{00000004-1DDF-4958-B726-B6501121E071}"/>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900" b="0" i="0" u="none" strike="noStrike">
                <a:solidFill>
                  <a:srgbClr val="172126"/>
                </a:solidFill>
                <a:latin typeface="+mn-lt"/>
              </a:defRPr>
            </a:pPr>
            <a:endParaRPr lang="en-US"/>
          </a:p>
        </c:txPr>
        <c:crossAx val="2094734552"/>
        <c:crosses val="autoZero"/>
        <c:auto val="1"/>
        <c:lblAlgn val="ctr"/>
        <c:lblOffset val="100"/>
        <c:noMultiLvlLbl val="1"/>
      </c:catAx>
      <c:valAx>
        <c:axId val="2094734552"/>
        <c:scaling>
          <c:orientation val="minMax"/>
          <c:max val="135"/>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0225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[Whole team on stage · 0:00–0:30]
Speaker 1: "We are team Mizan." Each member says their name and role in one line (edit the four cards on this slide).
Speaker 1: "Mizan is a local AI assistant that turns a valid university timetable into a better one for students, and every change still goes through people."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0:30–1:15]
"Research links timetables to attendance. At Prince Sultan University in Riyadh, three timetable factors predicted student absences with 87% accuracy, and one of them is the free time between classes. In the same study, absences track GPA closely, a correlation of −0.71.
A UK study with randomly assigned timetables found the same direction: back-to-back classes raise attendance, single-class days lower it.
And rooms: across 30+ UK universities, teaching rooms are used about 20% of the time.
So the timetable is a lever universities already control, but it is built to be valid, not to be good for students."
Note for Q&amp;A: we do NOT claim Mizan raises grades; the grade link is correlational. We claim student time and attendance.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1:15–1:45]
"Why don't universities just improve their timetables? Because every change ripples. Move one class and you must re-check the room, the professor, and every student enrolled, plus every other section they take.
We collected 30 real requests from professors: move my class, find a time for a quiz, merge two sections. Each one is a small optimization problem.
In our demo semester, moving a single section to Sunday at 10 creates 77 student clashes. Doing this by hand doesn't scale."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1:45–2:15]
"Mizan works in five steps. Import: a whole semester, or a single student's Edugate PDF or app screenshot. Measure: gap hours, campus days, room use. Improve: an optimization solver searches thousands of valid timetables, and six AI agents explain the trade-offs. Approve: the committee sees the evidence; nothing is published without a person. Export: back to the Edugate layout.
It serves the committee, chairs, professors (who can ask in Arabic or English), students, and hiring managers when a shortage is proven."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2 · 2:15–3:15 · LIVE DEMO — switch to the app]</a:t>
            </a:r>
          </a:p>
          <a:p>
            <a:r>
              <a:t>1. Overview: "This is a demo semester: 1,500 synthetic students, deliberately badly scheduled, 10 hours of gaps each per week." (Say clearly it is synthetic, and why: "the starting timetable is deliberately poor — identical cohorts with built-in gaps — so the first improvements are obvious. The point is that every change is checked by an independent validator and approved by a person.")</a:t>
            </a:r>
          </a:p>
          <a:p>
            <a:r>
              <a:t>2. Click Optimize semester → Run (15 s). "The solver searches valid timetables; every result is re-checked by a separate validator."</a:t>
            </a:r>
          </a:p>
          <a:p>
            <a:r>
              <a:t>3. Evidence: about 1,800 student-hours a week recovered, about 225 students better off, 0 worse off, 0 conflicts. Point at the four steps: Preview, Propose, Approve, Publish. "Nothing changes until a person approves and publishes."</a:t>
            </a:r>
          </a:p>
          <a:p>
            <a:r>
              <a:t>Fallback if the laptop fails: play the recorded demo video, or stay on this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3:15–3:45 · LIVE: Semester lab → Edugate schedules]
"Mizan also speaks Al Yamamah's own format. We upload a real Edugate schedule PDF, or a screenshot from the app. Mizan reads it on this laptop, Arabic and English, and the file is never stored. Anything it is unsure of is highlighted: here the end time was cut off in the screenshot, so we type it in.
Add to Mizan → optimize → and download the result in the same Edugate layout, with the changed rows shaded."
Q&amp;A: instructors and room sizes are not on a student schedule, so Mizan uses placeholders, and says so on screen.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3 · 3:45–4:20]</a:t>
            </a:r>
          </a:p>
          <a:p>
            <a:r>
              <a:t>"Three reasons to trust it. One: the AI runs on this laptop. No cloud, no student data leaves the university. We tested the coordinator agent on 120 synthetic decisions: a better prompt took the base model from 75 to 96 correct, and fine-tuning added about 10 more, to 106 — mostly finishing changed timetables and ignoring injected instructions.</a:t>
            </a:r>
          </a:p>
          <a:p>
            <a:r>
              <a:t>Two: the AI never decides a hard rule or the final outcome. An OR-Tools solver finds valid timetables, and a separate validator re-checks every result. If it cannot prove a result is optimal, it says so.</a:t>
            </a:r>
          </a:p>
          <a:p>
            <a:r>
              <a:t>Three: 99 automated tests, three browser suites, every acceptance criterion mapped to a passing test, and Arabic and English always show the same numbers."</a:t>
            </a:r>
          </a:p>
          <a:p>
            <a:r>
              <a:t>Q&amp;A detail: fine-tuning alone (same prompt): 14 decisions fixed, 4 broken, p ≈ 0.03. The cases come from the same generator as the training data, so this measures the workflow, not real-world ability. Do not quote the older "111 vs 75" — it changed the prompt and the adapter together. Source: training/coordinator/deployed_ablation.md.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4:20–5:00]
"What it gives: students get fewer idle hours and campus days, and the research says that means more reasons to attend. The committee checks every change in seconds, with evidence instead of email threads. The university sees unused room capacity and keeps its data on campus.
Next: a pilot with one college using real Edugate exports, then real room bookings and instructors, and we measure attendance before and after.
Every hour matters. Thank you."
Likely questions: Is the data real? (Demo semester is synthetic; the Edugate import uses a real schedule.) Will students lose their preferred times? (Changes need committee approval; 0 students worse off is a constraint we report.) Cost? (Runs on one university PC; no cloud fees.)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IZAN_DARK">
    <p:bg>
      <p:bgPr>
        <a:solidFill>
          <a:srgbClr val="111C2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IZAN_CONTENT">
    <p:bg>
      <p:bgPr>
        <a:solidFill>
          <a:srgbClr val="FFFCF7"/>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327069" y="928939"/>
            <a:ext cx="26762293" cy="1769364"/>
          </a:xfrm>
          <a:prstGeom prst="rect">
            <a:avLst/>
          </a:prstGeom>
          <a:noFill/>
          <a:ln/>
        </p:spPr>
        <p:txBody>
          <a:bodyPr wrap="square" rtlCol="0"/>
          <a:lstStyle>
            <a:lvl1pPr marL="0" indent="0" algn="l">
              <a:buNone/>
              <a:defRPr lang="en-US" sz="7260" dirty="0">
                <a:solidFill>
                  <a:schemeClr val="tx1"/>
                </a:solidFill>
                <a:latin typeface="Georgia" pitchFamily="34" charset="0"/>
                <a:ea typeface="Georgia" pitchFamily="34" charset="-122"/>
                <a:cs typeface="Georgia" pitchFamily="34" charset="-120"/>
              </a:defRPr>
            </a:lvl1pPr>
          </a:lstStyle>
          <a:p>
            <a:pPr marL="0" indent="0" algn="l">
              <a:buNone/>
            </a:pPr>
            <a:r>
              <a:rPr lang="en-US" sz="7260" dirty="0">
                <a:solidFill>
                  <a:schemeClr val="tx1"/>
                </a:solidFill>
                <a:latin typeface="Georgia" pitchFamily="34" charset="0"/>
                <a:ea typeface="Georgia" pitchFamily="34" charset="-122"/>
                <a:cs typeface="Georgia" pitchFamily="34" charset="-120"/>
              </a:rPr>
              <a:t>Title</a:t>
            </a:r>
            <a:endParaRPr lang="en-US" sz="7260" dirty="0"/>
          </a:p>
        </p:txBody>
      </p:sp>
      <p:sp>
        <p:nvSpPr>
          <p:cNvPr id="3" name="Text 0"/>
          <p:cNvSpPr/>
          <p:nvPr/>
        </p:nvSpPr>
        <p:spPr>
          <a:xfrm>
            <a:off x="1327069" y="14332214"/>
            <a:ext cx="13270596" cy="552938"/>
          </a:xfrm>
          <a:prstGeom prst="rect">
            <a:avLst/>
          </a:prstGeom>
          <a:noFill/>
          <a:ln/>
        </p:spPr>
        <p:txBody>
          <a:bodyPr wrap="square" lIns="0" tIns="0" rIns="0" bIns="0" rtlCol="0" anchor="ctr"/>
          <a:lstStyle/>
          <a:p>
            <a:pPr marL="0" indent="0">
              <a:buNone/>
            </a:pPr>
            <a:r>
              <a:rPr lang="en-US" sz="2180" dirty="0">
                <a:solidFill>
                  <a:srgbClr val="68645B"/>
                </a:solidFill>
                <a:latin typeface="Arial" pitchFamily="34" charset="0"/>
                <a:ea typeface="Arial" pitchFamily="34" charset="-122"/>
                <a:cs typeface="Arial" pitchFamily="34" charset="-120"/>
              </a:rPr>
              <a:t>MIZAN  ·  Farq 2026</a:t>
            </a:r>
            <a:endParaRPr lang="en-US" sz="2180" dirty="0"/>
          </a:p>
        </p:txBody>
      </p:sp>
      <p:sp>
        <p:nvSpPr>
          <p:cNvPr id="25"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1.png"/><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2.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ampus photo" descr="C:\Users\Admin\AppData\Local\Temp\claude\C--Users-Admin-Documents-GitHub-Mizan\b7a3e5b0-497b-48e5-8b06-72387145df4d\scratchpad\deck\img_campus.jpg"/>
          <p:cNvPicPr>
            <a:picLocks noChangeAspect="1"/>
          </p:cNvPicPr>
          <p:nvPr/>
        </p:nvPicPr>
        <p:blipFill>
          <a:blip r:embed="rId3"/>
          <a:srcRect/>
          <a:stretch/>
        </p:blipFill>
        <p:spPr>
          <a:xfrm>
            <a:off x="16367028" y="0"/>
            <a:ext cx="13122372" cy="15236830"/>
          </a:xfrm>
          <a:prstGeom prst="rect">
            <a:avLst/>
          </a:prstGeom>
        </p:spPr>
      </p:pic>
      <p:sp>
        <p:nvSpPr>
          <p:cNvPr id="3" name="Photo shade"/>
          <p:cNvSpPr/>
          <p:nvPr/>
        </p:nvSpPr>
        <p:spPr>
          <a:xfrm>
            <a:off x="16367028" y="0"/>
            <a:ext cx="13122372" cy="15236830"/>
          </a:xfrm>
          <a:prstGeom prst="rect">
            <a:avLst/>
          </a:prstGeom>
          <a:solidFill>
            <a:srgbClr val="111C21">
              <a:alpha val="55000"/>
            </a:srgbClr>
          </a:solidFill>
          <a:ln w="12700">
            <a:solidFill>
              <a:srgbClr val="111C21"/>
            </a:solidFill>
            <a:prstDash val="solid"/>
          </a:ln>
        </p:spPr>
        <p:txBody>
          <a:bodyPr/>
          <a:lstStyle/>
          <a:p>
            <a:endParaRPr lang="en-US"/>
          </a:p>
        </p:txBody>
      </p:sp>
      <p:sp>
        <p:nvSpPr>
          <p:cNvPr id="4" name="Brand mark"/>
          <p:cNvSpPr/>
          <p:nvPr/>
        </p:nvSpPr>
        <p:spPr>
          <a:xfrm>
            <a:off x="1327069" y="1327069"/>
            <a:ext cx="1238555" cy="1238555"/>
          </a:xfrm>
          <a:prstGeom prst="roundRect">
            <a:avLst>
              <a:gd name="adj" fmla="val 14286"/>
            </a:avLst>
          </a:prstGeom>
          <a:solidFill>
            <a:srgbClr val="F4A252"/>
          </a:solidFill>
          <a:ln w="12700">
            <a:solidFill>
              <a:srgbClr val="F4A252"/>
            </a:solidFill>
            <a:prstDash val="solid"/>
          </a:ln>
        </p:spPr>
        <p:txBody>
          <a:bodyPr/>
          <a:lstStyle/>
          <a:p>
            <a:endParaRPr lang="en-US"/>
          </a:p>
        </p:txBody>
      </p:sp>
      <p:sp>
        <p:nvSpPr>
          <p:cNvPr id="5" name="Brand letter"/>
          <p:cNvSpPr txBox="1"/>
          <p:nvPr/>
        </p:nvSpPr>
        <p:spPr>
          <a:xfrm>
            <a:off x="1327069" y="1327069"/>
            <a:ext cx="1238555" cy="1238555"/>
          </a:xfrm>
          <a:prstGeom prst="rect">
            <a:avLst/>
          </a:prstGeom>
          <a:noFill/>
          <a:ln/>
        </p:spPr>
        <p:txBody>
          <a:bodyPr wrap="square" lIns="0" tIns="0" rIns="0" bIns="0" rtlCol="0" anchor="ctr"/>
          <a:lstStyle/>
          <a:p>
            <a:pPr marL="0" indent="0" algn="ctr">
              <a:buNone/>
            </a:pPr>
            <a:r>
              <a:rPr lang="en-US" sz="5320" b="1" dirty="0">
                <a:solidFill>
                  <a:srgbClr val="111C21"/>
                </a:solidFill>
                <a:latin typeface="Arial" pitchFamily="34" charset="0"/>
                <a:ea typeface="Arial" pitchFamily="34" charset="-122"/>
                <a:cs typeface="Arial" pitchFamily="34" charset="-120"/>
              </a:rPr>
              <a:t>م</a:t>
            </a:r>
            <a:endParaRPr lang="en-US" sz="5320" dirty="0"/>
          </a:p>
        </p:txBody>
      </p:sp>
      <p:sp>
        <p:nvSpPr>
          <p:cNvPr id="6" name="Brand name"/>
          <p:cNvSpPr txBox="1"/>
          <p:nvPr/>
        </p:nvSpPr>
        <p:spPr>
          <a:xfrm>
            <a:off x="2919496" y="1504005"/>
            <a:ext cx="8847003" cy="884682"/>
          </a:xfrm>
          <a:prstGeom prst="rect">
            <a:avLst/>
          </a:prstGeom>
          <a:noFill/>
          <a:ln/>
        </p:spPr>
        <p:txBody>
          <a:bodyPr wrap="square" lIns="0" tIns="0" rIns="0" bIns="0" rtlCol="0" anchor="ctr"/>
          <a:lstStyle/>
          <a:p>
            <a:pPr marL="0" indent="0">
              <a:buNone/>
            </a:pPr>
            <a:r>
              <a:rPr lang="en-US" sz="3870" b="1" kern="0" spc="730" dirty="0">
                <a:solidFill>
                  <a:srgbClr val="FFFFFF"/>
                </a:solidFill>
                <a:latin typeface="Arial" pitchFamily="34" charset="0"/>
                <a:ea typeface="Arial" pitchFamily="34" charset="-122"/>
                <a:cs typeface="Arial" pitchFamily="34" charset="-120"/>
              </a:rPr>
              <a:t>MIZAN</a:t>
            </a:r>
            <a:r>
              <a:rPr lang="en-US" sz="3870" dirty="0">
                <a:solidFill>
                  <a:srgbClr val="CFC3B3"/>
                </a:solidFill>
                <a:latin typeface="Arial" pitchFamily="34" charset="0"/>
                <a:ea typeface="Arial" pitchFamily="34" charset="-122"/>
                <a:cs typeface="Arial" pitchFamily="34" charset="-120"/>
              </a:rPr>
              <a:t>   ميزان</a:t>
            </a:r>
            <a:endParaRPr lang="en-US" sz="3870" dirty="0"/>
          </a:p>
        </p:txBody>
      </p:sp>
      <p:sp>
        <p:nvSpPr>
          <p:cNvPr id="7" name="Headline"/>
          <p:cNvSpPr txBox="1"/>
          <p:nvPr/>
        </p:nvSpPr>
        <p:spPr>
          <a:xfrm>
            <a:off x="1327069" y="3870564"/>
            <a:ext cx="14597573" cy="3317626"/>
          </a:xfrm>
          <a:prstGeom prst="rect">
            <a:avLst/>
          </a:prstGeom>
          <a:noFill/>
          <a:ln/>
        </p:spPr>
        <p:txBody>
          <a:bodyPr wrap="square" lIns="0" tIns="0" rIns="0" bIns="0" rtlCol="0" anchor="t"/>
          <a:lstStyle/>
          <a:p>
            <a:pPr marL="0" indent="0">
              <a:buNone/>
            </a:pPr>
            <a:r>
              <a:rPr lang="en-US" sz="9680" dirty="0">
                <a:solidFill>
                  <a:srgbClr val="FFFFFF"/>
                </a:solidFill>
                <a:latin typeface="Georgia" pitchFamily="34" charset="0"/>
                <a:ea typeface="Georgia" pitchFamily="34" charset="-122"/>
                <a:cs typeface="Georgia" pitchFamily="34" charset="-120"/>
              </a:rPr>
              <a:t>Every hour of the week,</a:t>
            </a:r>
            <a:endParaRPr lang="en-US" sz="9680" dirty="0"/>
          </a:p>
          <a:p>
            <a:pPr marL="0" indent="0">
              <a:buNone/>
            </a:pPr>
            <a:r>
              <a:rPr lang="en-US" sz="9680" dirty="0">
                <a:solidFill>
                  <a:srgbClr val="FFFFFF"/>
                </a:solidFill>
                <a:latin typeface="Georgia" pitchFamily="34" charset="0"/>
                <a:ea typeface="Georgia" pitchFamily="34" charset="-122"/>
                <a:cs typeface="Georgia" pitchFamily="34" charset="-120"/>
              </a:rPr>
              <a:t>in balance</a:t>
            </a:r>
            <a:endParaRPr lang="en-US" sz="9680" dirty="0"/>
          </a:p>
        </p:txBody>
      </p:sp>
      <p:sp>
        <p:nvSpPr>
          <p:cNvPr id="8" name="Tagline"/>
          <p:cNvSpPr txBox="1"/>
          <p:nvPr/>
        </p:nvSpPr>
        <p:spPr>
          <a:xfrm>
            <a:off x="1327069" y="7409383"/>
            <a:ext cx="13712891" cy="2101200"/>
          </a:xfrm>
          <a:prstGeom prst="rect">
            <a:avLst/>
          </a:prstGeom>
          <a:noFill/>
          <a:ln/>
        </p:spPr>
        <p:txBody>
          <a:bodyPr wrap="square" lIns="0" tIns="0" rIns="0" bIns="0" rtlCol="0" anchor="t"/>
          <a:lstStyle/>
          <a:p>
            <a:pPr marL="0" indent="0">
              <a:buNone/>
            </a:pPr>
            <a:r>
              <a:rPr lang="en-US" sz="3870" dirty="0">
                <a:solidFill>
                  <a:srgbClr val="E3DBCF"/>
                </a:solidFill>
                <a:latin typeface="Arial" pitchFamily="34" charset="0"/>
                <a:ea typeface="Arial" pitchFamily="34" charset="-122"/>
                <a:cs typeface="Arial" pitchFamily="34" charset="-120"/>
              </a:rPr>
              <a:t>A local AI assistant that makes university timetables better for students and leaves every decision with people.</a:t>
            </a:r>
            <a:endParaRPr lang="en-US" sz="3870" dirty="0"/>
          </a:p>
        </p:txBody>
      </p:sp>
      <p:sp>
        <p:nvSpPr>
          <p:cNvPr id="9" name="Team label"/>
          <p:cNvSpPr txBox="1"/>
          <p:nvPr/>
        </p:nvSpPr>
        <p:spPr>
          <a:xfrm>
            <a:off x="1327069" y="10218329"/>
            <a:ext cx="6635252" cy="552938"/>
          </a:xfrm>
          <a:prstGeom prst="rect">
            <a:avLst/>
          </a:prstGeom>
          <a:noFill/>
          <a:ln/>
        </p:spPr>
        <p:txBody>
          <a:bodyPr wrap="square" lIns="0" tIns="0" rIns="0" bIns="0" rtlCol="0" anchor="t"/>
          <a:lstStyle/>
          <a:p>
            <a:pPr marL="0" indent="0">
              <a:buNone/>
            </a:pPr>
            <a:r>
              <a:rPr lang="en-US" sz="2420" b="1" kern="0" spc="480" dirty="0">
                <a:solidFill>
                  <a:srgbClr val="F4A252"/>
                </a:solidFill>
                <a:latin typeface="Arial" pitchFamily="34" charset="0"/>
                <a:ea typeface="Arial" pitchFamily="34" charset="-122"/>
                <a:cs typeface="Arial" pitchFamily="34" charset="-120"/>
              </a:rPr>
              <a:t>THE TEAM</a:t>
            </a:r>
            <a:endParaRPr lang="en-US" sz="2420" dirty="0"/>
          </a:p>
        </p:txBody>
      </p:sp>
      <p:sp>
        <p:nvSpPr>
          <p:cNvPr id="10" name="Team card 1"/>
          <p:cNvSpPr/>
          <p:nvPr/>
        </p:nvSpPr>
        <p:spPr>
          <a:xfrm>
            <a:off x="1327069" y="10948203"/>
            <a:ext cx="3317626" cy="1813621"/>
          </a:xfrm>
          <a:prstGeom prst="roundRect">
            <a:avLst>
              <a:gd name="adj" fmla="val 7316"/>
            </a:avLst>
          </a:prstGeom>
          <a:solidFill>
            <a:srgbClr val="1E2C33"/>
          </a:solidFill>
          <a:ln w="12700">
            <a:solidFill>
              <a:srgbClr val="1E2C33"/>
            </a:solidFill>
            <a:prstDash val="solid"/>
          </a:ln>
        </p:spPr>
        <p:txBody>
          <a:bodyPr/>
          <a:lstStyle/>
          <a:p>
            <a:endParaRPr lang="en-US"/>
          </a:p>
        </p:txBody>
      </p:sp>
      <p:sp>
        <p:nvSpPr>
          <p:cNvPr id="11" name="Team member 1"/>
          <p:cNvSpPr txBox="1"/>
          <p:nvPr/>
        </p:nvSpPr>
        <p:spPr>
          <a:xfrm>
            <a:off x="1592428" y="11191524"/>
            <a:ext cx="2875331" cy="1371326"/>
          </a:xfrm>
          <a:prstGeom prst="rect">
            <a:avLst/>
          </a:prstGeom>
          <a:noFill/>
          <a:ln/>
        </p:spPr>
        <p:txBody>
          <a:bodyPr wrap="square" lIns="0" tIns="0" rIns="0" bIns="0" rtlCol="0" anchor="t"/>
          <a:lstStyle/>
          <a:p>
            <a:pPr marL="0" indent="0">
              <a:buNone/>
            </a:pPr>
            <a:r>
              <a:rPr lang="en-US" sz="2900" b="1" dirty="0">
                <a:solidFill>
                  <a:srgbClr val="FFFFFF"/>
                </a:solidFill>
                <a:latin typeface="Arial" pitchFamily="34" charset="0"/>
                <a:ea typeface="Arial" pitchFamily="34" charset="-122"/>
                <a:cs typeface="Arial" pitchFamily="34" charset="-120"/>
              </a:rPr>
              <a:t>Sultan Albinali</a:t>
            </a:r>
            <a:endParaRPr lang="en-US" sz="2900" dirty="0"/>
          </a:p>
          <a:p>
            <a:pPr marL="0" indent="0">
              <a:buNone/>
            </a:pPr>
            <a:r>
              <a:rPr lang="en-US" sz="2420" dirty="0">
                <a:solidFill>
                  <a:srgbClr val="CFC3B3"/>
                </a:solidFill>
                <a:latin typeface="Arial" pitchFamily="34" charset="0"/>
                <a:ea typeface="Arial" pitchFamily="34" charset="-122"/>
                <a:cs typeface="Arial" pitchFamily="34" charset="-120"/>
              </a:rPr>
              <a:t>Problem &amp; research</a:t>
            </a:r>
            <a:endParaRPr lang="en-US" sz="2900" dirty="0"/>
          </a:p>
        </p:txBody>
      </p:sp>
      <p:sp>
        <p:nvSpPr>
          <p:cNvPr id="14" name="Team card 3"/>
          <p:cNvSpPr/>
          <p:nvPr/>
        </p:nvSpPr>
        <p:spPr>
          <a:xfrm>
            <a:off x="4910054" y="10948203"/>
            <a:ext cx="3317626" cy="1813621"/>
          </a:xfrm>
          <a:prstGeom prst="roundRect">
            <a:avLst>
              <a:gd name="adj" fmla="val 7316"/>
            </a:avLst>
          </a:prstGeom>
          <a:solidFill>
            <a:srgbClr val="1E2C33"/>
          </a:solidFill>
          <a:ln w="12700">
            <a:solidFill>
              <a:srgbClr val="1E2C33"/>
            </a:solidFill>
            <a:prstDash val="solid"/>
          </a:ln>
        </p:spPr>
        <p:txBody>
          <a:bodyPr/>
          <a:lstStyle/>
          <a:p>
            <a:endParaRPr lang="en-US"/>
          </a:p>
        </p:txBody>
      </p:sp>
      <p:sp>
        <p:nvSpPr>
          <p:cNvPr id="15" name="Team member 3"/>
          <p:cNvSpPr txBox="1"/>
          <p:nvPr/>
        </p:nvSpPr>
        <p:spPr>
          <a:xfrm>
            <a:off x="5175504" y="11191524"/>
            <a:ext cx="2875331" cy="1371326"/>
          </a:xfrm>
          <a:prstGeom prst="rect">
            <a:avLst/>
          </a:prstGeom>
          <a:noFill/>
          <a:ln/>
        </p:spPr>
        <p:txBody>
          <a:bodyPr wrap="square" lIns="0" tIns="0" rIns="0" bIns="0" rtlCol="0" anchor="t"/>
          <a:lstStyle/>
          <a:p>
            <a:pPr marL="0" indent="0">
              <a:buNone/>
            </a:pPr>
            <a:r>
              <a:rPr lang="en-US" sz="2900" b="1" dirty="0">
                <a:solidFill>
                  <a:srgbClr val="FFFFFF"/>
                </a:solidFill>
                <a:latin typeface="Arial" pitchFamily="34" charset="0"/>
                <a:ea typeface="Arial" pitchFamily="34" charset="-122"/>
                <a:cs typeface="Arial" pitchFamily="34" charset="-120"/>
              </a:rPr>
              <a:t>Ali Albinali</a:t>
            </a:r>
            <a:endParaRPr lang="en-US" sz="2900" dirty="0"/>
          </a:p>
          <a:p>
            <a:pPr marL="0" indent="0">
              <a:buNone/>
            </a:pPr>
            <a:r>
              <a:rPr lang="en-US" sz="2420" dirty="0">
                <a:solidFill>
                  <a:srgbClr val="CFC3B3"/>
                </a:solidFill>
                <a:latin typeface="Arial" pitchFamily="34" charset="0"/>
                <a:ea typeface="Arial" pitchFamily="34" charset="-122"/>
                <a:cs typeface="Arial" pitchFamily="34" charset="-120"/>
              </a:rPr>
              <a:t>AI &amp; optimization</a:t>
            </a:r>
            <a:endParaRPr lang="en-US" sz="2900" dirty="0"/>
          </a:p>
        </p:txBody>
      </p:sp>
      <p:sp>
        <p:nvSpPr>
          <p:cNvPr id="16" name="Team card 4"/>
          <p:cNvSpPr/>
          <p:nvPr/>
        </p:nvSpPr>
        <p:spPr>
          <a:xfrm>
            <a:off x="8493130" y="10948203"/>
            <a:ext cx="3317626" cy="1813621"/>
          </a:xfrm>
          <a:prstGeom prst="roundRect">
            <a:avLst>
              <a:gd name="adj" fmla="val 7316"/>
            </a:avLst>
          </a:prstGeom>
          <a:solidFill>
            <a:srgbClr val="1E2C33"/>
          </a:solidFill>
          <a:ln w="12700">
            <a:solidFill>
              <a:srgbClr val="1E2C33"/>
            </a:solidFill>
            <a:prstDash val="solid"/>
          </a:ln>
        </p:spPr>
        <p:txBody>
          <a:bodyPr/>
          <a:lstStyle/>
          <a:p>
            <a:endParaRPr lang="en-US"/>
          </a:p>
        </p:txBody>
      </p:sp>
      <p:sp>
        <p:nvSpPr>
          <p:cNvPr id="17" name="Team member 4"/>
          <p:cNvSpPr txBox="1"/>
          <p:nvPr/>
        </p:nvSpPr>
        <p:spPr>
          <a:xfrm>
            <a:off x="8625855" y="11191524"/>
            <a:ext cx="3052175" cy="1371326"/>
          </a:xfrm>
          <a:prstGeom prst="rect">
            <a:avLst/>
          </a:prstGeom>
          <a:noFill/>
          <a:ln/>
        </p:spPr>
        <p:txBody>
          <a:bodyPr wrap="square" lIns="0" tIns="0" rIns="0" bIns="0" rtlCol="0" anchor="t"/>
          <a:lstStyle/>
          <a:p>
            <a:pPr marL="0" indent="0">
              <a:buNone/>
            </a:pPr>
            <a:r>
              <a:rPr lang="en-US" sz="2900" b="1" dirty="0">
                <a:solidFill>
                  <a:srgbClr val="FFFFFF"/>
                </a:solidFill>
                <a:latin typeface="Arial" pitchFamily="34" charset="0"/>
                <a:ea typeface="Arial" pitchFamily="34" charset="-122"/>
                <a:cs typeface="Arial" pitchFamily="34" charset="-120"/>
              </a:rPr>
              <a:t>Mishary </a:t>
            </a:r>
            <a:r>
              <a:rPr lang="en-US" sz="2900" b="1" dirty="0" err="1">
                <a:solidFill>
                  <a:srgbClr val="FFFFFF"/>
                </a:solidFill>
                <a:latin typeface="Arial" pitchFamily="34" charset="0"/>
                <a:ea typeface="Arial" pitchFamily="34" charset="-122"/>
                <a:cs typeface="Arial" pitchFamily="34" charset="-120"/>
              </a:rPr>
              <a:t>AlAwadh</a:t>
            </a:r>
            <a:endParaRPr lang="en-US" sz="2900" dirty="0"/>
          </a:p>
          <a:p>
            <a:pPr marL="0" indent="0">
              <a:buNone/>
            </a:pPr>
            <a:r>
              <a:rPr lang="en-US" sz="2420" dirty="0">
                <a:solidFill>
                  <a:srgbClr val="CFC3B3"/>
                </a:solidFill>
                <a:latin typeface="Arial" pitchFamily="34" charset="0"/>
                <a:ea typeface="Arial" pitchFamily="34" charset="-122"/>
                <a:cs typeface="Arial" pitchFamily="34" charset="-120"/>
              </a:rPr>
              <a:t>Value &amp; next steps</a:t>
            </a:r>
            <a:endParaRPr lang="en-US" sz="2900" dirty="0"/>
          </a:p>
        </p:txBody>
      </p:sp>
      <p:sp>
        <p:nvSpPr>
          <p:cNvPr id="18" name="Event"/>
          <p:cNvSpPr txBox="1"/>
          <p:nvPr/>
        </p:nvSpPr>
        <p:spPr>
          <a:xfrm>
            <a:off x="1327069" y="13934084"/>
            <a:ext cx="14376471" cy="663489"/>
          </a:xfrm>
          <a:prstGeom prst="rect">
            <a:avLst/>
          </a:prstGeom>
          <a:noFill/>
          <a:ln/>
        </p:spPr>
        <p:txBody>
          <a:bodyPr wrap="square" lIns="0" tIns="0" rIns="0" bIns="0" rtlCol="0" anchor="t"/>
          <a:lstStyle/>
          <a:p>
            <a:pPr marL="0" indent="0">
              <a:buNone/>
            </a:pPr>
            <a:r>
              <a:rPr lang="en-US" sz="2420" dirty="0">
                <a:solidFill>
                  <a:srgbClr val="A9A193"/>
                </a:solidFill>
                <a:latin typeface="Arial" pitchFamily="34" charset="0"/>
                <a:ea typeface="Arial" pitchFamily="34" charset="-122"/>
                <a:cs typeface="Arial" pitchFamily="34" charset="-120"/>
              </a:rPr>
              <a:t>Farq Hackathon 2026</a:t>
            </a:r>
            <a:endParaRPr lang="en-US" sz="24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327069" y="928939"/>
            <a:ext cx="26762293" cy="1769364"/>
          </a:xfrm>
          <a:prstGeom prst="rect">
            <a:avLst/>
          </a:prstGeom>
          <a:noFill/>
          <a:ln/>
        </p:spPr>
        <p:txBody>
          <a:bodyPr wrap="square" lIns="0" tIns="0" rIns="0" bIns="0" rtlCol="0" anchor="t"/>
          <a:lstStyle/>
          <a:p>
            <a:pPr marL="0" indent="0" algn="l">
              <a:buNone/>
            </a:pPr>
            <a:r>
              <a:rPr lang="en-US" sz="7260" dirty="0">
                <a:solidFill>
                  <a:schemeClr val="tx1"/>
                </a:solidFill>
                <a:latin typeface="Georgia" pitchFamily="34" charset="0"/>
                <a:ea typeface="Georgia" pitchFamily="34" charset="-122"/>
                <a:cs typeface="Georgia" pitchFamily="34" charset="-120"/>
              </a:rPr>
              <a:t>Gaps between classes cost students their attendance</a:t>
            </a:r>
            <a:endParaRPr lang="en-US" sz="7260" dirty="0"/>
          </a:p>
        </p:txBody>
      </p:sp>
      <p:sp>
        <p:nvSpPr>
          <p:cNvPr id="3" name="Stat card 1"/>
          <p:cNvSpPr/>
          <p:nvPr/>
        </p:nvSpPr>
        <p:spPr>
          <a:xfrm>
            <a:off x="1327069" y="3428268"/>
            <a:ext cx="6237122" cy="8736452"/>
          </a:xfrm>
          <a:prstGeom prst="roundRect">
            <a:avLst>
              <a:gd name="adj" fmla="val 2127"/>
            </a:avLst>
          </a:prstGeom>
          <a:solidFill>
            <a:srgbClr val="FFFFFF"/>
          </a:solidFill>
          <a:ln w="12700">
            <a:solidFill>
              <a:srgbClr val="E3DBCF"/>
            </a:solidFill>
            <a:prstDash val="solid"/>
          </a:ln>
        </p:spPr>
        <p:txBody>
          <a:bodyPr/>
          <a:lstStyle/>
          <a:p>
            <a:endParaRPr lang="en-US"/>
          </a:p>
        </p:txBody>
      </p:sp>
      <p:sp>
        <p:nvSpPr>
          <p:cNvPr id="4" name="Stat 1"/>
          <p:cNvSpPr txBox="1"/>
          <p:nvPr/>
        </p:nvSpPr>
        <p:spPr>
          <a:xfrm>
            <a:off x="1880006" y="3981206"/>
            <a:ext cx="5308183" cy="2101200"/>
          </a:xfrm>
          <a:prstGeom prst="rect">
            <a:avLst/>
          </a:prstGeom>
          <a:noFill/>
          <a:ln/>
        </p:spPr>
        <p:txBody>
          <a:bodyPr wrap="square" lIns="0" tIns="0" rIns="0" bIns="0" rtlCol="0" anchor="t"/>
          <a:lstStyle/>
          <a:p>
            <a:pPr marL="0" indent="0">
              <a:buNone/>
            </a:pPr>
            <a:r>
              <a:rPr lang="en-US" sz="10640" dirty="0">
                <a:solidFill>
                  <a:srgbClr val="B95042"/>
                </a:solidFill>
                <a:latin typeface="Arial" pitchFamily="34" charset="0"/>
                <a:ea typeface="Arial" pitchFamily="34" charset="-122"/>
                <a:cs typeface="Arial" pitchFamily="34" charset="-120"/>
              </a:rPr>
              <a:t>87%</a:t>
            </a:r>
            <a:endParaRPr lang="en-US" sz="10640" dirty="0"/>
          </a:p>
        </p:txBody>
      </p:sp>
      <p:sp>
        <p:nvSpPr>
          <p:cNvPr id="5" name="Stat label 1"/>
          <p:cNvSpPr txBox="1"/>
          <p:nvPr/>
        </p:nvSpPr>
        <p:spPr>
          <a:xfrm>
            <a:off x="1880006" y="6303508"/>
            <a:ext cx="5197632" cy="3538819"/>
          </a:xfrm>
          <a:prstGeom prst="rect">
            <a:avLst/>
          </a:prstGeom>
          <a:noFill/>
          <a:ln/>
        </p:spPr>
        <p:txBody>
          <a:bodyPr wrap="square" lIns="0" tIns="0" rIns="0" bIns="0" rtlCol="0" anchor="t"/>
          <a:lstStyle/>
          <a:p>
            <a:pPr marL="0" indent="0">
              <a:buNone/>
            </a:pPr>
            <a:r>
              <a:rPr lang="en-US" sz="3390" dirty="0">
                <a:solidFill>
                  <a:schemeClr val="tx1"/>
                </a:solidFill>
                <a:latin typeface="Arial" pitchFamily="34" charset="0"/>
                <a:ea typeface="Arial" pitchFamily="34" charset="-122"/>
                <a:cs typeface="Arial" pitchFamily="34" charset="-120"/>
              </a:rPr>
              <a:t>accuracy predicting student absences from three timetable factors. One of them is free time between classes.</a:t>
            </a:r>
            <a:endParaRPr lang="en-US" sz="3390" dirty="0"/>
          </a:p>
        </p:txBody>
      </p:sp>
      <p:sp>
        <p:nvSpPr>
          <p:cNvPr id="6" name="Stat source 1"/>
          <p:cNvSpPr txBox="1"/>
          <p:nvPr/>
        </p:nvSpPr>
        <p:spPr>
          <a:xfrm>
            <a:off x="1880006" y="10505816"/>
            <a:ext cx="5197632" cy="1216426"/>
          </a:xfrm>
          <a:prstGeom prst="rect">
            <a:avLst/>
          </a:prstGeom>
          <a:noFill/>
          <a:ln/>
        </p:spPr>
        <p:txBody>
          <a:bodyPr wrap="square" lIns="0" tIns="0" rIns="0" bIns="0" rtlCol="0" anchor="t"/>
          <a:lstStyle/>
          <a:p>
            <a:pPr marL="0" indent="0">
              <a:buNone/>
            </a:pPr>
            <a:r>
              <a:rPr lang="en-US" sz="2420" dirty="0">
                <a:solidFill>
                  <a:srgbClr val="68645B"/>
                </a:solidFill>
                <a:latin typeface="Arial" pitchFamily="34" charset="0"/>
                <a:ea typeface="Arial" pitchFamily="34" charset="-122"/>
                <a:cs typeface="Arial" pitchFamily="34" charset="-120"/>
              </a:rPr>
              <a:t>Prince Sultan University, Riyadh · 4,325 students · PLoS ONE 2021</a:t>
            </a:r>
            <a:endParaRPr lang="en-US" sz="2420" dirty="0"/>
          </a:p>
        </p:txBody>
      </p:sp>
      <p:sp>
        <p:nvSpPr>
          <p:cNvPr id="7" name="Stat card 2"/>
          <p:cNvSpPr/>
          <p:nvPr/>
        </p:nvSpPr>
        <p:spPr>
          <a:xfrm>
            <a:off x="8095000" y="3428268"/>
            <a:ext cx="6237122" cy="8736452"/>
          </a:xfrm>
          <a:prstGeom prst="roundRect">
            <a:avLst>
              <a:gd name="adj" fmla="val 2127"/>
            </a:avLst>
          </a:prstGeom>
          <a:solidFill>
            <a:srgbClr val="FFFFFF"/>
          </a:solidFill>
          <a:ln w="12700">
            <a:solidFill>
              <a:srgbClr val="E3DBCF"/>
            </a:solidFill>
            <a:prstDash val="solid"/>
          </a:ln>
        </p:spPr>
        <p:txBody>
          <a:bodyPr/>
          <a:lstStyle/>
          <a:p>
            <a:endParaRPr lang="en-US"/>
          </a:p>
        </p:txBody>
      </p:sp>
      <p:sp>
        <p:nvSpPr>
          <p:cNvPr id="8" name="Stat 2"/>
          <p:cNvSpPr txBox="1"/>
          <p:nvPr/>
        </p:nvSpPr>
        <p:spPr>
          <a:xfrm>
            <a:off x="8647938" y="3981206"/>
            <a:ext cx="5308183" cy="2101200"/>
          </a:xfrm>
          <a:prstGeom prst="rect">
            <a:avLst/>
          </a:prstGeom>
          <a:noFill/>
          <a:ln/>
        </p:spPr>
        <p:txBody>
          <a:bodyPr wrap="square" lIns="0" tIns="0" rIns="0" bIns="0" rtlCol="0" anchor="t"/>
          <a:lstStyle/>
          <a:p>
            <a:pPr marL="0" indent="0">
              <a:buNone/>
            </a:pPr>
            <a:r>
              <a:rPr lang="en-US" sz="10640" dirty="0">
                <a:solidFill>
                  <a:srgbClr val="B95042"/>
                </a:solidFill>
                <a:latin typeface="Arial" pitchFamily="34" charset="0"/>
                <a:ea typeface="Arial" pitchFamily="34" charset="-122"/>
                <a:cs typeface="Arial" pitchFamily="34" charset="-120"/>
              </a:rPr>
              <a:t>−0.71</a:t>
            </a:r>
            <a:endParaRPr lang="en-US" sz="10640" dirty="0"/>
          </a:p>
        </p:txBody>
      </p:sp>
      <p:sp>
        <p:nvSpPr>
          <p:cNvPr id="9" name="Stat label 2"/>
          <p:cNvSpPr txBox="1"/>
          <p:nvPr/>
        </p:nvSpPr>
        <p:spPr>
          <a:xfrm>
            <a:off x="8647938" y="6303508"/>
            <a:ext cx="5197632" cy="3538819"/>
          </a:xfrm>
          <a:prstGeom prst="rect">
            <a:avLst/>
          </a:prstGeom>
          <a:noFill/>
          <a:ln/>
        </p:spPr>
        <p:txBody>
          <a:bodyPr wrap="square" lIns="0" tIns="0" rIns="0" bIns="0" rtlCol="0" anchor="t"/>
          <a:lstStyle/>
          <a:p>
            <a:pPr marL="0" indent="0">
              <a:buNone/>
            </a:pPr>
            <a:r>
              <a:rPr lang="en-US" sz="3390" dirty="0">
                <a:solidFill>
                  <a:schemeClr val="tx1"/>
                </a:solidFill>
                <a:latin typeface="Arial" pitchFamily="34" charset="0"/>
                <a:ea typeface="Arial" pitchFamily="34" charset="-122"/>
                <a:cs typeface="Arial" pitchFamily="34" charset="-120"/>
              </a:rPr>
              <a:t>correlation between absences and GPA in the same Saudi study. More absences, lower grades.</a:t>
            </a:r>
            <a:endParaRPr lang="en-US" sz="3390" dirty="0"/>
          </a:p>
        </p:txBody>
      </p:sp>
      <p:sp>
        <p:nvSpPr>
          <p:cNvPr id="10" name="Stat source 2"/>
          <p:cNvSpPr txBox="1"/>
          <p:nvPr/>
        </p:nvSpPr>
        <p:spPr>
          <a:xfrm>
            <a:off x="8647938" y="10505816"/>
            <a:ext cx="5197632" cy="1216426"/>
          </a:xfrm>
          <a:prstGeom prst="rect">
            <a:avLst/>
          </a:prstGeom>
          <a:noFill/>
          <a:ln/>
        </p:spPr>
        <p:txBody>
          <a:bodyPr wrap="square" lIns="0" tIns="0" rIns="0" bIns="0" rtlCol="0" anchor="t"/>
          <a:lstStyle/>
          <a:p>
            <a:pPr marL="0" indent="0">
              <a:buNone/>
            </a:pPr>
            <a:r>
              <a:rPr lang="en-US" sz="2420" dirty="0">
                <a:solidFill>
                  <a:srgbClr val="68645B"/>
                </a:solidFill>
                <a:latin typeface="Arial" pitchFamily="34" charset="0"/>
                <a:ea typeface="Arial" pitchFamily="34" charset="-122"/>
                <a:cs typeface="Arial" pitchFamily="34" charset="-120"/>
              </a:rPr>
              <a:t>Larabi-Marie-Sainte et al., PLoS ONE 2021</a:t>
            </a:r>
            <a:endParaRPr lang="en-US" sz="2420" dirty="0"/>
          </a:p>
        </p:txBody>
      </p:sp>
      <p:sp>
        <p:nvSpPr>
          <p:cNvPr id="11" name="Stat card 3"/>
          <p:cNvSpPr/>
          <p:nvPr/>
        </p:nvSpPr>
        <p:spPr>
          <a:xfrm>
            <a:off x="14863023" y="3428268"/>
            <a:ext cx="6237122" cy="8736452"/>
          </a:xfrm>
          <a:prstGeom prst="roundRect">
            <a:avLst>
              <a:gd name="adj" fmla="val 2127"/>
            </a:avLst>
          </a:prstGeom>
          <a:solidFill>
            <a:srgbClr val="FFFFFF"/>
          </a:solidFill>
          <a:ln w="12700">
            <a:solidFill>
              <a:srgbClr val="E3DBCF"/>
            </a:solidFill>
            <a:prstDash val="solid"/>
          </a:ln>
        </p:spPr>
        <p:txBody>
          <a:bodyPr/>
          <a:lstStyle/>
          <a:p>
            <a:endParaRPr lang="en-US"/>
          </a:p>
        </p:txBody>
      </p:sp>
      <p:sp>
        <p:nvSpPr>
          <p:cNvPr id="12" name="Stat 3"/>
          <p:cNvSpPr txBox="1"/>
          <p:nvPr/>
        </p:nvSpPr>
        <p:spPr>
          <a:xfrm>
            <a:off x="15415961" y="3981206"/>
            <a:ext cx="5308183" cy="2101200"/>
          </a:xfrm>
          <a:prstGeom prst="rect">
            <a:avLst/>
          </a:prstGeom>
          <a:noFill/>
          <a:ln/>
        </p:spPr>
        <p:txBody>
          <a:bodyPr wrap="square" lIns="0" tIns="0" rIns="0" bIns="0" rtlCol="0" anchor="t"/>
          <a:lstStyle/>
          <a:p>
            <a:pPr marL="0" indent="0">
              <a:buNone/>
            </a:pPr>
            <a:r>
              <a:rPr lang="en-US" sz="10640" dirty="0">
                <a:solidFill>
                  <a:srgbClr val="529573"/>
                </a:solidFill>
                <a:latin typeface="Arial" pitchFamily="34" charset="0"/>
                <a:ea typeface="Arial" pitchFamily="34" charset="-122"/>
                <a:cs typeface="Arial" pitchFamily="34" charset="-120"/>
              </a:rPr>
              <a:t>+1.5 pts</a:t>
            </a:r>
            <a:endParaRPr lang="en-US" sz="10640" dirty="0"/>
          </a:p>
        </p:txBody>
      </p:sp>
      <p:sp>
        <p:nvSpPr>
          <p:cNvPr id="13" name="Stat label 3"/>
          <p:cNvSpPr txBox="1"/>
          <p:nvPr/>
        </p:nvSpPr>
        <p:spPr>
          <a:xfrm>
            <a:off x="15415961" y="6303508"/>
            <a:ext cx="5197632" cy="3538819"/>
          </a:xfrm>
          <a:prstGeom prst="rect">
            <a:avLst/>
          </a:prstGeom>
          <a:noFill/>
          <a:ln/>
        </p:spPr>
        <p:txBody>
          <a:bodyPr wrap="square" lIns="0" tIns="0" rIns="0" bIns="0" rtlCol="0" anchor="t"/>
          <a:lstStyle/>
          <a:p>
            <a:pPr marL="0" indent="0">
              <a:buNone/>
            </a:pPr>
            <a:r>
              <a:rPr lang="en-US" sz="3390" dirty="0">
                <a:solidFill>
                  <a:schemeClr val="tx1"/>
                </a:solidFill>
                <a:latin typeface="Arial" pitchFamily="34" charset="0"/>
                <a:ea typeface="Arial" pitchFamily="34" charset="-122"/>
                <a:cs typeface="Arial" pitchFamily="34" charset="-120"/>
              </a:rPr>
              <a:t>attendance when classes run back to back. A day with a single class lowers it (−0.9 pts).</a:t>
            </a:r>
            <a:endParaRPr lang="en-US" sz="3390" dirty="0"/>
          </a:p>
        </p:txBody>
      </p:sp>
      <p:sp>
        <p:nvSpPr>
          <p:cNvPr id="14" name="Stat source 3"/>
          <p:cNvSpPr txBox="1"/>
          <p:nvPr/>
        </p:nvSpPr>
        <p:spPr>
          <a:xfrm>
            <a:off x="15415961" y="10505816"/>
            <a:ext cx="5197632" cy="1216426"/>
          </a:xfrm>
          <a:prstGeom prst="rect">
            <a:avLst/>
          </a:prstGeom>
          <a:noFill/>
          <a:ln/>
        </p:spPr>
        <p:txBody>
          <a:bodyPr wrap="square" lIns="0" tIns="0" rIns="0" bIns="0" rtlCol="0" anchor="t"/>
          <a:lstStyle/>
          <a:p>
            <a:pPr marL="0" indent="0">
              <a:buNone/>
            </a:pPr>
            <a:r>
              <a:rPr lang="en-US" sz="2420" dirty="0">
                <a:solidFill>
                  <a:srgbClr val="68645B"/>
                </a:solidFill>
                <a:latin typeface="Arial" pitchFamily="34" charset="0"/>
                <a:ea typeface="Arial" pitchFamily="34" charset="-122"/>
                <a:cs typeface="Arial" pitchFamily="34" charset="-120"/>
              </a:rPr>
              <a:t>UK university · 307,488 class events · IZA DP 17979, 2025</a:t>
            </a:r>
            <a:endParaRPr lang="en-US" sz="2420" dirty="0"/>
          </a:p>
        </p:txBody>
      </p:sp>
      <p:sp>
        <p:nvSpPr>
          <p:cNvPr id="15" name="Stat card 4"/>
          <p:cNvSpPr/>
          <p:nvPr/>
        </p:nvSpPr>
        <p:spPr>
          <a:xfrm>
            <a:off x="21631046" y="3428268"/>
            <a:ext cx="6237122" cy="8736452"/>
          </a:xfrm>
          <a:prstGeom prst="roundRect">
            <a:avLst>
              <a:gd name="adj" fmla="val 2127"/>
            </a:avLst>
          </a:prstGeom>
          <a:solidFill>
            <a:srgbClr val="FFFFFF"/>
          </a:solidFill>
          <a:ln w="12700">
            <a:solidFill>
              <a:srgbClr val="E3DBCF"/>
            </a:solidFill>
            <a:prstDash val="solid"/>
          </a:ln>
        </p:spPr>
        <p:txBody>
          <a:bodyPr/>
          <a:lstStyle/>
          <a:p>
            <a:endParaRPr lang="en-US"/>
          </a:p>
        </p:txBody>
      </p:sp>
      <p:sp>
        <p:nvSpPr>
          <p:cNvPr id="16" name="Stat 4"/>
          <p:cNvSpPr txBox="1"/>
          <p:nvPr/>
        </p:nvSpPr>
        <p:spPr>
          <a:xfrm>
            <a:off x="22183984" y="3981206"/>
            <a:ext cx="5308183" cy="2101200"/>
          </a:xfrm>
          <a:prstGeom prst="rect">
            <a:avLst/>
          </a:prstGeom>
          <a:noFill/>
          <a:ln/>
        </p:spPr>
        <p:txBody>
          <a:bodyPr wrap="square" lIns="0" tIns="0" rIns="0" bIns="0" rtlCol="0" anchor="t"/>
          <a:lstStyle/>
          <a:p>
            <a:pPr marL="0" indent="0">
              <a:buNone/>
            </a:pPr>
            <a:r>
              <a:rPr lang="en-US" sz="10640" dirty="0">
                <a:solidFill>
                  <a:srgbClr val="4B6C9F"/>
                </a:solidFill>
                <a:latin typeface="Arial" pitchFamily="34" charset="0"/>
                <a:ea typeface="Arial" pitchFamily="34" charset="-122"/>
                <a:cs typeface="Arial" pitchFamily="34" charset="-120"/>
              </a:rPr>
              <a:t>~20%</a:t>
            </a:r>
            <a:endParaRPr lang="en-US" sz="10640" dirty="0"/>
          </a:p>
        </p:txBody>
      </p:sp>
      <p:sp>
        <p:nvSpPr>
          <p:cNvPr id="17" name="Stat label 4"/>
          <p:cNvSpPr txBox="1"/>
          <p:nvPr/>
        </p:nvSpPr>
        <p:spPr>
          <a:xfrm>
            <a:off x="22183984" y="6303508"/>
            <a:ext cx="5197632" cy="3538819"/>
          </a:xfrm>
          <a:prstGeom prst="rect">
            <a:avLst/>
          </a:prstGeom>
          <a:noFill/>
          <a:ln/>
        </p:spPr>
        <p:txBody>
          <a:bodyPr wrap="square" lIns="0" tIns="0" rIns="0" bIns="0" rtlCol="0" anchor="t"/>
          <a:lstStyle/>
          <a:p>
            <a:pPr marL="0" indent="0">
              <a:buNone/>
            </a:pPr>
            <a:r>
              <a:rPr lang="en-US" sz="3390" dirty="0">
                <a:solidFill>
                  <a:schemeClr val="tx1"/>
                </a:solidFill>
                <a:latin typeface="Arial" pitchFamily="34" charset="0"/>
                <a:ea typeface="Arial" pitchFamily="34" charset="-122"/>
                <a:cs typeface="Arial" pitchFamily="34" charset="-120"/>
              </a:rPr>
              <a:t>average use of university teaching rooms. Some buildings sit near 10%.</a:t>
            </a:r>
            <a:endParaRPr lang="en-US" sz="3390" dirty="0"/>
          </a:p>
        </p:txBody>
      </p:sp>
      <p:sp>
        <p:nvSpPr>
          <p:cNvPr id="18" name="Stat source 4"/>
          <p:cNvSpPr txBox="1"/>
          <p:nvPr/>
        </p:nvSpPr>
        <p:spPr>
          <a:xfrm>
            <a:off x="22183984" y="10505816"/>
            <a:ext cx="5197632" cy="1216426"/>
          </a:xfrm>
          <a:prstGeom prst="rect">
            <a:avLst/>
          </a:prstGeom>
          <a:noFill/>
          <a:ln/>
        </p:spPr>
        <p:txBody>
          <a:bodyPr wrap="square" lIns="0" tIns="0" rIns="0" bIns="0" rtlCol="0" anchor="t"/>
          <a:lstStyle/>
          <a:p>
            <a:pPr marL="0" indent="0">
              <a:buNone/>
            </a:pPr>
            <a:r>
              <a:rPr lang="en-US" sz="2420" dirty="0">
                <a:solidFill>
                  <a:srgbClr val="68645B"/>
                </a:solidFill>
                <a:latin typeface="Arial" pitchFamily="34" charset="0"/>
                <a:ea typeface="Arial" pitchFamily="34" charset="-122"/>
                <a:cs typeface="Arial" pitchFamily="34" charset="-120"/>
              </a:rPr>
              <a:t>30+ UK universities · Smart Space Forum, July 2026</a:t>
            </a:r>
            <a:endParaRPr lang="en-US" sz="2420" dirty="0"/>
          </a:p>
        </p:txBody>
      </p:sp>
      <p:sp>
        <p:nvSpPr>
          <p:cNvPr id="19" name="Takeaway"/>
          <p:cNvSpPr txBox="1"/>
          <p:nvPr/>
        </p:nvSpPr>
        <p:spPr>
          <a:xfrm>
            <a:off x="1327069" y="12717658"/>
            <a:ext cx="26762293" cy="1105875"/>
          </a:xfrm>
          <a:prstGeom prst="rect">
            <a:avLst/>
          </a:prstGeom>
          <a:noFill/>
          <a:ln/>
        </p:spPr>
        <p:txBody>
          <a:bodyPr wrap="square" lIns="0" tIns="0" rIns="0" bIns="0" rtlCol="0" anchor="t"/>
          <a:lstStyle/>
          <a:p>
            <a:pPr marL="0" indent="0">
              <a:buNone/>
            </a:pPr>
            <a:r>
              <a:rPr lang="en-US" sz="4110" i="1" dirty="0">
                <a:solidFill>
                  <a:schemeClr val="tx1"/>
                </a:solidFill>
                <a:latin typeface="Georgia" pitchFamily="34" charset="0"/>
                <a:ea typeface="Georgia" pitchFamily="34" charset="-122"/>
                <a:cs typeface="Georgia" pitchFamily="34" charset="-120"/>
              </a:rPr>
              <a:t>The timetable is a lever every university already controls. Today it is built to be valid, not to be good for students.</a:t>
            </a:r>
            <a:endParaRPr lang="en-US" sz="4110" dirty="0"/>
          </a:p>
        </p:txBody>
      </p:sp>
      <p:sp>
        <p:nvSpPr>
          <p:cNvPr id="25"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327069" y="928939"/>
            <a:ext cx="26762293" cy="1769364"/>
          </a:xfrm>
          <a:prstGeom prst="rect">
            <a:avLst/>
          </a:prstGeom>
          <a:noFill/>
          <a:ln/>
        </p:spPr>
        <p:txBody>
          <a:bodyPr wrap="square" lIns="0" tIns="0" rIns="0" bIns="0" rtlCol="0" anchor="t"/>
          <a:lstStyle/>
          <a:p>
            <a:pPr marL="0" indent="0" algn="l">
              <a:buNone/>
            </a:pPr>
            <a:r>
              <a:rPr lang="en-US" sz="7260" dirty="0">
                <a:solidFill>
                  <a:schemeClr val="tx1"/>
                </a:solidFill>
                <a:latin typeface="Georgia" pitchFamily="34" charset="0"/>
                <a:ea typeface="Georgia" pitchFamily="34" charset="-122"/>
                <a:cs typeface="Georgia" pitchFamily="34" charset="-120"/>
              </a:rPr>
              <a:t>One change touches rooms, professors and hundreds of students</a:t>
            </a:r>
            <a:endParaRPr lang="en-US" sz="7260" dirty="0"/>
          </a:p>
        </p:txBody>
      </p:sp>
      <p:sp>
        <p:nvSpPr>
          <p:cNvPr id="3" name="Why icon bg 1"/>
          <p:cNvSpPr/>
          <p:nvPr/>
        </p:nvSpPr>
        <p:spPr>
          <a:xfrm>
            <a:off x="1327069" y="3538819"/>
            <a:ext cx="1371326" cy="1371326"/>
          </a:xfrm>
          <a:prstGeom prst="roundRect">
            <a:avLst>
              <a:gd name="adj" fmla="val 49997"/>
            </a:avLst>
          </a:prstGeom>
          <a:solidFill>
            <a:srgbClr val="F3ECDF"/>
          </a:solidFill>
          <a:ln w="12700">
            <a:solidFill>
              <a:srgbClr val="F3ECDF"/>
            </a:solidFill>
            <a:prstDash val="solid"/>
          </a:ln>
        </p:spPr>
        <p:txBody>
          <a:bodyPr/>
          <a:lstStyle/>
          <a:p>
            <a:endParaRPr lang="en-US"/>
          </a:p>
        </p:txBody>
      </p:sp>
      <p:pic>
        <p:nvPicPr>
          <p:cNvPr id="4" name="Why icon 1" descr="preencoded.png"/>
          <p:cNvPicPr>
            <a:picLocks noChangeAspect="1"/>
          </p:cNvPicPr>
          <p:nvPr/>
        </p:nvPicPr>
        <p:blipFill>
          <a:blip r:embed="rId3"/>
          <a:stretch>
            <a:fillRect/>
          </a:stretch>
        </p:blipFill>
        <p:spPr>
          <a:xfrm>
            <a:off x="1658813" y="3870564"/>
            <a:ext cx="707746" cy="707746"/>
          </a:xfrm>
          <a:prstGeom prst="rect">
            <a:avLst/>
          </a:prstGeom>
        </p:spPr>
      </p:pic>
      <p:sp>
        <p:nvSpPr>
          <p:cNvPr id="5" name="Why head 1"/>
          <p:cNvSpPr txBox="1"/>
          <p:nvPr/>
        </p:nvSpPr>
        <p:spPr>
          <a:xfrm>
            <a:off x="3207075" y="3494562"/>
            <a:ext cx="11501140" cy="884682"/>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Valid is where it stops</a:t>
            </a:r>
            <a:endParaRPr lang="en-US" sz="4350" dirty="0"/>
          </a:p>
        </p:txBody>
      </p:sp>
      <p:sp>
        <p:nvSpPr>
          <p:cNvPr id="6" name="Why body 1"/>
          <p:cNvSpPr txBox="1"/>
          <p:nvPr/>
        </p:nvSpPr>
        <p:spPr>
          <a:xfrm>
            <a:off x="3207075" y="4467758"/>
            <a:ext cx="11501140" cy="1990557"/>
          </a:xfrm>
          <a:prstGeom prst="rect">
            <a:avLst/>
          </a:prstGeom>
          <a:noFill/>
          <a:ln/>
        </p:spPr>
        <p:txBody>
          <a:bodyPr wrap="square" lIns="0" tIns="0" rIns="0" bIns="0" rtlCol="0" anchor="t"/>
          <a:lstStyle/>
          <a:p>
            <a:pPr marL="0" indent="0">
              <a:buNone/>
            </a:pPr>
            <a:r>
              <a:rPr lang="en-US" sz="3390" dirty="0">
                <a:solidFill>
                  <a:srgbClr val="303533"/>
                </a:solidFill>
                <a:latin typeface="Arial" pitchFamily="34" charset="0"/>
                <a:ea typeface="Arial" pitchFamily="34" charset="-122"/>
                <a:cs typeface="Arial" pitchFamily="34" charset="-120"/>
              </a:rPr>
              <a:t>A timetable without clashes is hard enough to build. Improving it by hand means re-checking every room, professor and student again.</a:t>
            </a:r>
            <a:endParaRPr lang="en-US" sz="3390" dirty="0"/>
          </a:p>
        </p:txBody>
      </p:sp>
      <p:sp>
        <p:nvSpPr>
          <p:cNvPr id="7" name="Why icon bg 2"/>
          <p:cNvSpPr/>
          <p:nvPr/>
        </p:nvSpPr>
        <p:spPr>
          <a:xfrm>
            <a:off x="1327069" y="6856446"/>
            <a:ext cx="1371326" cy="1371326"/>
          </a:xfrm>
          <a:prstGeom prst="roundRect">
            <a:avLst>
              <a:gd name="adj" fmla="val 49997"/>
            </a:avLst>
          </a:prstGeom>
          <a:solidFill>
            <a:srgbClr val="F3ECDF"/>
          </a:solidFill>
          <a:ln w="12700">
            <a:solidFill>
              <a:srgbClr val="F3ECDF"/>
            </a:solidFill>
            <a:prstDash val="solid"/>
          </a:ln>
        </p:spPr>
        <p:txBody>
          <a:bodyPr/>
          <a:lstStyle/>
          <a:p>
            <a:endParaRPr lang="en-US"/>
          </a:p>
        </p:txBody>
      </p:sp>
      <p:pic>
        <p:nvPicPr>
          <p:cNvPr id="8" name="Why icon 2" descr="preencoded.png"/>
          <p:cNvPicPr>
            <a:picLocks noChangeAspect="1"/>
          </p:cNvPicPr>
          <p:nvPr/>
        </p:nvPicPr>
        <p:blipFill>
          <a:blip r:embed="rId4"/>
          <a:stretch>
            <a:fillRect/>
          </a:stretch>
        </p:blipFill>
        <p:spPr>
          <a:xfrm>
            <a:off x="1658813" y="7188190"/>
            <a:ext cx="707746" cy="707746"/>
          </a:xfrm>
          <a:prstGeom prst="rect">
            <a:avLst/>
          </a:prstGeom>
        </p:spPr>
      </p:pic>
      <p:sp>
        <p:nvSpPr>
          <p:cNvPr id="9" name="Why head 2"/>
          <p:cNvSpPr txBox="1"/>
          <p:nvPr/>
        </p:nvSpPr>
        <p:spPr>
          <a:xfrm>
            <a:off x="3207075" y="6812189"/>
            <a:ext cx="11501140" cy="884682"/>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Requests arrive one by one</a:t>
            </a:r>
            <a:endParaRPr lang="en-US" sz="4350" dirty="0"/>
          </a:p>
        </p:txBody>
      </p:sp>
      <p:sp>
        <p:nvSpPr>
          <p:cNvPr id="10" name="Why body 2"/>
          <p:cNvSpPr txBox="1"/>
          <p:nvPr/>
        </p:nvSpPr>
        <p:spPr>
          <a:xfrm>
            <a:off x="3207075" y="7785384"/>
            <a:ext cx="11501140" cy="1990557"/>
          </a:xfrm>
          <a:prstGeom prst="rect">
            <a:avLst/>
          </a:prstGeom>
          <a:noFill/>
          <a:ln/>
        </p:spPr>
        <p:txBody>
          <a:bodyPr wrap="square" lIns="0" tIns="0" rIns="0" bIns="0" rtlCol="0" anchor="t"/>
          <a:lstStyle/>
          <a:p>
            <a:pPr marL="0" indent="0">
              <a:buNone/>
            </a:pPr>
            <a:r>
              <a:rPr lang="en-US" sz="3390" dirty="0">
                <a:solidFill>
                  <a:srgbClr val="303533"/>
                </a:solidFill>
                <a:latin typeface="Arial" pitchFamily="34" charset="0"/>
                <a:ea typeface="Arial" pitchFamily="34" charset="-122"/>
                <a:cs typeface="Arial" pitchFamily="34" charset="-120"/>
              </a:rPr>
              <a:t>We collected 30 real requests from professors: move a class, find a time for a quiz, merge two sections. Each one needs every enrolled student checked.</a:t>
            </a:r>
            <a:endParaRPr lang="en-US" sz="3390" dirty="0"/>
          </a:p>
        </p:txBody>
      </p:sp>
      <p:sp>
        <p:nvSpPr>
          <p:cNvPr id="11" name="Why icon bg 3"/>
          <p:cNvSpPr/>
          <p:nvPr/>
        </p:nvSpPr>
        <p:spPr>
          <a:xfrm>
            <a:off x="1327069" y="10174072"/>
            <a:ext cx="1371326" cy="1371326"/>
          </a:xfrm>
          <a:prstGeom prst="roundRect">
            <a:avLst>
              <a:gd name="adj" fmla="val 49997"/>
            </a:avLst>
          </a:prstGeom>
          <a:solidFill>
            <a:srgbClr val="F3ECDF"/>
          </a:solidFill>
          <a:ln w="12700">
            <a:solidFill>
              <a:srgbClr val="F3ECDF"/>
            </a:solidFill>
            <a:prstDash val="solid"/>
          </a:ln>
        </p:spPr>
        <p:txBody>
          <a:bodyPr/>
          <a:lstStyle/>
          <a:p>
            <a:endParaRPr lang="en-US"/>
          </a:p>
        </p:txBody>
      </p:sp>
      <p:pic>
        <p:nvPicPr>
          <p:cNvPr id="12" name="Why icon 3" descr="preencoded.png"/>
          <p:cNvPicPr>
            <a:picLocks noChangeAspect="1"/>
          </p:cNvPicPr>
          <p:nvPr/>
        </p:nvPicPr>
        <p:blipFill>
          <a:blip r:embed="rId5"/>
          <a:stretch>
            <a:fillRect/>
          </a:stretch>
        </p:blipFill>
        <p:spPr>
          <a:xfrm>
            <a:off x="1658813" y="10505816"/>
            <a:ext cx="707746" cy="707746"/>
          </a:xfrm>
          <a:prstGeom prst="rect">
            <a:avLst/>
          </a:prstGeom>
        </p:spPr>
      </p:pic>
      <p:sp>
        <p:nvSpPr>
          <p:cNvPr id="13" name="Why head 3"/>
          <p:cNvSpPr txBox="1"/>
          <p:nvPr/>
        </p:nvSpPr>
        <p:spPr>
          <a:xfrm>
            <a:off x="3207075" y="10129906"/>
            <a:ext cx="11501140" cy="884682"/>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A small move can break a lot</a:t>
            </a:r>
            <a:endParaRPr lang="en-US" sz="4350" dirty="0"/>
          </a:p>
        </p:txBody>
      </p:sp>
      <p:sp>
        <p:nvSpPr>
          <p:cNvPr id="14" name="Why body 3"/>
          <p:cNvSpPr txBox="1"/>
          <p:nvPr/>
        </p:nvSpPr>
        <p:spPr>
          <a:xfrm>
            <a:off x="3207075" y="11103011"/>
            <a:ext cx="11501140" cy="1990557"/>
          </a:xfrm>
          <a:prstGeom prst="rect">
            <a:avLst/>
          </a:prstGeom>
          <a:noFill/>
          <a:ln/>
        </p:spPr>
        <p:txBody>
          <a:bodyPr wrap="square" lIns="0" tIns="0" rIns="0" bIns="0" rtlCol="0" anchor="t"/>
          <a:lstStyle/>
          <a:p>
            <a:pPr marL="0" indent="0">
              <a:buNone/>
            </a:pPr>
            <a:r>
              <a:rPr lang="en-US" sz="3390" dirty="0">
                <a:solidFill>
                  <a:srgbClr val="303533"/>
                </a:solidFill>
                <a:latin typeface="Arial" pitchFamily="34" charset="0"/>
                <a:ea typeface="Arial" pitchFamily="34" charset="-122"/>
                <a:cs typeface="Arial" pitchFamily="34" charset="-120"/>
              </a:rPr>
              <a:t>In our demo semester, moving one section to Sunday 10:00 creates 77 student clashes.</a:t>
            </a:r>
            <a:endParaRPr lang="en-US" sz="3390" dirty="0"/>
          </a:p>
        </p:txBody>
      </p:sp>
      <p:sp>
        <p:nvSpPr>
          <p:cNvPr id="15" name="Ripple line 1"/>
          <p:cNvSpPr/>
          <p:nvPr/>
        </p:nvSpPr>
        <p:spPr>
          <a:xfrm>
            <a:off x="17251710" y="4976439"/>
            <a:ext cx="4755246" cy="2985882"/>
          </a:xfrm>
          <a:prstGeom prst="line">
            <a:avLst/>
          </a:prstGeom>
          <a:noFill/>
          <a:ln w="60960">
            <a:solidFill>
              <a:srgbClr val="CFC3B3"/>
            </a:solidFill>
            <a:prstDash val="dash"/>
          </a:ln>
        </p:spPr>
        <p:txBody>
          <a:bodyPr/>
          <a:lstStyle/>
          <a:p>
            <a:endParaRPr lang="en-US"/>
          </a:p>
        </p:txBody>
      </p:sp>
      <p:sp>
        <p:nvSpPr>
          <p:cNvPr id="16" name="Ripple line 2"/>
          <p:cNvSpPr/>
          <p:nvPr/>
        </p:nvSpPr>
        <p:spPr>
          <a:xfrm flipH="1">
            <a:off x="22007048" y="4976439"/>
            <a:ext cx="4755246" cy="2985882"/>
          </a:xfrm>
          <a:prstGeom prst="line">
            <a:avLst/>
          </a:prstGeom>
          <a:noFill/>
          <a:ln w="60960">
            <a:solidFill>
              <a:srgbClr val="CFC3B3"/>
            </a:solidFill>
            <a:prstDash val="dash"/>
          </a:ln>
        </p:spPr>
        <p:txBody>
          <a:bodyPr/>
          <a:lstStyle/>
          <a:p>
            <a:endParaRPr lang="en-US"/>
          </a:p>
        </p:txBody>
      </p:sp>
      <p:sp>
        <p:nvSpPr>
          <p:cNvPr id="17" name="Ripple line 3"/>
          <p:cNvSpPr/>
          <p:nvPr/>
        </p:nvSpPr>
        <p:spPr>
          <a:xfrm flipH="1">
            <a:off x="17251710" y="7962321"/>
            <a:ext cx="4755246" cy="2985882"/>
          </a:xfrm>
          <a:prstGeom prst="line">
            <a:avLst/>
          </a:prstGeom>
          <a:noFill/>
          <a:ln w="60960">
            <a:solidFill>
              <a:srgbClr val="CFC3B3"/>
            </a:solidFill>
            <a:prstDash val="dash"/>
          </a:ln>
        </p:spPr>
        <p:txBody>
          <a:bodyPr/>
          <a:lstStyle/>
          <a:p>
            <a:endParaRPr lang="en-US"/>
          </a:p>
        </p:txBody>
      </p:sp>
      <p:sp>
        <p:nvSpPr>
          <p:cNvPr id="18" name="Ripple line 4"/>
          <p:cNvSpPr/>
          <p:nvPr/>
        </p:nvSpPr>
        <p:spPr>
          <a:xfrm>
            <a:off x="22007048" y="7962321"/>
            <a:ext cx="4755246" cy="2985882"/>
          </a:xfrm>
          <a:prstGeom prst="line">
            <a:avLst/>
          </a:prstGeom>
          <a:noFill/>
          <a:ln w="60960">
            <a:solidFill>
              <a:srgbClr val="CFC3B3"/>
            </a:solidFill>
            <a:prstDash val="dash"/>
          </a:ln>
        </p:spPr>
        <p:txBody>
          <a:bodyPr/>
          <a:lstStyle/>
          <a:p>
            <a:endParaRPr lang="en-US"/>
          </a:p>
        </p:txBody>
      </p:sp>
      <p:sp>
        <p:nvSpPr>
          <p:cNvPr id="19" name="Ripple node 1"/>
          <p:cNvSpPr/>
          <p:nvPr/>
        </p:nvSpPr>
        <p:spPr>
          <a:xfrm>
            <a:off x="15526512" y="3693627"/>
            <a:ext cx="3450306" cy="2565624"/>
          </a:xfrm>
          <a:prstGeom prst="ellipse">
            <a:avLst/>
          </a:prstGeom>
          <a:solidFill>
            <a:srgbClr val="FFFFFF"/>
          </a:solidFill>
          <a:ln w="76200">
            <a:solidFill>
              <a:srgbClr val="4B6C9F"/>
            </a:solidFill>
            <a:prstDash val="solid"/>
          </a:ln>
        </p:spPr>
        <p:txBody>
          <a:bodyPr/>
          <a:lstStyle/>
          <a:p>
            <a:endParaRPr lang="en-US"/>
          </a:p>
        </p:txBody>
      </p:sp>
      <p:sp>
        <p:nvSpPr>
          <p:cNvPr id="20" name="Ripple label 1"/>
          <p:cNvSpPr txBox="1"/>
          <p:nvPr/>
        </p:nvSpPr>
        <p:spPr>
          <a:xfrm>
            <a:off x="15592897" y="3870564"/>
            <a:ext cx="3317626" cy="2211751"/>
          </a:xfrm>
          <a:prstGeom prst="rect">
            <a:avLst/>
          </a:prstGeom>
          <a:noFill/>
          <a:ln/>
        </p:spPr>
        <p:txBody>
          <a:bodyPr wrap="square" lIns="0" tIns="0" rIns="0" bIns="0" rtlCol="0" anchor="ctr"/>
          <a:lstStyle/>
          <a:p>
            <a:pPr marL="0" indent="0" algn="ctr">
              <a:buNone/>
            </a:pPr>
            <a:r>
              <a:rPr lang="en-US" sz="3140" b="1" dirty="0">
                <a:solidFill>
                  <a:srgbClr val="4B6C9F"/>
                </a:solidFill>
                <a:latin typeface="Arial" pitchFamily="34" charset="0"/>
                <a:ea typeface="Arial" pitchFamily="34" charset="-122"/>
                <a:cs typeface="Arial" pitchFamily="34" charset="-120"/>
              </a:rPr>
              <a:t>Room</a:t>
            </a:r>
            <a:endParaRPr lang="en-US" sz="3140" dirty="0"/>
          </a:p>
        </p:txBody>
      </p:sp>
      <p:sp>
        <p:nvSpPr>
          <p:cNvPr id="21" name="Ripple node 2"/>
          <p:cNvSpPr/>
          <p:nvPr/>
        </p:nvSpPr>
        <p:spPr>
          <a:xfrm>
            <a:off x="25037095" y="3693627"/>
            <a:ext cx="3450306" cy="2565624"/>
          </a:xfrm>
          <a:prstGeom prst="ellipse">
            <a:avLst/>
          </a:prstGeom>
          <a:solidFill>
            <a:srgbClr val="FFFFFF"/>
          </a:solidFill>
          <a:ln w="76200">
            <a:solidFill>
              <a:srgbClr val="529573"/>
            </a:solidFill>
            <a:prstDash val="solid"/>
          </a:ln>
        </p:spPr>
        <p:txBody>
          <a:bodyPr/>
          <a:lstStyle/>
          <a:p>
            <a:endParaRPr lang="en-US"/>
          </a:p>
        </p:txBody>
      </p:sp>
      <p:sp>
        <p:nvSpPr>
          <p:cNvPr id="22" name="Ripple label 2"/>
          <p:cNvSpPr txBox="1"/>
          <p:nvPr/>
        </p:nvSpPr>
        <p:spPr>
          <a:xfrm>
            <a:off x="25103480" y="3870564"/>
            <a:ext cx="3317626" cy="2211751"/>
          </a:xfrm>
          <a:prstGeom prst="rect">
            <a:avLst/>
          </a:prstGeom>
          <a:noFill/>
          <a:ln/>
        </p:spPr>
        <p:txBody>
          <a:bodyPr wrap="square" lIns="0" tIns="0" rIns="0" bIns="0" rtlCol="0" anchor="ctr"/>
          <a:lstStyle/>
          <a:p>
            <a:pPr marL="0" indent="0" algn="ctr">
              <a:buNone/>
            </a:pPr>
            <a:r>
              <a:rPr lang="en-US" sz="3140" b="1" dirty="0">
                <a:solidFill>
                  <a:srgbClr val="529573"/>
                </a:solidFill>
                <a:latin typeface="Arial" pitchFamily="34" charset="0"/>
                <a:ea typeface="Arial" pitchFamily="34" charset="-122"/>
                <a:cs typeface="Arial" pitchFamily="34" charset="-120"/>
              </a:rPr>
              <a:t>Professor</a:t>
            </a:r>
            <a:endParaRPr lang="en-US" sz="3140" dirty="0"/>
          </a:p>
        </p:txBody>
      </p:sp>
      <p:sp>
        <p:nvSpPr>
          <p:cNvPr id="23" name="Ripple node 3"/>
          <p:cNvSpPr/>
          <p:nvPr/>
        </p:nvSpPr>
        <p:spPr>
          <a:xfrm>
            <a:off x="15526512" y="9665391"/>
            <a:ext cx="3450306" cy="2565624"/>
          </a:xfrm>
          <a:prstGeom prst="ellipse">
            <a:avLst/>
          </a:prstGeom>
          <a:solidFill>
            <a:srgbClr val="FFFFFF"/>
          </a:solidFill>
          <a:ln w="76200">
            <a:solidFill>
              <a:srgbClr val="B95042"/>
            </a:solidFill>
            <a:prstDash val="solid"/>
          </a:ln>
        </p:spPr>
        <p:txBody>
          <a:bodyPr/>
          <a:lstStyle/>
          <a:p>
            <a:endParaRPr lang="en-US"/>
          </a:p>
        </p:txBody>
      </p:sp>
      <p:sp>
        <p:nvSpPr>
          <p:cNvPr id="24" name="Ripple label 3"/>
          <p:cNvSpPr txBox="1"/>
          <p:nvPr/>
        </p:nvSpPr>
        <p:spPr>
          <a:xfrm>
            <a:off x="15592897" y="9842327"/>
            <a:ext cx="3317626" cy="2211751"/>
          </a:xfrm>
          <a:prstGeom prst="rect">
            <a:avLst/>
          </a:prstGeom>
          <a:noFill/>
          <a:ln/>
        </p:spPr>
        <p:txBody>
          <a:bodyPr wrap="square" lIns="0" tIns="0" rIns="0" bIns="0" rtlCol="0" anchor="ctr"/>
          <a:lstStyle/>
          <a:p>
            <a:pPr marL="0" indent="0" algn="ctr">
              <a:buNone/>
            </a:pPr>
            <a:r>
              <a:rPr lang="en-US" sz="3140" b="1" dirty="0">
                <a:solidFill>
                  <a:srgbClr val="B95042"/>
                </a:solidFill>
                <a:latin typeface="Arial" pitchFamily="34" charset="0"/>
                <a:ea typeface="Arial" pitchFamily="34" charset="-122"/>
                <a:cs typeface="Arial" pitchFamily="34" charset="-120"/>
              </a:rPr>
              <a:t>Every enrolled</a:t>
            </a:r>
            <a:endParaRPr lang="en-US" sz="3140" dirty="0"/>
          </a:p>
          <a:p>
            <a:pPr marL="0" indent="0" algn="ctr">
              <a:buNone/>
            </a:pPr>
            <a:r>
              <a:rPr lang="en-US" sz="3140" b="1" dirty="0">
                <a:solidFill>
                  <a:srgbClr val="B95042"/>
                </a:solidFill>
                <a:latin typeface="Arial" pitchFamily="34" charset="0"/>
                <a:ea typeface="Arial" pitchFamily="34" charset="-122"/>
                <a:cs typeface="Arial" pitchFamily="34" charset="-120"/>
              </a:rPr>
              <a:t>student</a:t>
            </a:r>
            <a:endParaRPr lang="en-US" sz="3140" dirty="0"/>
          </a:p>
        </p:txBody>
      </p:sp>
      <p:sp>
        <p:nvSpPr>
          <p:cNvPr id="25" name="Ripple node 4"/>
          <p:cNvSpPr/>
          <p:nvPr/>
        </p:nvSpPr>
        <p:spPr>
          <a:xfrm>
            <a:off x="25037095" y="9665391"/>
            <a:ext cx="3450306" cy="2565624"/>
          </a:xfrm>
          <a:prstGeom prst="ellipse">
            <a:avLst/>
          </a:prstGeom>
          <a:solidFill>
            <a:srgbClr val="FFFFFF"/>
          </a:solidFill>
          <a:ln w="76200">
            <a:solidFill>
              <a:srgbClr val="68645B"/>
            </a:solidFill>
            <a:prstDash val="solid"/>
          </a:ln>
        </p:spPr>
        <p:txBody>
          <a:bodyPr/>
          <a:lstStyle/>
          <a:p>
            <a:endParaRPr lang="en-US"/>
          </a:p>
        </p:txBody>
      </p:sp>
      <p:sp>
        <p:nvSpPr>
          <p:cNvPr id="26" name="Ripple label 4"/>
          <p:cNvSpPr txBox="1"/>
          <p:nvPr/>
        </p:nvSpPr>
        <p:spPr>
          <a:xfrm>
            <a:off x="25103480" y="9842327"/>
            <a:ext cx="3317626" cy="2211751"/>
          </a:xfrm>
          <a:prstGeom prst="rect">
            <a:avLst/>
          </a:prstGeom>
          <a:noFill/>
          <a:ln/>
        </p:spPr>
        <p:txBody>
          <a:bodyPr wrap="square" lIns="0" tIns="0" rIns="0" bIns="0" rtlCol="0" anchor="ctr"/>
          <a:lstStyle/>
          <a:p>
            <a:pPr marL="0" indent="0" algn="ctr">
              <a:buNone/>
            </a:pPr>
            <a:r>
              <a:rPr lang="en-US" sz="3140" b="1" dirty="0">
                <a:solidFill>
                  <a:srgbClr val="68645B"/>
                </a:solidFill>
                <a:latin typeface="Arial" pitchFamily="34" charset="0"/>
                <a:ea typeface="Arial" pitchFamily="34" charset="-122"/>
                <a:cs typeface="Arial" pitchFamily="34" charset="-120"/>
              </a:rPr>
              <a:t>Other</a:t>
            </a:r>
            <a:endParaRPr lang="en-US" sz="3140" dirty="0"/>
          </a:p>
          <a:p>
            <a:pPr marL="0" indent="0" algn="ctr">
              <a:buNone/>
            </a:pPr>
            <a:r>
              <a:rPr lang="en-US" sz="3140" b="1" dirty="0">
                <a:solidFill>
                  <a:srgbClr val="68645B"/>
                </a:solidFill>
                <a:latin typeface="Arial" pitchFamily="34" charset="0"/>
                <a:ea typeface="Arial" pitchFamily="34" charset="-122"/>
                <a:cs typeface="Arial" pitchFamily="34" charset="-120"/>
              </a:rPr>
              <a:t>sections</a:t>
            </a:r>
            <a:endParaRPr lang="en-US" sz="3140" dirty="0"/>
          </a:p>
        </p:txBody>
      </p:sp>
      <p:sp>
        <p:nvSpPr>
          <p:cNvPr id="27" name="Ripple centre"/>
          <p:cNvSpPr/>
          <p:nvPr/>
        </p:nvSpPr>
        <p:spPr>
          <a:xfrm>
            <a:off x="20127041" y="6082314"/>
            <a:ext cx="3760013" cy="3760013"/>
          </a:xfrm>
          <a:prstGeom prst="ellipse">
            <a:avLst/>
          </a:prstGeom>
          <a:solidFill>
            <a:srgbClr val="F4A252"/>
          </a:solidFill>
          <a:ln w="12700">
            <a:solidFill>
              <a:srgbClr val="F4A252"/>
            </a:solidFill>
            <a:prstDash val="solid"/>
          </a:ln>
        </p:spPr>
        <p:txBody>
          <a:bodyPr/>
          <a:lstStyle/>
          <a:p>
            <a:endParaRPr lang="en-US"/>
          </a:p>
        </p:txBody>
      </p:sp>
      <p:sp>
        <p:nvSpPr>
          <p:cNvPr id="28" name="Ripple centre label"/>
          <p:cNvSpPr txBox="1"/>
          <p:nvPr/>
        </p:nvSpPr>
        <p:spPr>
          <a:xfrm>
            <a:off x="20237592" y="6856446"/>
            <a:ext cx="3538819" cy="2211751"/>
          </a:xfrm>
          <a:prstGeom prst="rect">
            <a:avLst/>
          </a:prstGeom>
          <a:noFill/>
          <a:ln/>
        </p:spPr>
        <p:txBody>
          <a:bodyPr wrap="square" lIns="0" tIns="0" rIns="0" bIns="0" rtlCol="0" anchor="ctr"/>
          <a:lstStyle/>
          <a:p>
            <a:pPr marL="0" indent="0" algn="ctr">
              <a:buNone/>
            </a:pPr>
            <a:r>
              <a:rPr lang="en-US" sz="3870" b="1" dirty="0">
                <a:solidFill>
                  <a:srgbClr val="111C21"/>
                </a:solidFill>
                <a:latin typeface="Arial" pitchFamily="34" charset="0"/>
                <a:ea typeface="Arial" pitchFamily="34" charset="-122"/>
                <a:cs typeface="Arial" pitchFamily="34" charset="-120"/>
              </a:rPr>
              <a:t>Move one</a:t>
            </a:r>
            <a:endParaRPr lang="en-US" sz="3870" dirty="0"/>
          </a:p>
          <a:p>
            <a:pPr marL="0" indent="0" algn="ctr">
              <a:buNone/>
            </a:pPr>
            <a:r>
              <a:rPr lang="en-US" sz="3870" b="1" dirty="0">
                <a:solidFill>
                  <a:srgbClr val="111C21"/>
                </a:solidFill>
                <a:latin typeface="Arial" pitchFamily="34" charset="0"/>
                <a:ea typeface="Arial" pitchFamily="34" charset="-122"/>
                <a:cs typeface="Arial" pitchFamily="34" charset="-120"/>
              </a:rPr>
              <a:t>class</a:t>
            </a:r>
            <a:endParaRPr lang="en-US" sz="3870" dirty="0"/>
          </a:p>
        </p:txBody>
      </p:sp>
      <p:sp>
        <p:nvSpPr>
          <p:cNvPr id="29"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327069" y="928939"/>
            <a:ext cx="26762293" cy="1769364"/>
          </a:xfrm>
          <a:prstGeom prst="rect">
            <a:avLst/>
          </a:prstGeom>
          <a:noFill/>
          <a:ln/>
        </p:spPr>
        <p:txBody>
          <a:bodyPr wrap="square" lIns="0" tIns="0" rIns="0" bIns="0" rtlCol="0" anchor="t"/>
          <a:lstStyle/>
          <a:p>
            <a:pPr marL="0" indent="0" algn="l">
              <a:buNone/>
            </a:pPr>
            <a:r>
              <a:rPr lang="en-US" sz="7260" dirty="0">
                <a:solidFill>
                  <a:schemeClr val="tx1"/>
                </a:solidFill>
                <a:latin typeface="Georgia" pitchFamily="34" charset="0"/>
                <a:ea typeface="Georgia" pitchFamily="34" charset="-122"/>
                <a:cs typeface="Georgia" pitchFamily="34" charset="-120"/>
              </a:rPr>
              <a:t>Mizan measures, improves and checks, then people decide</a:t>
            </a:r>
            <a:endParaRPr lang="en-US" sz="7260" dirty="0"/>
          </a:p>
        </p:txBody>
      </p:sp>
      <p:sp>
        <p:nvSpPr>
          <p:cNvPr id="3" name="Step card 1"/>
          <p:cNvSpPr/>
          <p:nvPr/>
        </p:nvSpPr>
        <p:spPr>
          <a:xfrm>
            <a:off x="1327069" y="3538819"/>
            <a:ext cx="4910145" cy="7077639"/>
          </a:xfrm>
          <a:prstGeom prst="roundRect">
            <a:avLst>
              <a:gd name="adj" fmla="val 2702"/>
            </a:avLst>
          </a:prstGeom>
          <a:solidFill>
            <a:srgbClr val="FFFFFF"/>
          </a:solidFill>
          <a:ln w="12700">
            <a:solidFill>
              <a:srgbClr val="E3DBCF"/>
            </a:solidFill>
            <a:prstDash val="solid"/>
          </a:ln>
        </p:spPr>
        <p:txBody>
          <a:bodyPr/>
          <a:lstStyle/>
          <a:p>
            <a:endParaRPr lang="en-US"/>
          </a:p>
        </p:txBody>
      </p:sp>
      <p:sp>
        <p:nvSpPr>
          <p:cNvPr id="4" name="Step icon bg 1"/>
          <p:cNvSpPr/>
          <p:nvPr/>
        </p:nvSpPr>
        <p:spPr>
          <a:xfrm>
            <a:off x="1880006" y="4091757"/>
            <a:ext cx="1592428" cy="1592428"/>
          </a:xfrm>
          <a:prstGeom prst="ellipse">
            <a:avLst/>
          </a:prstGeom>
          <a:solidFill>
            <a:srgbClr val="4B6C9F"/>
          </a:solidFill>
          <a:ln w="12700">
            <a:solidFill>
              <a:srgbClr val="4B6C9F"/>
            </a:solidFill>
            <a:prstDash val="solid"/>
          </a:ln>
        </p:spPr>
        <p:txBody>
          <a:bodyPr/>
          <a:lstStyle/>
          <a:p>
            <a:endParaRPr lang="en-US"/>
          </a:p>
        </p:txBody>
      </p:sp>
      <p:pic>
        <p:nvPicPr>
          <p:cNvPr id="5" name="Step icon 1" descr="preencoded.png"/>
          <p:cNvPicPr>
            <a:picLocks noChangeAspect="1"/>
          </p:cNvPicPr>
          <p:nvPr/>
        </p:nvPicPr>
        <p:blipFill>
          <a:blip r:embed="rId3"/>
          <a:stretch>
            <a:fillRect/>
          </a:stretch>
        </p:blipFill>
        <p:spPr>
          <a:xfrm>
            <a:off x="2278136" y="4489887"/>
            <a:ext cx="796260" cy="796260"/>
          </a:xfrm>
          <a:prstGeom prst="rect">
            <a:avLst/>
          </a:prstGeom>
        </p:spPr>
      </p:pic>
      <p:sp>
        <p:nvSpPr>
          <p:cNvPr id="6" name="Step number 1"/>
          <p:cNvSpPr txBox="1"/>
          <p:nvPr/>
        </p:nvSpPr>
        <p:spPr>
          <a:xfrm>
            <a:off x="4865888" y="4202308"/>
            <a:ext cx="884682" cy="884682"/>
          </a:xfrm>
          <a:prstGeom prst="rect">
            <a:avLst/>
          </a:prstGeom>
          <a:noFill/>
          <a:ln/>
        </p:spPr>
        <p:txBody>
          <a:bodyPr wrap="square" lIns="0" tIns="0" rIns="0" bIns="0" rtlCol="0" anchor="t"/>
          <a:lstStyle/>
          <a:p>
            <a:pPr marL="0" indent="0" algn="r">
              <a:buNone/>
            </a:pPr>
            <a:r>
              <a:rPr lang="en-US" sz="4840" dirty="0">
                <a:solidFill>
                  <a:srgbClr val="CFC3B3"/>
                </a:solidFill>
                <a:latin typeface="Arial" pitchFamily="34" charset="0"/>
                <a:ea typeface="Arial" pitchFamily="34" charset="-122"/>
                <a:cs typeface="Arial" pitchFamily="34" charset="-120"/>
              </a:rPr>
              <a:t>1</a:t>
            </a:r>
            <a:endParaRPr lang="en-US" sz="4840" dirty="0"/>
          </a:p>
        </p:txBody>
      </p:sp>
      <p:sp>
        <p:nvSpPr>
          <p:cNvPr id="7" name="Step head 1"/>
          <p:cNvSpPr txBox="1"/>
          <p:nvPr/>
        </p:nvSpPr>
        <p:spPr>
          <a:xfrm>
            <a:off x="1880006" y="6192957"/>
            <a:ext cx="3981206" cy="928939"/>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Import</a:t>
            </a:r>
            <a:endParaRPr lang="en-US" sz="4350" dirty="0"/>
          </a:p>
        </p:txBody>
      </p:sp>
      <p:sp>
        <p:nvSpPr>
          <p:cNvPr id="8" name="Step body 1"/>
          <p:cNvSpPr txBox="1"/>
          <p:nvPr/>
        </p:nvSpPr>
        <p:spPr>
          <a:xfrm>
            <a:off x="1880006" y="7254575"/>
            <a:ext cx="3981206" cy="3096433"/>
          </a:xfrm>
          <a:prstGeom prst="rect">
            <a:avLst/>
          </a:prstGeom>
          <a:noFill/>
          <a:ln/>
        </p:spPr>
        <p:txBody>
          <a:bodyPr wrap="square" lIns="0" tIns="0" rIns="0" bIns="0" rtlCol="0" anchor="t"/>
          <a:lstStyle/>
          <a:p>
            <a:pPr marL="0" indent="0">
              <a:buNone/>
            </a:pPr>
            <a:r>
              <a:rPr lang="en-US" sz="3140" dirty="0">
                <a:solidFill>
                  <a:srgbClr val="303533"/>
                </a:solidFill>
                <a:latin typeface="Arial" pitchFamily="34" charset="0"/>
                <a:ea typeface="Arial" pitchFamily="34" charset="-122"/>
                <a:cs typeface="Arial" pitchFamily="34" charset="-120"/>
              </a:rPr>
              <a:t>Edugate PDF, app screenshot or a full semester file. Read on this PC.</a:t>
            </a:r>
            <a:endParaRPr lang="en-US" sz="3140" dirty="0"/>
          </a:p>
        </p:txBody>
      </p:sp>
      <p:pic>
        <p:nvPicPr>
          <p:cNvPr id="9" name="Step arrow 1" descr="preencoded.png"/>
          <p:cNvPicPr>
            <a:picLocks noChangeAspect="1"/>
          </p:cNvPicPr>
          <p:nvPr/>
        </p:nvPicPr>
        <p:blipFill>
          <a:blip r:embed="rId4"/>
          <a:stretch>
            <a:fillRect/>
          </a:stretch>
        </p:blipFill>
        <p:spPr>
          <a:xfrm>
            <a:off x="6281379" y="6635252"/>
            <a:ext cx="442387" cy="884682"/>
          </a:xfrm>
          <a:prstGeom prst="rect">
            <a:avLst/>
          </a:prstGeom>
        </p:spPr>
      </p:pic>
      <p:sp>
        <p:nvSpPr>
          <p:cNvPr id="10" name="Step card 2"/>
          <p:cNvSpPr/>
          <p:nvPr/>
        </p:nvSpPr>
        <p:spPr>
          <a:xfrm>
            <a:off x="6768023" y="3538819"/>
            <a:ext cx="4910145" cy="7077639"/>
          </a:xfrm>
          <a:prstGeom prst="roundRect">
            <a:avLst>
              <a:gd name="adj" fmla="val 2702"/>
            </a:avLst>
          </a:prstGeom>
          <a:solidFill>
            <a:srgbClr val="FFFFFF"/>
          </a:solidFill>
          <a:ln w="12700">
            <a:solidFill>
              <a:srgbClr val="E3DBCF"/>
            </a:solidFill>
            <a:prstDash val="solid"/>
          </a:ln>
        </p:spPr>
        <p:txBody>
          <a:bodyPr/>
          <a:lstStyle/>
          <a:p>
            <a:endParaRPr lang="en-US"/>
          </a:p>
        </p:txBody>
      </p:sp>
      <p:sp>
        <p:nvSpPr>
          <p:cNvPr id="11" name="Step icon bg 2"/>
          <p:cNvSpPr/>
          <p:nvPr/>
        </p:nvSpPr>
        <p:spPr>
          <a:xfrm>
            <a:off x="7320961" y="4091757"/>
            <a:ext cx="1592428" cy="1592428"/>
          </a:xfrm>
          <a:prstGeom prst="ellipse">
            <a:avLst/>
          </a:prstGeom>
          <a:solidFill>
            <a:srgbClr val="4B6C9F"/>
          </a:solidFill>
          <a:ln w="12700">
            <a:solidFill>
              <a:srgbClr val="4B6C9F"/>
            </a:solidFill>
            <a:prstDash val="solid"/>
          </a:ln>
        </p:spPr>
        <p:txBody>
          <a:bodyPr/>
          <a:lstStyle/>
          <a:p>
            <a:endParaRPr lang="en-US"/>
          </a:p>
        </p:txBody>
      </p:sp>
      <p:pic>
        <p:nvPicPr>
          <p:cNvPr id="12" name="Step icon 2" descr="preencoded.png"/>
          <p:cNvPicPr>
            <a:picLocks noChangeAspect="1"/>
          </p:cNvPicPr>
          <p:nvPr/>
        </p:nvPicPr>
        <p:blipFill>
          <a:blip r:embed="rId5"/>
          <a:stretch>
            <a:fillRect/>
          </a:stretch>
        </p:blipFill>
        <p:spPr>
          <a:xfrm>
            <a:off x="7718999" y="4489887"/>
            <a:ext cx="796260" cy="796260"/>
          </a:xfrm>
          <a:prstGeom prst="rect">
            <a:avLst/>
          </a:prstGeom>
        </p:spPr>
      </p:pic>
      <p:sp>
        <p:nvSpPr>
          <p:cNvPr id="13" name="Step number 2"/>
          <p:cNvSpPr txBox="1"/>
          <p:nvPr/>
        </p:nvSpPr>
        <p:spPr>
          <a:xfrm>
            <a:off x="10306842" y="4202308"/>
            <a:ext cx="884682" cy="884682"/>
          </a:xfrm>
          <a:prstGeom prst="rect">
            <a:avLst/>
          </a:prstGeom>
          <a:noFill/>
          <a:ln/>
        </p:spPr>
        <p:txBody>
          <a:bodyPr wrap="square" lIns="0" tIns="0" rIns="0" bIns="0" rtlCol="0" anchor="t"/>
          <a:lstStyle/>
          <a:p>
            <a:pPr marL="0" indent="0" algn="r">
              <a:buNone/>
            </a:pPr>
            <a:r>
              <a:rPr lang="en-US" sz="4840" dirty="0">
                <a:solidFill>
                  <a:srgbClr val="CFC3B3"/>
                </a:solidFill>
                <a:latin typeface="Arial" pitchFamily="34" charset="0"/>
                <a:ea typeface="Arial" pitchFamily="34" charset="-122"/>
                <a:cs typeface="Arial" pitchFamily="34" charset="-120"/>
              </a:rPr>
              <a:t>2</a:t>
            </a:r>
            <a:endParaRPr lang="en-US" sz="4840" dirty="0"/>
          </a:p>
        </p:txBody>
      </p:sp>
      <p:sp>
        <p:nvSpPr>
          <p:cNvPr id="14" name="Step head 2"/>
          <p:cNvSpPr txBox="1"/>
          <p:nvPr/>
        </p:nvSpPr>
        <p:spPr>
          <a:xfrm>
            <a:off x="7320961" y="6192957"/>
            <a:ext cx="3981206" cy="928939"/>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Measure</a:t>
            </a:r>
            <a:endParaRPr lang="en-US" sz="4350" dirty="0"/>
          </a:p>
        </p:txBody>
      </p:sp>
      <p:sp>
        <p:nvSpPr>
          <p:cNvPr id="15" name="Step body 2"/>
          <p:cNvSpPr txBox="1"/>
          <p:nvPr/>
        </p:nvSpPr>
        <p:spPr>
          <a:xfrm>
            <a:off x="7320961" y="7254575"/>
            <a:ext cx="3981206" cy="3096433"/>
          </a:xfrm>
          <a:prstGeom prst="rect">
            <a:avLst/>
          </a:prstGeom>
          <a:noFill/>
          <a:ln/>
        </p:spPr>
        <p:txBody>
          <a:bodyPr wrap="square" lIns="0" tIns="0" rIns="0" bIns="0" rtlCol="0" anchor="t"/>
          <a:lstStyle/>
          <a:p>
            <a:pPr marL="0" indent="0">
              <a:buNone/>
            </a:pPr>
            <a:r>
              <a:rPr lang="en-US" sz="3140" dirty="0">
                <a:solidFill>
                  <a:srgbClr val="303533"/>
                </a:solidFill>
                <a:latin typeface="Arial" pitchFamily="34" charset="0"/>
                <a:ea typeface="Arial" pitchFamily="34" charset="-122"/>
                <a:cs typeface="Arial" pitchFamily="34" charset="-120"/>
              </a:rPr>
              <a:t>Gap hours, campus days, room use and a quality score for every student.</a:t>
            </a:r>
            <a:endParaRPr lang="en-US" sz="3140" dirty="0"/>
          </a:p>
        </p:txBody>
      </p:sp>
      <p:pic>
        <p:nvPicPr>
          <p:cNvPr id="16" name="Step arrow 2" descr="preencoded.png"/>
          <p:cNvPicPr>
            <a:picLocks noChangeAspect="1"/>
          </p:cNvPicPr>
          <p:nvPr/>
        </p:nvPicPr>
        <p:blipFill>
          <a:blip r:embed="rId4"/>
          <a:stretch>
            <a:fillRect/>
          </a:stretch>
        </p:blipFill>
        <p:spPr>
          <a:xfrm>
            <a:off x="11722334" y="6635252"/>
            <a:ext cx="442387" cy="884682"/>
          </a:xfrm>
          <a:prstGeom prst="rect">
            <a:avLst/>
          </a:prstGeom>
        </p:spPr>
      </p:pic>
      <p:sp>
        <p:nvSpPr>
          <p:cNvPr id="17" name="Step card 3"/>
          <p:cNvSpPr/>
          <p:nvPr/>
        </p:nvSpPr>
        <p:spPr>
          <a:xfrm>
            <a:off x="12208886" y="3538819"/>
            <a:ext cx="4910145" cy="7077639"/>
          </a:xfrm>
          <a:prstGeom prst="roundRect">
            <a:avLst>
              <a:gd name="adj" fmla="val 2702"/>
            </a:avLst>
          </a:prstGeom>
          <a:solidFill>
            <a:srgbClr val="FFFFFF"/>
          </a:solidFill>
          <a:ln w="12700">
            <a:solidFill>
              <a:srgbClr val="E3DBCF"/>
            </a:solidFill>
            <a:prstDash val="solid"/>
          </a:ln>
        </p:spPr>
        <p:txBody>
          <a:bodyPr/>
          <a:lstStyle/>
          <a:p>
            <a:endParaRPr lang="en-US"/>
          </a:p>
        </p:txBody>
      </p:sp>
      <p:sp>
        <p:nvSpPr>
          <p:cNvPr id="18" name="Step icon bg 3"/>
          <p:cNvSpPr/>
          <p:nvPr/>
        </p:nvSpPr>
        <p:spPr>
          <a:xfrm>
            <a:off x="12761824" y="4091757"/>
            <a:ext cx="1592428" cy="1592428"/>
          </a:xfrm>
          <a:prstGeom prst="ellipse">
            <a:avLst/>
          </a:prstGeom>
          <a:solidFill>
            <a:srgbClr val="F4A252"/>
          </a:solidFill>
          <a:ln w="12700">
            <a:solidFill>
              <a:srgbClr val="F4A252"/>
            </a:solidFill>
            <a:prstDash val="solid"/>
          </a:ln>
        </p:spPr>
        <p:txBody>
          <a:bodyPr/>
          <a:lstStyle/>
          <a:p>
            <a:endParaRPr lang="en-US"/>
          </a:p>
        </p:txBody>
      </p:sp>
      <p:pic>
        <p:nvPicPr>
          <p:cNvPr id="19" name="Step icon 3" descr="preencoded.png"/>
          <p:cNvPicPr>
            <a:picLocks noChangeAspect="1"/>
          </p:cNvPicPr>
          <p:nvPr/>
        </p:nvPicPr>
        <p:blipFill>
          <a:blip r:embed="rId6"/>
          <a:stretch>
            <a:fillRect/>
          </a:stretch>
        </p:blipFill>
        <p:spPr>
          <a:xfrm>
            <a:off x="13159953" y="4489887"/>
            <a:ext cx="796260" cy="796260"/>
          </a:xfrm>
          <a:prstGeom prst="rect">
            <a:avLst/>
          </a:prstGeom>
        </p:spPr>
      </p:pic>
      <p:sp>
        <p:nvSpPr>
          <p:cNvPr id="20" name="Step number 3"/>
          <p:cNvSpPr txBox="1"/>
          <p:nvPr/>
        </p:nvSpPr>
        <p:spPr>
          <a:xfrm>
            <a:off x="15747705" y="4202308"/>
            <a:ext cx="884682" cy="884682"/>
          </a:xfrm>
          <a:prstGeom prst="rect">
            <a:avLst/>
          </a:prstGeom>
          <a:noFill/>
          <a:ln/>
        </p:spPr>
        <p:txBody>
          <a:bodyPr wrap="square" lIns="0" tIns="0" rIns="0" bIns="0" rtlCol="0" anchor="t"/>
          <a:lstStyle/>
          <a:p>
            <a:pPr marL="0" indent="0" algn="r">
              <a:buNone/>
            </a:pPr>
            <a:r>
              <a:rPr lang="en-US" sz="4840" dirty="0">
                <a:solidFill>
                  <a:srgbClr val="CFC3B3"/>
                </a:solidFill>
                <a:latin typeface="Arial" pitchFamily="34" charset="0"/>
                <a:ea typeface="Arial" pitchFamily="34" charset="-122"/>
                <a:cs typeface="Arial" pitchFamily="34" charset="-120"/>
              </a:rPr>
              <a:t>3</a:t>
            </a:r>
            <a:endParaRPr lang="en-US" sz="4840" dirty="0"/>
          </a:p>
        </p:txBody>
      </p:sp>
      <p:sp>
        <p:nvSpPr>
          <p:cNvPr id="21" name="Step head 3"/>
          <p:cNvSpPr txBox="1"/>
          <p:nvPr/>
        </p:nvSpPr>
        <p:spPr>
          <a:xfrm>
            <a:off x="12761824" y="6192957"/>
            <a:ext cx="3981206" cy="928939"/>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Improve</a:t>
            </a:r>
            <a:endParaRPr lang="en-US" sz="4350" dirty="0"/>
          </a:p>
        </p:txBody>
      </p:sp>
      <p:sp>
        <p:nvSpPr>
          <p:cNvPr id="22" name="Step body 3"/>
          <p:cNvSpPr txBox="1"/>
          <p:nvPr/>
        </p:nvSpPr>
        <p:spPr>
          <a:xfrm>
            <a:off x="12761824" y="7254575"/>
            <a:ext cx="3981206" cy="3096433"/>
          </a:xfrm>
          <a:prstGeom prst="rect">
            <a:avLst/>
          </a:prstGeom>
          <a:noFill/>
          <a:ln/>
        </p:spPr>
        <p:txBody>
          <a:bodyPr wrap="square" lIns="0" tIns="0" rIns="0" bIns="0" rtlCol="0" anchor="t"/>
          <a:lstStyle/>
          <a:p>
            <a:pPr marL="0" indent="0">
              <a:buNone/>
            </a:pPr>
            <a:r>
              <a:rPr lang="en-US" sz="3140" dirty="0">
                <a:solidFill>
                  <a:srgbClr val="303533"/>
                </a:solidFill>
                <a:latin typeface="Arial" pitchFamily="34" charset="0"/>
                <a:ea typeface="Arial" pitchFamily="34" charset="-122"/>
                <a:cs typeface="Arial" pitchFamily="34" charset="-120"/>
              </a:rPr>
              <a:t>A solver searches valid timetables; six AI agents explain the trade-offs.</a:t>
            </a:r>
            <a:endParaRPr lang="en-US" sz="3140" dirty="0"/>
          </a:p>
        </p:txBody>
      </p:sp>
      <p:pic>
        <p:nvPicPr>
          <p:cNvPr id="23" name="Step arrow 3" descr="preencoded.png"/>
          <p:cNvPicPr>
            <a:picLocks noChangeAspect="1"/>
          </p:cNvPicPr>
          <p:nvPr/>
        </p:nvPicPr>
        <p:blipFill>
          <a:blip r:embed="rId4"/>
          <a:stretch>
            <a:fillRect/>
          </a:stretch>
        </p:blipFill>
        <p:spPr>
          <a:xfrm>
            <a:off x="17163288" y="6635252"/>
            <a:ext cx="442387" cy="884682"/>
          </a:xfrm>
          <a:prstGeom prst="rect">
            <a:avLst/>
          </a:prstGeom>
        </p:spPr>
      </p:pic>
      <p:sp>
        <p:nvSpPr>
          <p:cNvPr id="24" name="Step card 4"/>
          <p:cNvSpPr/>
          <p:nvPr/>
        </p:nvSpPr>
        <p:spPr>
          <a:xfrm>
            <a:off x="17649840" y="3538819"/>
            <a:ext cx="4910145" cy="7077639"/>
          </a:xfrm>
          <a:prstGeom prst="roundRect">
            <a:avLst>
              <a:gd name="adj" fmla="val 2702"/>
            </a:avLst>
          </a:prstGeom>
          <a:solidFill>
            <a:srgbClr val="FFFFFF"/>
          </a:solidFill>
          <a:ln w="12700">
            <a:solidFill>
              <a:srgbClr val="E3DBCF"/>
            </a:solidFill>
            <a:prstDash val="solid"/>
          </a:ln>
        </p:spPr>
        <p:txBody>
          <a:bodyPr/>
          <a:lstStyle/>
          <a:p>
            <a:endParaRPr lang="en-US"/>
          </a:p>
        </p:txBody>
      </p:sp>
      <p:sp>
        <p:nvSpPr>
          <p:cNvPr id="25" name="Step icon bg 4"/>
          <p:cNvSpPr/>
          <p:nvPr/>
        </p:nvSpPr>
        <p:spPr>
          <a:xfrm>
            <a:off x="18202778" y="4091757"/>
            <a:ext cx="1592428" cy="1592428"/>
          </a:xfrm>
          <a:prstGeom prst="ellipse">
            <a:avLst/>
          </a:prstGeom>
          <a:solidFill>
            <a:srgbClr val="529573"/>
          </a:solidFill>
          <a:ln w="12700">
            <a:solidFill>
              <a:srgbClr val="529573"/>
            </a:solidFill>
            <a:prstDash val="solid"/>
          </a:ln>
        </p:spPr>
        <p:txBody>
          <a:bodyPr/>
          <a:lstStyle/>
          <a:p>
            <a:endParaRPr lang="en-US"/>
          </a:p>
        </p:txBody>
      </p:sp>
      <p:pic>
        <p:nvPicPr>
          <p:cNvPr id="26" name="Step icon 4" descr="preencoded.png"/>
          <p:cNvPicPr>
            <a:picLocks noChangeAspect="1"/>
          </p:cNvPicPr>
          <p:nvPr/>
        </p:nvPicPr>
        <p:blipFill>
          <a:blip r:embed="rId7"/>
          <a:stretch>
            <a:fillRect/>
          </a:stretch>
        </p:blipFill>
        <p:spPr>
          <a:xfrm>
            <a:off x="18600908" y="4489887"/>
            <a:ext cx="796260" cy="796260"/>
          </a:xfrm>
          <a:prstGeom prst="rect">
            <a:avLst/>
          </a:prstGeom>
        </p:spPr>
      </p:pic>
      <p:sp>
        <p:nvSpPr>
          <p:cNvPr id="27" name="Step number 4"/>
          <p:cNvSpPr txBox="1"/>
          <p:nvPr/>
        </p:nvSpPr>
        <p:spPr>
          <a:xfrm>
            <a:off x="21188660" y="4202308"/>
            <a:ext cx="884682" cy="884682"/>
          </a:xfrm>
          <a:prstGeom prst="rect">
            <a:avLst/>
          </a:prstGeom>
          <a:noFill/>
          <a:ln/>
        </p:spPr>
        <p:txBody>
          <a:bodyPr wrap="square" lIns="0" tIns="0" rIns="0" bIns="0" rtlCol="0" anchor="t"/>
          <a:lstStyle/>
          <a:p>
            <a:pPr marL="0" indent="0" algn="r">
              <a:buNone/>
            </a:pPr>
            <a:r>
              <a:rPr lang="en-US" sz="4840" dirty="0">
                <a:solidFill>
                  <a:srgbClr val="CFC3B3"/>
                </a:solidFill>
                <a:latin typeface="Arial" pitchFamily="34" charset="0"/>
                <a:ea typeface="Arial" pitchFamily="34" charset="-122"/>
                <a:cs typeface="Arial" pitchFamily="34" charset="-120"/>
              </a:rPr>
              <a:t>4</a:t>
            </a:r>
            <a:endParaRPr lang="en-US" sz="4840" dirty="0"/>
          </a:p>
        </p:txBody>
      </p:sp>
      <p:sp>
        <p:nvSpPr>
          <p:cNvPr id="28" name="Step head 4"/>
          <p:cNvSpPr txBox="1"/>
          <p:nvPr/>
        </p:nvSpPr>
        <p:spPr>
          <a:xfrm>
            <a:off x="18202778" y="6192957"/>
            <a:ext cx="3981206" cy="928939"/>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Approve</a:t>
            </a:r>
            <a:endParaRPr lang="en-US" sz="4350" dirty="0"/>
          </a:p>
        </p:txBody>
      </p:sp>
      <p:sp>
        <p:nvSpPr>
          <p:cNvPr id="29" name="Step body 4"/>
          <p:cNvSpPr txBox="1"/>
          <p:nvPr/>
        </p:nvSpPr>
        <p:spPr>
          <a:xfrm>
            <a:off x="18202778" y="7254575"/>
            <a:ext cx="3981206" cy="3096433"/>
          </a:xfrm>
          <a:prstGeom prst="rect">
            <a:avLst/>
          </a:prstGeom>
          <a:noFill/>
          <a:ln/>
        </p:spPr>
        <p:txBody>
          <a:bodyPr wrap="square" lIns="0" tIns="0" rIns="0" bIns="0" rtlCol="0" anchor="t"/>
          <a:lstStyle/>
          <a:p>
            <a:pPr marL="0" indent="0">
              <a:buNone/>
            </a:pPr>
            <a:r>
              <a:rPr lang="en-US" sz="3140" dirty="0">
                <a:solidFill>
                  <a:srgbClr val="303533"/>
                </a:solidFill>
                <a:latin typeface="Arial" pitchFamily="34" charset="0"/>
                <a:ea typeface="Arial" pitchFamily="34" charset="-122"/>
                <a:cs typeface="Arial" pitchFamily="34" charset="-120"/>
              </a:rPr>
              <a:t>The committee reviews the evidence. Nothing is published without a person.</a:t>
            </a:r>
            <a:endParaRPr lang="en-US" sz="3140" dirty="0"/>
          </a:p>
        </p:txBody>
      </p:sp>
      <p:pic>
        <p:nvPicPr>
          <p:cNvPr id="30" name="Step arrow 4" descr="preencoded.png"/>
          <p:cNvPicPr>
            <a:picLocks noChangeAspect="1"/>
          </p:cNvPicPr>
          <p:nvPr/>
        </p:nvPicPr>
        <p:blipFill>
          <a:blip r:embed="rId4"/>
          <a:stretch>
            <a:fillRect/>
          </a:stretch>
        </p:blipFill>
        <p:spPr>
          <a:xfrm>
            <a:off x="22604151" y="6635252"/>
            <a:ext cx="442387" cy="884682"/>
          </a:xfrm>
          <a:prstGeom prst="rect">
            <a:avLst/>
          </a:prstGeom>
        </p:spPr>
      </p:pic>
      <p:sp>
        <p:nvSpPr>
          <p:cNvPr id="31" name="Step card 5"/>
          <p:cNvSpPr/>
          <p:nvPr/>
        </p:nvSpPr>
        <p:spPr>
          <a:xfrm>
            <a:off x="23090795" y="3538819"/>
            <a:ext cx="4910145" cy="7077639"/>
          </a:xfrm>
          <a:prstGeom prst="roundRect">
            <a:avLst>
              <a:gd name="adj" fmla="val 2702"/>
            </a:avLst>
          </a:prstGeom>
          <a:solidFill>
            <a:srgbClr val="FFFFFF"/>
          </a:solidFill>
          <a:ln w="12700">
            <a:solidFill>
              <a:srgbClr val="E3DBCF"/>
            </a:solidFill>
            <a:prstDash val="solid"/>
          </a:ln>
        </p:spPr>
        <p:txBody>
          <a:bodyPr/>
          <a:lstStyle/>
          <a:p>
            <a:endParaRPr lang="en-US"/>
          </a:p>
        </p:txBody>
      </p:sp>
      <p:sp>
        <p:nvSpPr>
          <p:cNvPr id="32" name="Step icon bg 5"/>
          <p:cNvSpPr/>
          <p:nvPr/>
        </p:nvSpPr>
        <p:spPr>
          <a:xfrm>
            <a:off x="23643732" y="4091757"/>
            <a:ext cx="1592428" cy="1592428"/>
          </a:xfrm>
          <a:prstGeom prst="ellipse">
            <a:avLst/>
          </a:prstGeom>
          <a:solidFill>
            <a:srgbClr val="529573"/>
          </a:solidFill>
          <a:ln w="12700">
            <a:solidFill>
              <a:srgbClr val="529573"/>
            </a:solidFill>
            <a:prstDash val="solid"/>
          </a:ln>
        </p:spPr>
        <p:txBody>
          <a:bodyPr/>
          <a:lstStyle/>
          <a:p>
            <a:endParaRPr lang="en-US"/>
          </a:p>
        </p:txBody>
      </p:sp>
      <p:pic>
        <p:nvPicPr>
          <p:cNvPr id="33" name="Step icon 5" descr="preencoded.png"/>
          <p:cNvPicPr>
            <a:picLocks noChangeAspect="1"/>
          </p:cNvPicPr>
          <p:nvPr/>
        </p:nvPicPr>
        <p:blipFill>
          <a:blip r:embed="rId8"/>
          <a:stretch>
            <a:fillRect/>
          </a:stretch>
        </p:blipFill>
        <p:spPr>
          <a:xfrm>
            <a:off x="24041862" y="4489887"/>
            <a:ext cx="796260" cy="796260"/>
          </a:xfrm>
          <a:prstGeom prst="rect">
            <a:avLst/>
          </a:prstGeom>
        </p:spPr>
      </p:pic>
      <p:sp>
        <p:nvSpPr>
          <p:cNvPr id="34" name="Step number 5"/>
          <p:cNvSpPr txBox="1"/>
          <p:nvPr/>
        </p:nvSpPr>
        <p:spPr>
          <a:xfrm>
            <a:off x="26629614" y="4202308"/>
            <a:ext cx="884682" cy="884682"/>
          </a:xfrm>
          <a:prstGeom prst="rect">
            <a:avLst/>
          </a:prstGeom>
          <a:noFill/>
          <a:ln/>
        </p:spPr>
        <p:txBody>
          <a:bodyPr wrap="square" lIns="0" tIns="0" rIns="0" bIns="0" rtlCol="0" anchor="t"/>
          <a:lstStyle/>
          <a:p>
            <a:pPr marL="0" indent="0" algn="r">
              <a:buNone/>
            </a:pPr>
            <a:r>
              <a:rPr lang="en-US" sz="4840" dirty="0">
                <a:solidFill>
                  <a:srgbClr val="CFC3B3"/>
                </a:solidFill>
                <a:latin typeface="Arial" pitchFamily="34" charset="0"/>
                <a:ea typeface="Arial" pitchFamily="34" charset="-122"/>
                <a:cs typeface="Arial" pitchFamily="34" charset="-120"/>
              </a:rPr>
              <a:t>5</a:t>
            </a:r>
            <a:endParaRPr lang="en-US" sz="4840" dirty="0"/>
          </a:p>
        </p:txBody>
      </p:sp>
      <p:sp>
        <p:nvSpPr>
          <p:cNvPr id="35" name="Step head 5"/>
          <p:cNvSpPr txBox="1"/>
          <p:nvPr/>
        </p:nvSpPr>
        <p:spPr>
          <a:xfrm>
            <a:off x="23643732" y="6192957"/>
            <a:ext cx="3981206" cy="928939"/>
          </a:xfrm>
          <a:prstGeom prst="rect">
            <a:avLst/>
          </a:prstGeom>
          <a:noFill/>
          <a:ln/>
        </p:spPr>
        <p:txBody>
          <a:bodyPr wrap="square" lIns="0" tIns="0" rIns="0" bIns="0" rtlCol="0" anchor="t"/>
          <a:lstStyle/>
          <a:p>
            <a:pPr marL="0" indent="0">
              <a:buNone/>
            </a:pPr>
            <a:r>
              <a:rPr lang="en-US" sz="4350" b="1" dirty="0">
                <a:solidFill>
                  <a:schemeClr val="tx1"/>
                </a:solidFill>
                <a:latin typeface="Arial" pitchFamily="34" charset="0"/>
                <a:ea typeface="Arial" pitchFamily="34" charset="-122"/>
                <a:cs typeface="Arial" pitchFamily="34" charset="-120"/>
              </a:rPr>
              <a:t>Export</a:t>
            </a:r>
            <a:endParaRPr lang="en-US" sz="4350" dirty="0"/>
          </a:p>
        </p:txBody>
      </p:sp>
      <p:sp>
        <p:nvSpPr>
          <p:cNvPr id="36" name="Step body 5"/>
          <p:cNvSpPr txBox="1"/>
          <p:nvPr/>
        </p:nvSpPr>
        <p:spPr>
          <a:xfrm>
            <a:off x="23643732" y="7254575"/>
            <a:ext cx="3981206" cy="3096433"/>
          </a:xfrm>
          <a:prstGeom prst="rect">
            <a:avLst/>
          </a:prstGeom>
          <a:noFill/>
          <a:ln/>
        </p:spPr>
        <p:txBody>
          <a:bodyPr wrap="square" lIns="0" tIns="0" rIns="0" bIns="0" rtlCol="0" anchor="t"/>
          <a:lstStyle/>
          <a:p>
            <a:pPr marL="0" indent="0">
              <a:buNone/>
            </a:pPr>
            <a:r>
              <a:rPr lang="en-US" sz="3140" dirty="0">
                <a:solidFill>
                  <a:srgbClr val="303533"/>
                </a:solidFill>
                <a:latin typeface="Arial" pitchFamily="34" charset="0"/>
                <a:ea typeface="Arial" pitchFamily="34" charset="-122"/>
                <a:cs typeface="Arial" pitchFamily="34" charset="-120"/>
              </a:rPr>
              <a:t>Print the result in the Edugate layout, changed rows marked.</a:t>
            </a:r>
            <a:endParaRPr lang="en-US" sz="3140" dirty="0"/>
          </a:p>
        </p:txBody>
      </p:sp>
      <p:sp>
        <p:nvSpPr>
          <p:cNvPr id="37" name="Users label"/>
          <p:cNvSpPr txBox="1"/>
          <p:nvPr/>
        </p:nvSpPr>
        <p:spPr>
          <a:xfrm>
            <a:off x="1327069" y="11456883"/>
            <a:ext cx="4423501" cy="663489"/>
          </a:xfrm>
          <a:prstGeom prst="rect">
            <a:avLst/>
          </a:prstGeom>
          <a:noFill/>
          <a:ln/>
        </p:spPr>
        <p:txBody>
          <a:bodyPr wrap="square" lIns="0" tIns="0" rIns="0" bIns="0" rtlCol="0" anchor="t"/>
          <a:lstStyle/>
          <a:p>
            <a:pPr marL="0" indent="0">
              <a:buNone/>
            </a:pPr>
            <a:r>
              <a:rPr lang="en-US" sz="2420" b="1" kern="0" spc="480" dirty="0">
                <a:solidFill>
                  <a:srgbClr val="68645B"/>
                </a:solidFill>
                <a:latin typeface="Arial" pitchFamily="34" charset="0"/>
                <a:ea typeface="Arial" pitchFamily="34" charset="-122"/>
                <a:cs typeface="Arial" pitchFamily="34" charset="-120"/>
              </a:rPr>
              <a:t>BUILT FOR</a:t>
            </a:r>
            <a:endParaRPr lang="en-US" sz="2420" dirty="0"/>
          </a:p>
        </p:txBody>
      </p:sp>
      <p:sp>
        <p:nvSpPr>
          <p:cNvPr id="38" name="User chip 1"/>
          <p:cNvSpPr/>
          <p:nvPr/>
        </p:nvSpPr>
        <p:spPr>
          <a:xfrm>
            <a:off x="1327069" y="12275271"/>
            <a:ext cx="4777374" cy="1061618"/>
          </a:xfrm>
          <a:prstGeom prst="roundRect">
            <a:avLst>
              <a:gd name="adj" fmla="val 50000"/>
            </a:avLst>
          </a:prstGeom>
          <a:solidFill>
            <a:srgbClr val="F3ECDF"/>
          </a:solidFill>
          <a:ln w="12700">
            <a:solidFill>
              <a:srgbClr val="F3ECDF"/>
            </a:solidFill>
            <a:prstDash val="solid"/>
          </a:ln>
        </p:spPr>
        <p:txBody>
          <a:bodyPr/>
          <a:lstStyle/>
          <a:p>
            <a:endParaRPr lang="en-US"/>
          </a:p>
        </p:txBody>
      </p:sp>
      <p:sp>
        <p:nvSpPr>
          <p:cNvPr id="39" name="User 1"/>
          <p:cNvSpPr txBox="1"/>
          <p:nvPr/>
        </p:nvSpPr>
        <p:spPr>
          <a:xfrm>
            <a:off x="1327069" y="12275271"/>
            <a:ext cx="4777374" cy="1061618"/>
          </a:xfrm>
          <a:prstGeom prst="rect">
            <a:avLst/>
          </a:prstGeom>
          <a:noFill/>
          <a:ln/>
        </p:spPr>
        <p:txBody>
          <a:bodyPr wrap="square" lIns="0" tIns="0" rIns="0" bIns="0" rtlCol="0" anchor="ctr"/>
          <a:lstStyle/>
          <a:p>
            <a:pPr marL="0" indent="0" algn="ctr">
              <a:buNone/>
            </a:pPr>
            <a:r>
              <a:rPr lang="en-US" sz="2900" dirty="0">
                <a:solidFill>
                  <a:schemeClr val="tx1"/>
                </a:solidFill>
                <a:latin typeface="Arial" pitchFamily="34" charset="0"/>
                <a:ea typeface="Arial" pitchFamily="34" charset="-122"/>
                <a:cs typeface="Arial" pitchFamily="34" charset="-120"/>
              </a:rPr>
              <a:t>Scheduling committee</a:t>
            </a:r>
            <a:endParaRPr lang="en-US" sz="2900" dirty="0"/>
          </a:p>
        </p:txBody>
      </p:sp>
      <p:sp>
        <p:nvSpPr>
          <p:cNvPr id="40" name="User chip 2"/>
          <p:cNvSpPr/>
          <p:nvPr/>
        </p:nvSpPr>
        <p:spPr>
          <a:xfrm>
            <a:off x="6502573" y="12275271"/>
            <a:ext cx="3998854" cy="1061618"/>
          </a:xfrm>
          <a:prstGeom prst="roundRect">
            <a:avLst>
              <a:gd name="adj" fmla="val 50000"/>
            </a:avLst>
          </a:prstGeom>
          <a:solidFill>
            <a:srgbClr val="F3ECDF"/>
          </a:solidFill>
          <a:ln w="12700">
            <a:solidFill>
              <a:srgbClr val="F3ECDF"/>
            </a:solidFill>
            <a:prstDash val="solid"/>
          </a:ln>
        </p:spPr>
        <p:txBody>
          <a:bodyPr/>
          <a:lstStyle/>
          <a:p>
            <a:endParaRPr lang="en-US"/>
          </a:p>
        </p:txBody>
      </p:sp>
      <p:sp>
        <p:nvSpPr>
          <p:cNvPr id="41" name="User 2"/>
          <p:cNvSpPr txBox="1"/>
          <p:nvPr/>
        </p:nvSpPr>
        <p:spPr>
          <a:xfrm>
            <a:off x="6502573" y="12275271"/>
            <a:ext cx="3998854" cy="1061618"/>
          </a:xfrm>
          <a:prstGeom prst="rect">
            <a:avLst/>
          </a:prstGeom>
          <a:noFill/>
          <a:ln/>
        </p:spPr>
        <p:txBody>
          <a:bodyPr wrap="square" lIns="0" tIns="0" rIns="0" bIns="0" rtlCol="0" anchor="ctr"/>
          <a:lstStyle/>
          <a:p>
            <a:pPr marL="0" indent="0" algn="ctr">
              <a:buNone/>
            </a:pPr>
            <a:r>
              <a:rPr lang="en-US" sz="2900" dirty="0">
                <a:solidFill>
                  <a:schemeClr val="tx1"/>
                </a:solidFill>
                <a:latin typeface="Arial" pitchFamily="34" charset="0"/>
                <a:ea typeface="Arial" pitchFamily="34" charset="-122"/>
                <a:cs typeface="Arial" pitchFamily="34" charset="-120"/>
              </a:rPr>
              <a:t>Department chair</a:t>
            </a:r>
            <a:endParaRPr lang="en-US" sz="2900" dirty="0"/>
          </a:p>
        </p:txBody>
      </p:sp>
      <p:sp>
        <p:nvSpPr>
          <p:cNvPr id="42" name="User chip 3"/>
          <p:cNvSpPr/>
          <p:nvPr/>
        </p:nvSpPr>
        <p:spPr>
          <a:xfrm>
            <a:off x="10899557" y="12275271"/>
            <a:ext cx="9643262" cy="1061618"/>
          </a:xfrm>
          <a:prstGeom prst="roundRect">
            <a:avLst>
              <a:gd name="adj" fmla="val 50000"/>
            </a:avLst>
          </a:prstGeom>
          <a:solidFill>
            <a:srgbClr val="F3ECDF"/>
          </a:solidFill>
          <a:ln w="12700">
            <a:solidFill>
              <a:srgbClr val="F3ECDF"/>
            </a:solidFill>
            <a:prstDash val="solid"/>
          </a:ln>
        </p:spPr>
        <p:txBody>
          <a:bodyPr/>
          <a:lstStyle/>
          <a:p>
            <a:endParaRPr lang="en-US"/>
          </a:p>
        </p:txBody>
      </p:sp>
      <p:sp>
        <p:nvSpPr>
          <p:cNvPr id="43" name="User 3"/>
          <p:cNvSpPr txBox="1"/>
          <p:nvPr/>
        </p:nvSpPr>
        <p:spPr>
          <a:xfrm>
            <a:off x="10899557" y="12275271"/>
            <a:ext cx="9643262" cy="1061618"/>
          </a:xfrm>
          <a:prstGeom prst="rect">
            <a:avLst/>
          </a:prstGeom>
          <a:noFill/>
          <a:ln/>
        </p:spPr>
        <p:txBody>
          <a:bodyPr wrap="square" lIns="0" tIns="0" rIns="0" bIns="0" rtlCol="0" anchor="ctr"/>
          <a:lstStyle/>
          <a:p>
            <a:pPr marL="0" indent="0" algn="ctr">
              <a:buNone/>
            </a:pPr>
            <a:r>
              <a:rPr lang="en-US" sz="2900" dirty="0">
                <a:solidFill>
                  <a:schemeClr val="tx1"/>
                </a:solidFill>
                <a:latin typeface="Arial" pitchFamily="34" charset="0"/>
                <a:ea typeface="Arial" pitchFamily="34" charset="-122"/>
                <a:cs typeface="Arial" pitchFamily="34" charset="-120"/>
              </a:rPr>
              <a:t>Professors · “Ask Mizan” in Arabic or English</a:t>
            </a:r>
            <a:endParaRPr lang="en-US" sz="2900" dirty="0"/>
          </a:p>
        </p:txBody>
      </p:sp>
      <p:sp>
        <p:nvSpPr>
          <p:cNvPr id="44" name="User chip 4"/>
          <p:cNvSpPr/>
          <p:nvPr/>
        </p:nvSpPr>
        <p:spPr>
          <a:xfrm>
            <a:off x="20940949" y="12275271"/>
            <a:ext cx="2441814" cy="1061618"/>
          </a:xfrm>
          <a:prstGeom prst="roundRect">
            <a:avLst>
              <a:gd name="adj" fmla="val 50000"/>
            </a:avLst>
          </a:prstGeom>
          <a:solidFill>
            <a:srgbClr val="F3ECDF"/>
          </a:solidFill>
          <a:ln w="12700">
            <a:solidFill>
              <a:srgbClr val="F3ECDF"/>
            </a:solidFill>
            <a:prstDash val="solid"/>
          </a:ln>
        </p:spPr>
        <p:txBody>
          <a:bodyPr/>
          <a:lstStyle/>
          <a:p>
            <a:endParaRPr lang="en-US"/>
          </a:p>
        </p:txBody>
      </p:sp>
      <p:sp>
        <p:nvSpPr>
          <p:cNvPr id="45" name="User 4"/>
          <p:cNvSpPr txBox="1"/>
          <p:nvPr/>
        </p:nvSpPr>
        <p:spPr>
          <a:xfrm>
            <a:off x="20940949" y="12275271"/>
            <a:ext cx="2441814" cy="1061618"/>
          </a:xfrm>
          <a:prstGeom prst="rect">
            <a:avLst/>
          </a:prstGeom>
          <a:noFill/>
          <a:ln/>
        </p:spPr>
        <p:txBody>
          <a:bodyPr wrap="square" lIns="0" tIns="0" rIns="0" bIns="0" rtlCol="0" anchor="ctr"/>
          <a:lstStyle/>
          <a:p>
            <a:pPr marL="0" indent="0" algn="ctr">
              <a:buNone/>
            </a:pPr>
            <a:r>
              <a:rPr lang="en-US" sz="2900" dirty="0">
                <a:solidFill>
                  <a:schemeClr val="tx1"/>
                </a:solidFill>
                <a:latin typeface="Arial" pitchFamily="34" charset="0"/>
                <a:ea typeface="Arial" pitchFamily="34" charset="-122"/>
                <a:cs typeface="Arial" pitchFamily="34" charset="-120"/>
              </a:rPr>
              <a:t>Students</a:t>
            </a:r>
            <a:endParaRPr lang="en-US" sz="2900" dirty="0"/>
          </a:p>
        </p:txBody>
      </p:sp>
      <p:sp>
        <p:nvSpPr>
          <p:cNvPr id="46" name="User chip 5"/>
          <p:cNvSpPr/>
          <p:nvPr/>
        </p:nvSpPr>
        <p:spPr>
          <a:xfrm>
            <a:off x="23780892" y="12275271"/>
            <a:ext cx="3804270" cy="1061618"/>
          </a:xfrm>
          <a:prstGeom prst="roundRect">
            <a:avLst>
              <a:gd name="adj" fmla="val 50000"/>
            </a:avLst>
          </a:prstGeom>
          <a:solidFill>
            <a:srgbClr val="F3ECDF"/>
          </a:solidFill>
          <a:ln w="12700">
            <a:solidFill>
              <a:srgbClr val="F3ECDF"/>
            </a:solidFill>
            <a:prstDash val="solid"/>
          </a:ln>
        </p:spPr>
        <p:txBody>
          <a:bodyPr/>
          <a:lstStyle/>
          <a:p>
            <a:endParaRPr lang="en-US"/>
          </a:p>
        </p:txBody>
      </p:sp>
      <p:sp>
        <p:nvSpPr>
          <p:cNvPr id="47" name="User 5"/>
          <p:cNvSpPr txBox="1"/>
          <p:nvPr/>
        </p:nvSpPr>
        <p:spPr>
          <a:xfrm>
            <a:off x="23780892" y="12275271"/>
            <a:ext cx="3804270" cy="1061618"/>
          </a:xfrm>
          <a:prstGeom prst="rect">
            <a:avLst/>
          </a:prstGeom>
          <a:noFill/>
          <a:ln/>
        </p:spPr>
        <p:txBody>
          <a:bodyPr wrap="square" lIns="0" tIns="0" rIns="0" bIns="0" rtlCol="0" anchor="ctr"/>
          <a:lstStyle/>
          <a:p>
            <a:pPr marL="0" indent="0" algn="ctr">
              <a:buNone/>
            </a:pPr>
            <a:r>
              <a:rPr lang="en-US" sz="2900" dirty="0">
                <a:solidFill>
                  <a:schemeClr val="tx1"/>
                </a:solidFill>
                <a:latin typeface="Arial" pitchFamily="34" charset="0"/>
                <a:ea typeface="Arial" pitchFamily="34" charset="-122"/>
                <a:cs typeface="Arial" pitchFamily="34" charset="-120"/>
              </a:rPr>
              <a:t>Hiring managers</a:t>
            </a:r>
            <a:endParaRPr lang="en-US" sz="2900" dirty="0"/>
          </a:p>
        </p:txBody>
      </p:sp>
      <p:sp>
        <p:nvSpPr>
          <p:cNvPr id="48"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327069" y="928939"/>
            <a:ext cx="26762293" cy="1769364"/>
          </a:xfrm>
          <a:prstGeom prst="rect">
            <a:avLst/>
          </a:prstGeom>
          <a:noFill/>
          <a:ln/>
        </p:spPr>
        <p:txBody>
          <a:bodyPr wrap="square" lIns="0" tIns="0" rIns="0" bIns="0" rtlCol="0" anchor="t"/>
          <a:lstStyle/>
          <a:p>
            <a:pPr marL="0" indent="0" algn="l">
              <a:buNone/>
            </a:pPr>
            <a:r>
              <a:rPr lang="en-US" sz="7260" dirty="0">
                <a:solidFill>
                  <a:schemeClr val="tx1"/>
                </a:solidFill>
                <a:latin typeface="Georgia" pitchFamily="34" charset="0"/>
                <a:ea typeface="Georgia" pitchFamily="34" charset="-122"/>
                <a:cs typeface="Georgia" pitchFamily="34" charset="-120"/>
              </a:rPr>
              <a:t>Live demo: a whole semester improved in 15 seconds</a:t>
            </a:r>
            <a:endParaRPr lang="en-US" sz="7260" dirty="0"/>
          </a:p>
        </p:txBody>
      </p:sp>
      <p:sp>
        <p:nvSpPr>
          <p:cNvPr id="3" name="Screenshot frame"/>
          <p:cNvSpPr/>
          <p:nvPr/>
        </p:nvSpPr>
        <p:spPr>
          <a:xfrm>
            <a:off x="1327069" y="3317626"/>
            <a:ext cx="16698773" cy="10903946"/>
          </a:xfrm>
          <a:prstGeom prst="rect">
            <a:avLst/>
          </a:prstGeom>
          <a:solidFill>
            <a:srgbClr val="FFFFFF"/>
          </a:solidFill>
          <a:ln w="12700">
            <a:solidFill>
              <a:srgbClr val="E3DBCF"/>
            </a:solidFill>
            <a:prstDash val="solid"/>
          </a:ln>
        </p:spPr>
        <p:txBody>
          <a:bodyPr/>
          <a:lstStyle/>
          <a:p>
            <a:endParaRPr lang="en-US"/>
          </a:p>
        </p:txBody>
      </p:sp>
      <p:pic>
        <p:nvPicPr>
          <p:cNvPr id="4" name="Mizan overview screenshot" descr="C:\Users\Admin\AppData\Local\Temp\claude\C--Users-Admin-Documents-GitHub-Mizan\b7a3e5b0-497b-48e5-8b06-72387145df4d\scratchpad\deck\img_overview.png"/>
          <p:cNvPicPr>
            <a:picLocks noChangeAspect="1"/>
          </p:cNvPicPr>
          <p:nvPr/>
        </p:nvPicPr>
        <p:blipFill>
          <a:blip r:embed="rId3"/>
          <a:srcRect/>
          <a:stretch/>
        </p:blipFill>
        <p:spPr>
          <a:xfrm>
            <a:off x="1504005" y="3494562"/>
            <a:ext cx="16344900" cy="10550073"/>
          </a:xfrm>
          <a:prstGeom prst="rect">
            <a:avLst/>
          </a:prstGeom>
        </p:spPr>
      </p:pic>
      <p:graphicFrame>
        <p:nvGraphicFramePr>
          <p:cNvPr id="5" name="Before after chart"/>
          <p:cNvGraphicFramePr/>
          <p:nvPr/>
        </p:nvGraphicFramePr>
        <p:xfrm>
          <a:off x="18910524" y="3207075"/>
          <a:ext cx="9289390" cy="5418826"/>
        </p:xfrm>
        <a:graphic>
          <a:graphicData uri="http://schemas.openxmlformats.org/drawingml/2006/chart">
            <c:chart xmlns:c="http://schemas.openxmlformats.org/drawingml/2006/chart" xmlns:r="http://schemas.openxmlformats.org/officeDocument/2006/relationships" r:id="rId4"/>
          </a:graphicData>
        </a:graphic>
      </p:graphicFrame>
      <p:sp>
        <p:nvSpPr>
          <p:cNvPr id="6" name="Demo fact 1"/>
          <p:cNvSpPr txBox="1"/>
          <p:nvPr/>
        </p:nvSpPr>
        <p:spPr>
          <a:xfrm>
            <a:off x="19021166" y="8736452"/>
            <a:ext cx="2985882" cy="1327069"/>
          </a:xfrm>
          <a:prstGeom prst="rect">
            <a:avLst/>
          </a:prstGeom>
          <a:noFill/>
          <a:ln/>
        </p:spPr>
        <p:txBody>
          <a:bodyPr wrap="square" lIns="0" tIns="0" rIns="0" bIns="0" rtlCol="0" anchor="ctr"/>
          <a:lstStyle/>
          <a:p>
            <a:pPr marL="0" indent="0">
              <a:buNone/>
            </a:pPr>
            <a:r>
              <a:rPr lang="en-US" sz="5810" dirty="0">
                <a:solidFill>
                  <a:srgbClr val="529573"/>
                </a:solidFill>
                <a:latin typeface="Arial" pitchFamily="34" charset="0"/>
                <a:ea typeface="Arial" pitchFamily="34" charset="-122"/>
                <a:cs typeface="Arial" pitchFamily="34" charset="-120"/>
              </a:rPr>
              <a:t>≈1,800</a:t>
            </a:r>
            <a:endParaRPr lang="en-US" sz="5810" dirty="0"/>
          </a:p>
        </p:txBody>
      </p:sp>
      <p:sp>
        <p:nvSpPr>
          <p:cNvPr id="7" name="Demo fact label 1"/>
          <p:cNvSpPr txBox="1"/>
          <p:nvPr/>
        </p:nvSpPr>
        <p:spPr>
          <a:xfrm>
            <a:off x="22117599" y="8736452"/>
            <a:ext cx="6082314" cy="1327069"/>
          </a:xfrm>
          <a:prstGeom prst="rect">
            <a:avLst/>
          </a:prstGeom>
          <a:noFill/>
          <a:ln/>
        </p:spPr>
        <p:txBody>
          <a:bodyPr wrap="square" lIns="0" tIns="0" rIns="0" bIns="0" rtlCol="0" anchor="ctr"/>
          <a:lstStyle/>
          <a:p>
            <a:pPr marL="0" indent="0">
              <a:buNone/>
            </a:pPr>
            <a:r>
              <a:rPr lang="en-US" sz="3140" dirty="0">
                <a:solidFill>
                  <a:schemeClr val="tx1"/>
                </a:solidFill>
                <a:latin typeface="Arial" pitchFamily="34" charset="0"/>
                <a:ea typeface="Arial" pitchFamily="34" charset="-122"/>
                <a:cs typeface="Arial" pitchFamily="34" charset="-120"/>
              </a:rPr>
              <a:t>student-hours a week given back</a:t>
            </a:r>
            <a:endParaRPr lang="en-US" sz="3140" dirty="0"/>
          </a:p>
        </p:txBody>
      </p:sp>
      <p:sp>
        <p:nvSpPr>
          <p:cNvPr id="8" name="Demo fact 2"/>
          <p:cNvSpPr txBox="1"/>
          <p:nvPr/>
        </p:nvSpPr>
        <p:spPr>
          <a:xfrm>
            <a:off x="19021166" y="10107778"/>
            <a:ext cx="2985882" cy="1327069"/>
          </a:xfrm>
          <a:prstGeom prst="rect">
            <a:avLst/>
          </a:prstGeom>
          <a:noFill/>
          <a:ln/>
        </p:spPr>
        <p:txBody>
          <a:bodyPr wrap="square" lIns="0" tIns="0" rIns="0" bIns="0" rtlCol="0" anchor="ctr"/>
          <a:lstStyle/>
          <a:p>
            <a:pPr marL="0" indent="0">
              <a:buNone/>
            </a:pPr>
            <a:r>
              <a:rPr lang="en-US" sz="5810" dirty="0">
                <a:solidFill>
                  <a:srgbClr val="529573"/>
                </a:solidFill>
                <a:latin typeface="Arial" pitchFamily="34" charset="0"/>
                <a:ea typeface="Arial" pitchFamily="34" charset="-122"/>
                <a:cs typeface="Arial" pitchFamily="34" charset="-120"/>
              </a:rPr>
              <a:t>0</a:t>
            </a:r>
            <a:endParaRPr lang="en-US" sz="5810" dirty="0"/>
          </a:p>
        </p:txBody>
      </p:sp>
      <p:sp>
        <p:nvSpPr>
          <p:cNvPr id="9" name="Demo fact label 2"/>
          <p:cNvSpPr txBox="1"/>
          <p:nvPr/>
        </p:nvSpPr>
        <p:spPr>
          <a:xfrm>
            <a:off x="22117599" y="10107778"/>
            <a:ext cx="6082314" cy="1327069"/>
          </a:xfrm>
          <a:prstGeom prst="rect">
            <a:avLst/>
          </a:prstGeom>
          <a:noFill/>
          <a:ln/>
        </p:spPr>
        <p:txBody>
          <a:bodyPr wrap="square" lIns="0" tIns="0" rIns="0" bIns="0" rtlCol="0" anchor="ctr"/>
          <a:lstStyle/>
          <a:p>
            <a:pPr marL="0" indent="0">
              <a:buNone/>
            </a:pPr>
            <a:r>
              <a:rPr lang="en-US" sz="3140" dirty="0">
                <a:solidFill>
                  <a:schemeClr val="tx1"/>
                </a:solidFill>
                <a:latin typeface="Arial" pitchFamily="34" charset="0"/>
                <a:ea typeface="Arial" pitchFamily="34" charset="-122"/>
                <a:cs typeface="Arial" pitchFamily="34" charset="-120"/>
              </a:rPr>
              <a:t>students with a worse week</a:t>
            </a:r>
            <a:endParaRPr lang="en-US" sz="3140" dirty="0"/>
          </a:p>
        </p:txBody>
      </p:sp>
      <p:sp>
        <p:nvSpPr>
          <p:cNvPr id="10" name="Demo fact 3"/>
          <p:cNvSpPr txBox="1"/>
          <p:nvPr/>
        </p:nvSpPr>
        <p:spPr>
          <a:xfrm>
            <a:off x="19021166" y="11479012"/>
            <a:ext cx="2985882" cy="1327069"/>
          </a:xfrm>
          <a:prstGeom prst="rect">
            <a:avLst/>
          </a:prstGeom>
          <a:noFill/>
          <a:ln/>
        </p:spPr>
        <p:txBody>
          <a:bodyPr wrap="square" lIns="0" tIns="0" rIns="0" bIns="0" rtlCol="0" anchor="ctr"/>
          <a:lstStyle/>
          <a:p>
            <a:pPr marL="0" indent="0">
              <a:buNone/>
            </a:pPr>
            <a:r>
              <a:rPr lang="en-US" sz="5810" dirty="0">
                <a:solidFill>
                  <a:srgbClr val="4B6C9F"/>
                </a:solidFill>
                <a:latin typeface="Arial" pitchFamily="34" charset="0"/>
                <a:ea typeface="Arial" pitchFamily="34" charset="-122"/>
                <a:cs typeface="Arial" pitchFamily="34" charset="-120"/>
              </a:rPr>
              <a:t>100%</a:t>
            </a:r>
            <a:endParaRPr lang="en-US" sz="5810" dirty="0"/>
          </a:p>
        </p:txBody>
      </p:sp>
      <p:sp>
        <p:nvSpPr>
          <p:cNvPr id="11" name="Demo fact label 3"/>
          <p:cNvSpPr txBox="1"/>
          <p:nvPr/>
        </p:nvSpPr>
        <p:spPr>
          <a:xfrm>
            <a:off x="22117599" y="11479012"/>
            <a:ext cx="6082314" cy="1327069"/>
          </a:xfrm>
          <a:prstGeom prst="rect">
            <a:avLst/>
          </a:prstGeom>
          <a:noFill/>
          <a:ln/>
        </p:spPr>
        <p:txBody>
          <a:bodyPr wrap="square" lIns="0" tIns="0" rIns="0" bIns="0" rtlCol="0" anchor="ctr"/>
          <a:lstStyle/>
          <a:p>
            <a:pPr marL="0" indent="0">
              <a:buNone/>
            </a:pPr>
            <a:r>
              <a:rPr lang="en-US" sz="3140" dirty="0">
                <a:solidFill>
                  <a:schemeClr val="tx1"/>
                </a:solidFill>
                <a:latin typeface="Arial" pitchFamily="34" charset="0"/>
                <a:ea typeface="Arial" pitchFamily="34" charset="-122"/>
                <a:cs typeface="Arial" pitchFamily="34" charset="-120"/>
              </a:rPr>
              <a:t>of results re-checked by an independent validator</a:t>
            </a:r>
            <a:endParaRPr lang="en-US" sz="3140" dirty="0"/>
          </a:p>
        </p:txBody>
      </p:sp>
      <p:sp>
        <p:nvSpPr>
          <p:cNvPr id="12" name="Synthetic data note"/>
          <p:cNvSpPr txBox="1"/>
          <p:nvPr/>
        </p:nvSpPr>
        <p:spPr>
          <a:xfrm>
            <a:off x="19021166" y="13049402"/>
            <a:ext cx="9178839" cy="995324"/>
          </a:xfrm>
          <a:prstGeom prst="rect">
            <a:avLst/>
          </a:prstGeom>
          <a:noFill/>
          <a:ln/>
        </p:spPr>
        <p:txBody>
          <a:bodyPr wrap="square" lIns="0" tIns="0" rIns="0" bIns="0" rtlCol="0" anchor="t"/>
          <a:lstStyle/>
          <a:p>
            <a:pPr marL="0" indent="0">
              <a:buNone/>
            </a:pPr>
            <a:r>
              <a:rPr lang="en-US" sz="2420" dirty="0">
                <a:solidFill>
                  <a:srgbClr val="68645B"/>
                </a:solidFill>
                <a:latin typeface="Arial" pitchFamily="34" charset="0"/>
                <a:ea typeface="Arial" pitchFamily="34" charset="-122"/>
                <a:cs typeface="Arial" pitchFamily="34" charset="-120"/>
              </a:rPr>
              <a:t>Demo semester: 1,500 synthetic students. The start is deliberately poor (identical cohorts, 10 h of gaps each), so the first moves are obvious; the point is that every change is checked and approved.</a:t>
            </a:r>
            <a:endParaRPr lang="en-US" sz="2420" dirty="0"/>
          </a:p>
        </p:txBody>
      </p:sp>
      <p:sp>
        <p:nvSpPr>
          <p:cNvPr id="25"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327069" y="928939"/>
            <a:ext cx="26762293" cy="1769364"/>
          </a:xfrm>
          <a:prstGeom prst="rect">
            <a:avLst/>
          </a:prstGeom>
          <a:noFill/>
          <a:ln/>
        </p:spPr>
        <p:txBody>
          <a:bodyPr wrap="square" lIns="0" tIns="0" rIns="0" bIns="0" rtlCol="0" anchor="t"/>
          <a:lstStyle/>
          <a:p>
            <a:pPr marL="0" indent="0" algn="l">
              <a:buNone/>
            </a:pPr>
            <a:r>
              <a:rPr lang="en-US" sz="7260" dirty="0">
                <a:solidFill>
                  <a:schemeClr val="tx1"/>
                </a:solidFill>
                <a:latin typeface="Georgia" pitchFamily="34" charset="0"/>
                <a:ea typeface="Georgia" pitchFamily="34" charset="-122"/>
                <a:cs typeface="Georgia" pitchFamily="34" charset="-120"/>
              </a:rPr>
              <a:t>Your real Edugate schedule in, a better one out</a:t>
            </a:r>
            <a:endParaRPr lang="en-US" sz="7260" dirty="0"/>
          </a:p>
        </p:txBody>
      </p:sp>
      <p:sp>
        <p:nvSpPr>
          <p:cNvPr id="3" name="Edugate frame 1"/>
          <p:cNvSpPr/>
          <p:nvPr/>
        </p:nvSpPr>
        <p:spPr>
          <a:xfrm>
            <a:off x="1327069" y="3317626"/>
            <a:ext cx="13049402" cy="8802837"/>
          </a:xfrm>
          <a:prstGeom prst="rect">
            <a:avLst/>
          </a:prstGeom>
          <a:solidFill>
            <a:srgbClr val="FFFFFF"/>
          </a:solidFill>
          <a:ln w="12700">
            <a:solidFill>
              <a:srgbClr val="E3DBCF"/>
            </a:solidFill>
            <a:prstDash val="solid"/>
          </a:ln>
        </p:spPr>
        <p:txBody>
          <a:bodyPr/>
          <a:lstStyle/>
          <a:p>
            <a:endParaRPr lang="en-US"/>
          </a:p>
        </p:txBody>
      </p:sp>
      <p:pic>
        <p:nvPicPr>
          <p:cNvPr id="4" name="Edugate screenshot 1" descr="C:\Users\Admin\AppData\Local\Temp\claude\C--Users-Admin-Documents-GitHub-Mizan\b7a3e5b0-497b-48e5-8b06-72387145df4d\scratchpad\deck\img_review.png"/>
          <p:cNvPicPr>
            <a:picLocks noChangeAspect="1"/>
          </p:cNvPicPr>
          <p:nvPr/>
        </p:nvPicPr>
        <p:blipFill>
          <a:blip r:embed="rId3"/>
          <a:srcRect/>
          <a:stretch/>
        </p:blipFill>
        <p:spPr>
          <a:xfrm>
            <a:off x="1504005" y="3494562"/>
            <a:ext cx="12695530" cy="8448965"/>
          </a:xfrm>
          <a:prstGeom prst="rect">
            <a:avLst/>
          </a:prstGeom>
        </p:spPr>
      </p:pic>
      <p:sp>
        <p:nvSpPr>
          <p:cNvPr id="5" name="Edugate step bg 1"/>
          <p:cNvSpPr/>
          <p:nvPr/>
        </p:nvSpPr>
        <p:spPr>
          <a:xfrm>
            <a:off x="1327069" y="12562759"/>
            <a:ext cx="973196" cy="973196"/>
          </a:xfrm>
          <a:prstGeom prst="ellipse">
            <a:avLst/>
          </a:prstGeom>
          <a:solidFill>
            <a:srgbClr val="F4A252"/>
          </a:solidFill>
          <a:ln w="12700">
            <a:solidFill>
              <a:srgbClr val="F4A252"/>
            </a:solidFill>
            <a:prstDash val="solid"/>
          </a:ln>
        </p:spPr>
        <p:txBody>
          <a:bodyPr/>
          <a:lstStyle/>
          <a:p>
            <a:endParaRPr lang="en-US"/>
          </a:p>
        </p:txBody>
      </p:sp>
      <p:sp>
        <p:nvSpPr>
          <p:cNvPr id="6" name="Edugate step 1"/>
          <p:cNvSpPr txBox="1"/>
          <p:nvPr/>
        </p:nvSpPr>
        <p:spPr>
          <a:xfrm>
            <a:off x="1327069" y="12562759"/>
            <a:ext cx="973196" cy="973196"/>
          </a:xfrm>
          <a:prstGeom prst="rect">
            <a:avLst/>
          </a:prstGeom>
          <a:noFill/>
          <a:ln/>
        </p:spPr>
        <p:txBody>
          <a:bodyPr wrap="square" lIns="0" tIns="0" rIns="0" bIns="0" rtlCol="0" anchor="ctr"/>
          <a:lstStyle/>
          <a:p>
            <a:pPr marL="0" indent="0" algn="ctr">
              <a:buNone/>
            </a:pPr>
            <a:r>
              <a:rPr lang="en-US" sz="3390" b="1" dirty="0">
                <a:solidFill>
                  <a:srgbClr val="111C21"/>
                </a:solidFill>
                <a:latin typeface="Arial" pitchFamily="34" charset="0"/>
                <a:ea typeface="Arial" pitchFamily="34" charset="-122"/>
                <a:cs typeface="Arial" pitchFamily="34" charset="-120"/>
              </a:rPr>
              <a:t>1</a:t>
            </a:r>
            <a:endParaRPr lang="en-US" sz="3390" dirty="0"/>
          </a:p>
        </p:txBody>
      </p:sp>
      <p:sp>
        <p:nvSpPr>
          <p:cNvPr id="7" name="Edugate caption 1"/>
          <p:cNvSpPr txBox="1"/>
          <p:nvPr/>
        </p:nvSpPr>
        <p:spPr>
          <a:xfrm>
            <a:off x="2654137" y="12518593"/>
            <a:ext cx="11722334" cy="1327069"/>
          </a:xfrm>
          <a:prstGeom prst="rect">
            <a:avLst/>
          </a:prstGeom>
          <a:noFill/>
          <a:ln/>
        </p:spPr>
        <p:txBody>
          <a:bodyPr wrap="square" lIns="0" tIns="0" rIns="0" bIns="0" rtlCol="0" anchor="ctr"/>
          <a:lstStyle/>
          <a:p>
            <a:pPr marL="0" indent="0">
              <a:buNone/>
            </a:pPr>
            <a:r>
              <a:rPr lang="en-US" sz="3390" dirty="0">
                <a:solidFill>
                  <a:schemeClr val="tx1"/>
                </a:solidFill>
                <a:latin typeface="Arial" pitchFamily="34" charset="0"/>
                <a:ea typeface="Arial" pitchFamily="34" charset="-122"/>
                <a:cs typeface="Arial" pitchFamily="34" charset="-120"/>
              </a:rPr>
              <a:t>Read an Edugate PDF or app screenshot on this PC, then check every row</a:t>
            </a:r>
            <a:endParaRPr lang="en-US" sz="3390" dirty="0"/>
          </a:p>
        </p:txBody>
      </p:sp>
      <p:sp>
        <p:nvSpPr>
          <p:cNvPr id="8" name="Edugate frame 2"/>
          <p:cNvSpPr/>
          <p:nvPr/>
        </p:nvSpPr>
        <p:spPr>
          <a:xfrm>
            <a:off x="15039960" y="3317626"/>
            <a:ext cx="13049402" cy="8802837"/>
          </a:xfrm>
          <a:prstGeom prst="rect">
            <a:avLst/>
          </a:prstGeom>
          <a:solidFill>
            <a:srgbClr val="FFFFFF"/>
          </a:solidFill>
          <a:ln w="12700">
            <a:solidFill>
              <a:srgbClr val="E3DBCF"/>
            </a:solidFill>
            <a:prstDash val="solid"/>
          </a:ln>
        </p:spPr>
        <p:txBody>
          <a:bodyPr/>
          <a:lstStyle/>
          <a:p>
            <a:endParaRPr lang="en-US"/>
          </a:p>
        </p:txBody>
      </p:sp>
      <p:pic>
        <p:nvPicPr>
          <p:cNvPr id="9" name="Edugate screenshot 2" descr="C:\Users\Admin\AppData\Local\Temp\claude\C--Users-Admin-Documents-GitHub-Mizan\b7a3e5b0-497b-48e5-8b06-72387145df4d\scratchpad\deck\img_export_crop.png"/>
          <p:cNvPicPr>
            <a:picLocks noChangeAspect="1"/>
          </p:cNvPicPr>
          <p:nvPr/>
        </p:nvPicPr>
        <p:blipFill>
          <a:blip r:embed="rId4"/>
          <a:srcRect/>
          <a:stretch/>
        </p:blipFill>
        <p:spPr>
          <a:xfrm>
            <a:off x="15216896" y="3494562"/>
            <a:ext cx="12695530" cy="8448965"/>
          </a:xfrm>
          <a:prstGeom prst="rect">
            <a:avLst/>
          </a:prstGeom>
        </p:spPr>
      </p:pic>
      <p:sp>
        <p:nvSpPr>
          <p:cNvPr id="10" name="Edugate step bg 2"/>
          <p:cNvSpPr/>
          <p:nvPr/>
        </p:nvSpPr>
        <p:spPr>
          <a:xfrm>
            <a:off x="15039960" y="12562759"/>
            <a:ext cx="973196" cy="973196"/>
          </a:xfrm>
          <a:prstGeom prst="ellipse">
            <a:avLst/>
          </a:prstGeom>
          <a:solidFill>
            <a:srgbClr val="F4A252"/>
          </a:solidFill>
          <a:ln w="12700">
            <a:solidFill>
              <a:srgbClr val="F4A252"/>
            </a:solidFill>
            <a:prstDash val="solid"/>
          </a:ln>
        </p:spPr>
        <p:txBody>
          <a:bodyPr/>
          <a:lstStyle/>
          <a:p>
            <a:endParaRPr lang="en-US"/>
          </a:p>
        </p:txBody>
      </p:sp>
      <p:sp>
        <p:nvSpPr>
          <p:cNvPr id="11" name="Edugate step 2"/>
          <p:cNvSpPr txBox="1"/>
          <p:nvPr/>
        </p:nvSpPr>
        <p:spPr>
          <a:xfrm>
            <a:off x="15039960" y="12562759"/>
            <a:ext cx="973196" cy="973196"/>
          </a:xfrm>
          <a:prstGeom prst="rect">
            <a:avLst/>
          </a:prstGeom>
          <a:noFill/>
          <a:ln/>
        </p:spPr>
        <p:txBody>
          <a:bodyPr wrap="square" lIns="0" tIns="0" rIns="0" bIns="0" rtlCol="0" anchor="ctr"/>
          <a:lstStyle/>
          <a:p>
            <a:pPr marL="0" indent="0" algn="ctr">
              <a:buNone/>
            </a:pPr>
            <a:r>
              <a:rPr lang="en-US" sz="3390" b="1" dirty="0">
                <a:solidFill>
                  <a:srgbClr val="111C21"/>
                </a:solidFill>
                <a:latin typeface="Arial" pitchFamily="34" charset="0"/>
                <a:ea typeface="Arial" pitchFamily="34" charset="-122"/>
                <a:cs typeface="Arial" pitchFamily="34" charset="-120"/>
              </a:rPr>
              <a:t>2</a:t>
            </a:r>
            <a:endParaRPr lang="en-US" sz="3390" dirty="0"/>
          </a:p>
        </p:txBody>
      </p:sp>
      <p:sp>
        <p:nvSpPr>
          <p:cNvPr id="12" name="Edugate caption 2"/>
          <p:cNvSpPr txBox="1"/>
          <p:nvPr/>
        </p:nvSpPr>
        <p:spPr>
          <a:xfrm>
            <a:off x="16367028" y="12518593"/>
            <a:ext cx="11722334" cy="1327069"/>
          </a:xfrm>
          <a:prstGeom prst="rect">
            <a:avLst/>
          </a:prstGeom>
          <a:noFill/>
          <a:ln/>
        </p:spPr>
        <p:txBody>
          <a:bodyPr wrap="square" lIns="0" tIns="0" rIns="0" bIns="0" rtlCol="0" anchor="ctr"/>
          <a:lstStyle/>
          <a:p>
            <a:pPr marL="0" indent="0">
              <a:buNone/>
            </a:pPr>
            <a:r>
              <a:rPr lang="en-US" sz="3390" dirty="0">
                <a:solidFill>
                  <a:schemeClr val="tx1"/>
                </a:solidFill>
                <a:latin typeface="Arial" pitchFamily="34" charset="0"/>
                <a:ea typeface="Arial" pitchFamily="34" charset="-122"/>
                <a:cs typeface="Arial" pitchFamily="34" charset="-120"/>
              </a:rPr>
              <a:t>Optimize, then print the result in the Edugate layout. Changed rows are shaded</a:t>
            </a:r>
            <a:endParaRPr lang="en-US" sz="3390" dirty="0"/>
          </a:p>
        </p:txBody>
      </p:sp>
      <p:sp>
        <p:nvSpPr>
          <p:cNvPr id="25"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327069" y="928939"/>
            <a:ext cx="26762293" cy="1769364"/>
          </a:xfrm>
          <a:prstGeom prst="rect">
            <a:avLst/>
          </a:prstGeom>
          <a:noFill/>
          <a:ln/>
        </p:spPr>
        <p:txBody>
          <a:bodyPr wrap="square" lIns="0" tIns="0" rIns="0" bIns="0" rtlCol="0" anchor="t"/>
          <a:lstStyle/>
          <a:p>
            <a:pPr marL="0" indent="0" algn="l">
              <a:buNone/>
            </a:pPr>
            <a:r>
              <a:rPr lang="en-US" sz="7260" dirty="0">
                <a:solidFill>
                  <a:schemeClr val="tx1"/>
                </a:solidFill>
                <a:latin typeface="Georgia" pitchFamily="34" charset="0"/>
                <a:ea typeface="Georgia" pitchFamily="34" charset="-122"/>
                <a:cs typeface="Georgia" pitchFamily="34" charset="-120"/>
              </a:rPr>
              <a:t>Built to be trusted: local AI, rules enforced by code</a:t>
            </a:r>
            <a:endParaRPr lang="en-US" sz="7260" dirty="0"/>
          </a:p>
        </p:txBody>
      </p:sp>
      <p:sp>
        <p:nvSpPr>
          <p:cNvPr id="3" name="Trust card 1"/>
          <p:cNvSpPr/>
          <p:nvPr/>
        </p:nvSpPr>
        <p:spPr>
          <a:xfrm>
            <a:off x="1327069" y="3317626"/>
            <a:ext cx="8515259" cy="10505816"/>
          </a:xfrm>
          <a:prstGeom prst="roundRect">
            <a:avLst>
              <a:gd name="adj" fmla="val 1558"/>
            </a:avLst>
          </a:prstGeom>
          <a:solidFill>
            <a:srgbClr val="FFFFFF"/>
          </a:solidFill>
          <a:ln w="12700">
            <a:solidFill>
              <a:srgbClr val="E3DBCF"/>
            </a:solidFill>
            <a:prstDash val="solid"/>
          </a:ln>
        </p:spPr>
        <p:txBody>
          <a:bodyPr/>
          <a:lstStyle/>
          <a:p>
            <a:endParaRPr lang="en-US"/>
          </a:p>
        </p:txBody>
      </p:sp>
      <p:sp>
        <p:nvSpPr>
          <p:cNvPr id="4" name="Trust icon bg 1"/>
          <p:cNvSpPr/>
          <p:nvPr/>
        </p:nvSpPr>
        <p:spPr>
          <a:xfrm>
            <a:off x="1946392" y="3870564"/>
            <a:ext cx="1371326" cy="1371326"/>
          </a:xfrm>
          <a:prstGeom prst="ellipse">
            <a:avLst/>
          </a:prstGeom>
          <a:solidFill>
            <a:srgbClr val="F4A252"/>
          </a:solidFill>
          <a:ln w="12700">
            <a:solidFill>
              <a:srgbClr val="F4A252"/>
            </a:solidFill>
            <a:prstDash val="solid"/>
          </a:ln>
        </p:spPr>
        <p:txBody>
          <a:bodyPr/>
          <a:lstStyle/>
          <a:p>
            <a:endParaRPr lang="en-US"/>
          </a:p>
        </p:txBody>
      </p:sp>
      <p:pic>
        <p:nvPicPr>
          <p:cNvPr id="5" name="Trust icon 1" descr="preencoded.png"/>
          <p:cNvPicPr>
            <a:picLocks noChangeAspect="1"/>
          </p:cNvPicPr>
          <p:nvPr/>
        </p:nvPicPr>
        <p:blipFill>
          <a:blip r:embed="rId3"/>
          <a:stretch>
            <a:fillRect/>
          </a:stretch>
        </p:blipFill>
        <p:spPr>
          <a:xfrm>
            <a:off x="2278136" y="4202308"/>
            <a:ext cx="707746" cy="707746"/>
          </a:xfrm>
          <a:prstGeom prst="rect">
            <a:avLst/>
          </a:prstGeom>
        </p:spPr>
      </p:pic>
      <p:sp>
        <p:nvSpPr>
          <p:cNvPr id="6" name="Trust head 1"/>
          <p:cNvSpPr txBox="1"/>
          <p:nvPr/>
        </p:nvSpPr>
        <p:spPr>
          <a:xfrm>
            <a:off x="3649370" y="3981206"/>
            <a:ext cx="5861121" cy="1216426"/>
          </a:xfrm>
          <a:prstGeom prst="rect">
            <a:avLst/>
          </a:prstGeom>
          <a:noFill/>
          <a:ln/>
        </p:spPr>
        <p:txBody>
          <a:bodyPr wrap="square" lIns="0" tIns="0" rIns="0" bIns="0" rtlCol="0" anchor="ctr"/>
          <a:lstStyle/>
          <a:p>
            <a:pPr marL="0" indent="0">
              <a:buNone/>
            </a:pPr>
            <a:r>
              <a:rPr lang="en-US" sz="4110" b="1" dirty="0">
                <a:solidFill>
                  <a:schemeClr val="tx1"/>
                </a:solidFill>
                <a:latin typeface="Arial" pitchFamily="34" charset="0"/>
                <a:ea typeface="Arial" pitchFamily="34" charset="-122"/>
                <a:cs typeface="Arial" pitchFamily="34" charset="-120"/>
              </a:rPr>
              <a:t>AI that stays on campus</a:t>
            </a:r>
            <a:endParaRPr lang="en-US" sz="4110" dirty="0"/>
          </a:p>
        </p:txBody>
      </p:sp>
      <p:sp>
        <p:nvSpPr>
          <p:cNvPr id="7" name="Trust card 2"/>
          <p:cNvSpPr/>
          <p:nvPr/>
        </p:nvSpPr>
        <p:spPr>
          <a:xfrm>
            <a:off x="10395265" y="3317626"/>
            <a:ext cx="8515259" cy="10505816"/>
          </a:xfrm>
          <a:prstGeom prst="roundRect">
            <a:avLst>
              <a:gd name="adj" fmla="val 1558"/>
            </a:avLst>
          </a:prstGeom>
          <a:solidFill>
            <a:srgbClr val="FFFFFF"/>
          </a:solidFill>
          <a:ln w="12700">
            <a:solidFill>
              <a:srgbClr val="E3DBCF"/>
            </a:solidFill>
            <a:prstDash val="solid"/>
          </a:ln>
        </p:spPr>
        <p:txBody>
          <a:bodyPr/>
          <a:lstStyle/>
          <a:p>
            <a:endParaRPr lang="en-US"/>
          </a:p>
        </p:txBody>
      </p:sp>
      <p:sp>
        <p:nvSpPr>
          <p:cNvPr id="8" name="Trust icon bg 2"/>
          <p:cNvSpPr/>
          <p:nvPr/>
        </p:nvSpPr>
        <p:spPr>
          <a:xfrm>
            <a:off x="11014588" y="3870564"/>
            <a:ext cx="1371326" cy="1371326"/>
          </a:xfrm>
          <a:prstGeom prst="ellipse">
            <a:avLst/>
          </a:prstGeom>
          <a:solidFill>
            <a:srgbClr val="529573"/>
          </a:solidFill>
          <a:ln w="12700">
            <a:solidFill>
              <a:srgbClr val="529573"/>
            </a:solidFill>
            <a:prstDash val="solid"/>
          </a:ln>
        </p:spPr>
        <p:txBody>
          <a:bodyPr/>
          <a:lstStyle/>
          <a:p>
            <a:endParaRPr lang="en-US"/>
          </a:p>
        </p:txBody>
      </p:sp>
      <p:pic>
        <p:nvPicPr>
          <p:cNvPr id="9" name="Trust icon 2" descr="preencoded.png"/>
          <p:cNvPicPr>
            <a:picLocks noChangeAspect="1"/>
          </p:cNvPicPr>
          <p:nvPr/>
        </p:nvPicPr>
        <p:blipFill>
          <a:blip r:embed="rId4"/>
          <a:stretch>
            <a:fillRect/>
          </a:stretch>
        </p:blipFill>
        <p:spPr>
          <a:xfrm>
            <a:off x="11346332" y="4202308"/>
            <a:ext cx="707746" cy="707746"/>
          </a:xfrm>
          <a:prstGeom prst="rect">
            <a:avLst/>
          </a:prstGeom>
        </p:spPr>
      </p:pic>
      <p:sp>
        <p:nvSpPr>
          <p:cNvPr id="10" name="Trust head 2"/>
          <p:cNvSpPr txBox="1"/>
          <p:nvPr/>
        </p:nvSpPr>
        <p:spPr>
          <a:xfrm>
            <a:off x="12717658" y="3981206"/>
            <a:ext cx="5861121" cy="1216426"/>
          </a:xfrm>
          <a:prstGeom prst="rect">
            <a:avLst/>
          </a:prstGeom>
          <a:noFill/>
          <a:ln/>
        </p:spPr>
        <p:txBody>
          <a:bodyPr wrap="square" lIns="0" tIns="0" rIns="0" bIns="0" rtlCol="0" anchor="ctr"/>
          <a:lstStyle/>
          <a:p>
            <a:pPr marL="0" indent="0">
              <a:buNone/>
            </a:pPr>
            <a:r>
              <a:rPr lang="en-US" sz="4110" b="1" dirty="0">
                <a:solidFill>
                  <a:schemeClr val="tx1"/>
                </a:solidFill>
                <a:latin typeface="Arial" pitchFamily="34" charset="0"/>
                <a:ea typeface="Arial" pitchFamily="34" charset="-122"/>
                <a:cs typeface="Arial" pitchFamily="34" charset="-120"/>
              </a:rPr>
              <a:t>Hard rules are code, not AI</a:t>
            </a:r>
            <a:endParaRPr lang="en-US" sz="4110" dirty="0"/>
          </a:p>
        </p:txBody>
      </p:sp>
      <p:sp>
        <p:nvSpPr>
          <p:cNvPr id="11" name="Trust card 3"/>
          <p:cNvSpPr/>
          <p:nvPr/>
        </p:nvSpPr>
        <p:spPr>
          <a:xfrm>
            <a:off x="19463461" y="3317626"/>
            <a:ext cx="8515259" cy="10505816"/>
          </a:xfrm>
          <a:prstGeom prst="roundRect">
            <a:avLst>
              <a:gd name="adj" fmla="val 1558"/>
            </a:avLst>
          </a:prstGeom>
          <a:solidFill>
            <a:srgbClr val="FFFFFF"/>
          </a:solidFill>
          <a:ln w="12700">
            <a:solidFill>
              <a:srgbClr val="E3DBCF"/>
            </a:solidFill>
            <a:prstDash val="solid"/>
          </a:ln>
        </p:spPr>
        <p:txBody>
          <a:bodyPr/>
          <a:lstStyle/>
          <a:p>
            <a:endParaRPr lang="en-US"/>
          </a:p>
        </p:txBody>
      </p:sp>
      <p:sp>
        <p:nvSpPr>
          <p:cNvPr id="12" name="Trust icon bg 3"/>
          <p:cNvSpPr/>
          <p:nvPr/>
        </p:nvSpPr>
        <p:spPr>
          <a:xfrm>
            <a:off x="20082784" y="3870564"/>
            <a:ext cx="1371326" cy="1371326"/>
          </a:xfrm>
          <a:prstGeom prst="ellipse">
            <a:avLst/>
          </a:prstGeom>
          <a:solidFill>
            <a:srgbClr val="4B6C9F"/>
          </a:solidFill>
          <a:ln w="12700">
            <a:solidFill>
              <a:srgbClr val="4B6C9F"/>
            </a:solidFill>
            <a:prstDash val="solid"/>
          </a:ln>
        </p:spPr>
        <p:txBody>
          <a:bodyPr/>
          <a:lstStyle/>
          <a:p>
            <a:endParaRPr lang="en-US"/>
          </a:p>
        </p:txBody>
      </p:sp>
      <p:pic>
        <p:nvPicPr>
          <p:cNvPr id="13" name="Trust icon 3" descr="preencoded.png"/>
          <p:cNvPicPr>
            <a:picLocks noChangeAspect="1"/>
          </p:cNvPicPr>
          <p:nvPr/>
        </p:nvPicPr>
        <p:blipFill>
          <a:blip r:embed="rId5"/>
          <a:stretch>
            <a:fillRect/>
          </a:stretch>
        </p:blipFill>
        <p:spPr>
          <a:xfrm>
            <a:off x="20414529" y="4202308"/>
            <a:ext cx="707746" cy="707746"/>
          </a:xfrm>
          <a:prstGeom prst="rect">
            <a:avLst/>
          </a:prstGeom>
        </p:spPr>
      </p:pic>
      <p:sp>
        <p:nvSpPr>
          <p:cNvPr id="14" name="Trust head 3"/>
          <p:cNvSpPr txBox="1"/>
          <p:nvPr/>
        </p:nvSpPr>
        <p:spPr>
          <a:xfrm>
            <a:off x="21785854" y="3981206"/>
            <a:ext cx="5861121" cy="1216426"/>
          </a:xfrm>
          <a:prstGeom prst="rect">
            <a:avLst/>
          </a:prstGeom>
          <a:noFill/>
          <a:ln/>
        </p:spPr>
        <p:txBody>
          <a:bodyPr wrap="square" lIns="0" tIns="0" rIns="0" bIns="0" rtlCol="0" anchor="ctr"/>
          <a:lstStyle/>
          <a:p>
            <a:pPr marL="0" indent="0">
              <a:buNone/>
            </a:pPr>
            <a:r>
              <a:rPr lang="en-US" sz="4110" b="1" dirty="0">
                <a:solidFill>
                  <a:schemeClr val="tx1"/>
                </a:solidFill>
                <a:latin typeface="Arial" pitchFamily="34" charset="0"/>
                <a:ea typeface="Arial" pitchFamily="34" charset="-122"/>
                <a:cs typeface="Arial" pitchFamily="34" charset="-120"/>
              </a:rPr>
              <a:t>Tested like a product</a:t>
            </a:r>
            <a:endParaRPr lang="en-US" sz="4110" dirty="0"/>
          </a:p>
        </p:txBody>
      </p:sp>
      <p:sp>
        <p:nvSpPr>
          <p:cNvPr id="15" name="AI text"/>
          <p:cNvSpPr txBox="1"/>
          <p:nvPr/>
        </p:nvSpPr>
        <p:spPr>
          <a:xfrm>
            <a:off x="1946392" y="5750570"/>
            <a:ext cx="7409383" cy="2764688"/>
          </a:xfrm>
          <a:prstGeom prst="rect">
            <a:avLst/>
          </a:prstGeom>
          <a:noFill/>
          <a:ln/>
        </p:spPr>
        <p:txBody>
          <a:bodyPr wrap="square" lIns="0" tIns="0" rIns="0" bIns="0" rtlCol="0" anchor="t"/>
          <a:lstStyle/>
          <a:p>
            <a:pPr marL="0" indent="0">
              <a:spcAft>
                <a:spcPts val="1450"/>
              </a:spcAft>
              <a:buNone/>
            </a:pPr>
            <a:r>
              <a:rPr lang="en-US" sz="3140" dirty="0">
                <a:solidFill>
                  <a:schemeClr val="tx1"/>
                </a:solidFill>
                <a:latin typeface="Arial" pitchFamily="34" charset="0"/>
                <a:ea typeface="Arial" pitchFamily="34" charset="-122"/>
                <a:cs typeface="Arial" pitchFamily="34" charset="-120"/>
              </a:rPr>
              <a:t>Qwen3-8B runs on this laptop. No cloud, no student data leaves the PC.</a:t>
            </a:r>
            <a:endParaRPr lang="en-US" sz="3140" dirty="0"/>
          </a:p>
          <a:p>
            <a:pPr marL="0" indent="0">
              <a:spcAft>
                <a:spcPts val="1450"/>
              </a:spcAft>
              <a:buNone/>
            </a:pPr>
            <a:r>
              <a:rPr lang="en-US" sz="3140" dirty="0">
                <a:solidFill>
                  <a:schemeClr val="tx1"/>
                </a:solidFill>
                <a:latin typeface="Arial" pitchFamily="34" charset="0"/>
                <a:ea typeface="Arial" pitchFamily="34" charset="-122"/>
                <a:cs typeface="Arial" pitchFamily="34" charset="-120"/>
              </a:rPr>
              <a:t>We fine-tuned the coordinator agent. Correct decisions out of 120 synthetic test cases:</a:t>
            </a:r>
            <a:endParaRPr lang="en-US" sz="3140" dirty="0"/>
          </a:p>
        </p:txBody>
      </p:sp>
      <p:graphicFrame>
        <p:nvGraphicFramePr>
          <p:cNvPr id="16" name="Coordinator chart"/>
          <p:cNvGraphicFramePr/>
          <p:nvPr/>
        </p:nvGraphicFramePr>
        <p:xfrm>
          <a:off x="1658813" y="8515259"/>
          <a:ext cx="7851770" cy="4976439"/>
        </p:xfrm>
        <a:graphic>
          <a:graphicData uri="http://schemas.openxmlformats.org/drawingml/2006/chart">
            <c:chart xmlns:c="http://schemas.openxmlformats.org/drawingml/2006/chart" xmlns:r="http://schemas.openxmlformats.org/officeDocument/2006/relationships" r:id="rId6"/>
          </a:graphicData>
        </a:graphic>
      </p:graphicFrame>
      <p:sp>
        <p:nvSpPr>
          <p:cNvPr id="17" name="Trust list 4.98"/>
          <p:cNvSpPr txBox="1"/>
          <p:nvPr/>
        </p:nvSpPr>
        <p:spPr>
          <a:xfrm>
            <a:off x="11014588" y="5750570"/>
            <a:ext cx="7409383" cy="7630577"/>
          </a:xfrm>
          <a:prstGeom prst="rect">
            <a:avLst/>
          </a:prstGeom>
          <a:noFill/>
          <a:ln/>
        </p:spPr>
        <p:txBody>
          <a:bodyPr wrap="square" lIns="0" tIns="0" rIns="0" bIns="0" rtlCol="0" anchor="t"/>
          <a:lstStyle/>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An OR-Tools solver searches valid timetables.</a:t>
            </a:r>
            <a:endParaRPr lang="en-US" sz="3140" dirty="0"/>
          </a:p>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A separate validator re-checks every result before anyone sees it.</a:t>
            </a:r>
            <a:endParaRPr lang="en-US" sz="3140" dirty="0"/>
          </a:p>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The AI never decides a hard rule: no clash, room or capacity is left to the model.</a:t>
            </a:r>
            <a:endParaRPr lang="en-US" sz="3140" dirty="0"/>
          </a:p>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Results say OPTIMAL, FEASIBLE or INFEASIBLE, and never claim more.</a:t>
            </a:r>
            <a:endParaRPr lang="en-US" sz="3140" dirty="0"/>
          </a:p>
        </p:txBody>
      </p:sp>
      <p:sp>
        <p:nvSpPr>
          <p:cNvPr id="18" name="Trust list 9.08"/>
          <p:cNvSpPr txBox="1"/>
          <p:nvPr/>
        </p:nvSpPr>
        <p:spPr>
          <a:xfrm>
            <a:off x="20082784" y="5750570"/>
            <a:ext cx="7409383" cy="7630577"/>
          </a:xfrm>
          <a:prstGeom prst="rect">
            <a:avLst/>
          </a:prstGeom>
          <a:noFill/>
          <a:ln/>
        </p:spPr>
        <p:txBody>
          <a:bodyPr wrap="square" lIns="0" tIns="0" rIns="0" bIns="0" rtlCol="0" anchor="t"/>
          <a:lstStyle/>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99 automated tests and 3 browser test suites pass.</a:t>
            </a:r>
            <a:endParaRPr lang="en-US" sz="3140" dirty="0"/>
          </a:p>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All 15 acceptance criteria are mapped to passing tests.</a:t>
            </a:r>
            <a:endParaRPr lang="en-US" sz="3140" dirty="0"/>
          </a:p>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Arabic and English show identical figures, checked automatically.</a:t>
            </a:r>
            <a:endParaRPr lang="en-US" sz="3140" dirty="0"/>
          </a:p>
          <a:p>
            <a:pPr marL="430530" indent="-430530">
              <a:spcAft>
                <a:spcPts val="2180"/>
              </a:spcAft>
              <a:buSzPct val="100000"/>
              <a:buChar char="•"/>
            </a:pPr>
            <a:r>
              <a:rPr lang="en-US" sz="3140" dirty="0">
                <a:solidFill>
                  <a:schemeClr val="tx1"/>
                </a:solidFill>
                <a:latin typeface="Arial" pitchFamily="34" charset="0"/>
                <a:ea typeface="Arial" pitchFamily="34" charset="-122"/>
                <a:cs typeface="Arial" pitchFamily="34" charset="-120"/>
              </a:rPr>
              <a:t>Every decision is logged in an audit trail.</a:t>
            </a:r>
            <a:endParaRPr lang="en-US" sz="3140" dirty="0"/>
          </a:p>
        </p:txBody>
      </p:sp>
      <p:sp>
        <p:nvSpPr>
          <p:cNvPr id="25" name="Slide Number Placeholder 0"/>
          <p:cNvSpPr>
            <a:spLocks noGrp="1"/>
          </p:cNvSpPr>
          <p:nvPr>
            <p:ph type="sldNum" sz="quarter" idx="4294967295"/>
          </p:nvPr>
        </p:nvSpPr>
        <p:spPr>
          <a:xfrm>
            <a:off x="27270974" y="14332214"/>
            <a:ext cx="884682" cy="552938"/>
          </a:xfrm>
          <a:prstGeom prst="rect">
            <a:avLst/>
          </a:prstGeom>
          <a:extLst>
            <a:ext uri="{C572A759-6A51-4108-AA02-DFA0A04FC94B}">
              <ma14:wrappingTextBoxFlag xmlns:ma14="http://schemas.microsoft.com/office/mac/drawingml/2011/main" xmlns="" val="0"/>
            </a:ext>
          </a:extLst>
        </p:spPr>
        <p:txBody>
          <a:bodyPr lIns="0" tIns="0" rIns="0" bIns="0"/>
          <a:lstStyle>
            <a:lvl1pPr>
              <a:defRPr sz="2180">
                <a:solidFill>
                  <a:srgbClr val="68645B"/>
                </a:solidFill>
                <a:latin typeface="Arial"/>
                <a:ea typeface="Arial"/>
                <a:cs typeface="Aria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lose title"/>
          <p:cNvSpPr txBox="1"/>
          <p:nvPr/>
        </p:nvSpPr>
        <p:spPr>
          <a:xfrm>
            <a:off x="1327069" y="1216426"/>
            <a:ext cx="26541100" cy="1769364"/>
          </a:xfrm>
          <a:prstGeom prst="rect">
            <a:avLst/>
          </a:prstGeom>
          <a:noFill/>
          <a:ln/>
        </p:spPr>
        <p:txBody>
          <a:bodyPr wrap="square" lIns="0" tIns="0" rIns="0" bIns="0" rtlCol="0" anchor="t"/>
          <a:lstStyle/>
          <a:p>
            <a:pPr marL="0" indent="0">
              <a:buNone/>
            </a:pPr>
            <a:r>
              <a:rPr lang="en-US" sz="7740" dirty="0">
                <a:solidFill>
                  <a:srgbClr val="FFFFFF"/>
                </a:solidFill>
                <a:latin typeface="Georgia" pitchFamily="34" charset="0"/>
                <a:ea typeface="Georgia" pitchFamily="34" charset="-122"/>
                <a:cs typeface="Georgia" pitchFamily="34" charset="-120"/>
              </a:rPr>
              <a:t>From demo to a pilot at Al Yamamah</a:t>
            </a:r>
            <a:endParaRPr lang="en-US" sz="7740" dirty="0"/>
          </a:p>
        </p:txBody>
      </p:sp>
      <p:sp>
        <p:nvSpPr>
          <p:cNvPr id="3" name="Value who 1"/>
          <p:cNvSpPr txBox="1"/>
          <p:nvPr/>
        </p:nvSpPr>
        <p:spPr>
          <a:xfrm>
            <a:off x="1327069" y="3760013"/>
            <a:ext cx="4202308" cy="1105875"/>
          </a:xfrm>
          <a:prstGeom prst="rect">
            <a:avLst/>
          </a:prstGeom>
          <a:noFill/>
          <a:ln/>
        </p:spPr>
        <p:txBody>
          <a:bodyPr wrap="square" lIns="0" tIns="0" rIns="0" bIns="0" rtlCol="0" anchor="t"/>
          <a:lstStyle/>
          <a:p>
            <a:pPr marL="0" indent="0">
              <a:buNone/>
            </a:pPr>
            <a:r>
              <a:rPr lang="en-US" sz="4350" b="1" dirty="0">
                <a:solidFill>
                  <a:srgbClr val="F4A252"/>
                </a:solidFill>
                <a:latin typeface="Arial" pitchFamily="34" charset="0"/>
                <a:ea typeface="Arial" pitchFamily="34" charset="-122"/>
                <a:cs typeface="Arial" pitchFamily="34" charset="-120"/>
              </a:rPr>
              <a:t>Students</a:t>
            </a:r>
            <a:endParaRPr lang="en-US" sz="4350" dirty="0"/>
          </a:p>
        </p:txBody>
      </p:sp>
      <p:sp>
        <p:nvSpPr>
          <p:cNvPr id="4" name="Value what 1"/>
          <p:cNvSpPr txBox="1"/>
          <p:nvPr/>
        </p:nvSpPr>
        <p:spPr>
          <a:xfrm>
            <a:off x="5529377" y="3760013"/>
            <a:ext cx="8847003" cy="1880006"/>
          </a:xfrm>
          <a:prstGeom prst="rect">
            <a:avLst/>
          </a:prstGeom>
          <a:noFill/>
          <a:ln/>
        </p:spPr>
        <p:txBody>
          <a:bodyPr wrap="square" lIns="0" tIns="0" rIns="0" bIns="0" rtlCol="0" anchor="t"/>
          <a:lstStyle/>
          <a:p>
            <a:pPr marL="0" indent="0">
              <a:buNone/>
            </a:pPr>
            <a:r>
              <a:rPr lang="en-US" sz="3630" dirty="0">
                <a:solidFill>
                  <a:srgbClr val="E3DBCF"/>
                </a:solidFill>
                <a:latin typeface="Arial" pitchFamily="34" charset="0"/>
                <a:ea typeface="Arial" pitchFamily="34" charset="-122"/>
                <a:cs typeface="Arial" pitchFamily="34" charset="-120"/>
              </a:rPr>
              <a:t>fewer idle hours and campus days, so more reasons to attend</a:t>
            </a:r>
            <a:endParaRPr lang="en-US" sz="3630" dirty="0"/>
          </a:p>
        </p:txBody>
      </p:sp>
      <p:sp>
        <p:nvSpPr>
          <p:cNvPr id="5" name="Value who 2"/>
          <p:cNvSpPr txBox="1"/>
          <p:nvPr/>
        </p:nvSpPr>
        <p:spPr>
          <a:xfrm>
            <a:off x="1327069" y="6082314"/>
            <a:ext cx="4202308" cy="1105875"/>
          </a:xfrm>
          <a:prstGeom prst="rect">
            <a:avLst/>
          </a:prstGeom>
          <a:noFill/>
          <a:ln/>
        </p:spPr>
        <p:txBody>
          <a:bodyPr wrap="square" lIns="0" tIns="0" rIns="0" bIns="0" rtlCol="0" anchor="t"/>
          <a:lstStyle/>
          <a:p>
            <a:pPr marL="0" indent="0">
              <a:buNone/>
            </a:pPr>
            <a:r>
              <a:rPr lang="en-US" sz="4350" b="1" dirty="0">
                <a:solidFill>
                  <a:srgbClr val="F4A252"/>
                </a:solidFill>
                <a:latin typeface="Arial" pitchFamily="34" charset="0"/>
                <a:ea typeface="Arial" pitchFamily="34" charset="-122"/>
                <a:cs typeface="Arial" pitchFamily="34" charset="-120"/>
              </a:rPr>
              <a:t>Committee</a:t>
            </a:r>
            <a:endParaRPr lang="en-US" sz="4350" dirty="0"/>
          </a:p>
        </p:txBody>
      </p:sp>
      <p:sp>
        <p:nvSpPr>
          <p:cNvPr id="6" name="Value what 2"/>
          <p:cNvSpPr txBox="1"/>
          <p:nvPr/>
        </p:nvSpPr>
        <p:spPr>
          <a:xfrm>
            <a:off x="5529377" y="6082314"/>
            <a:ext cx="8847003" cy="1880006"/>
          </a:xfrm>
          <a:prstGeom prst="rect">
            <a:avLst/>
          </a:prstGeom>
          <a:noFill/>
          <a:ln/>
        </p:spPr>
        <p:txBody>
          <a:bodyPr wrap="square" lIns="0" tIns="0" rIns="0" bIns="0" rtlCol="0" anchor="t"/>
          <a:lstStyle/>
          <a:p>
            <a:pPr marL="0" indent="0">
              <a:buNone/>
            </a:pPr>
            <a:r>
              <a:rPr lang="en-US" sz="3630" dirty="0">
                <a:solidFill>
                  <a:srgbClr val="E3DBCF"/>
                </a:solidFill>
                <a:latin typeface="Arial" pitchFamily="34" charset="0"/>
                <a:ea typeface="Arial" pitchFamily="34" charset="-122"/>
                <a:cs typeface="Arial" pitchFamily="34" charset="-120"/>
              </a:rPr>
              <a:t>every change checked in seconds, with evidence instead of email threads</a:t>
            </a:r>
            <a:endParaRPr lang="en-US" sz="3630" dirty="0"/>
          </a:p>
        </p:txBody>
      </p:sp>
      <p:sp>
        <p:nvSpPr>
          <p:cNvPr id="7" name="Value who 3"/>
          <p:cNvSpPr txBox="1"/>
          <p:nvPr/>
        </p:nvSpPr>
        <p:spPr>
          <a:xfrm>
            <a:off x="1327069" y="8404708"/>
            <a:ext cx="4202308" cy="1105875"/>
          </a:xfrm>
          <a:prstGeom prst="rect">
            <a:avLst/>
          </a:prstGeom>
          <a:noFill/>
          <a:ln/>
        </p:spPr>
        <p:txBody>
          <a:bodyPr wrap="square" lIns="0" tIns="0" rIns="0" bIns="0" rtlCol="0" anchor="t"/>
          <a:lstStyle/>
          <a:p>
            <a:pPr marL="0" indent="0">
              <a:buNone/>
            </a:pPr>
            <a:r>
              <a:rPr lang="en-US" sz="4350" b="1" dirty="0">
                <a:solidFill>
                  <a:srgbClr val="F4A252"/>
                </a:solidFill>
                <a:latin typeface="Arial" pitchFamily="34" charset="0"/>
                <a:ea typeface="Arial" pitchFamily="34" charset="-122"/>
                <a:cs typeface="Arial" pitchFamily="34" charset="-120"/>
              </a:rPr>
              <a:t>University</a:t>
            </a:r>
            <a:endParaRPr lang="en-US" sz="4350" dirty="0"/>
          </a:p>
        </p:txBody>
      </p:sp>
      <p:sp>
        <p:nvSpPr>
          <p:cNvPr id="8" name="Value what 3"/>
          <p:cNvSpPr txBox="1"/>
          <p:nvPr/>
        </p:nvSpPr>
        <p:spPr>
          <a:xfrm>
            <a:off x="5529377" y="8404708"/>
            <a:ext cx="8847003" cy="1880006"/>
          </a:xfrm>
          <a:prstGeom prst="rect">
            <a:avLst/>
          </a:prstGeom>
          <a:noFill/>
          <a:ln/>
        </p:spPr>
        <p:txBody>
          <a:bodyPr wrap="square" lIns="0" tIns="0" rIns="0" bIns="0" rtlCol="0" anchor="t"/>
          <a:lstStyle/>
          <a:p>
            <a:pPr marL="0" indent="0">
              <a:buNone/>
            </a:pPr>
            <a:r>
              <a:rPr lang="en-US" sz="3630" dirty="0">
                <a:solidFill>
                  <a:srgbClr val="E3DBCF"/>
                </a:solidFill>
                <a:latin typeface="Arial" pitchFamily="34" charset="0"/>
                <a:ea typeface="Arial" pitchFamily="34" charset="-122"/>
                <a:cs typeface="Arial" pitchFamily="34" charset="-120"/>
              </a:rPr>
              <a:t>see unused room capacity; keep data on campus</a:t>
            </a:r>
            <a:endParaRPr lang="en-US" sz="3630" dirty="0"/>
          </a:p>
        </p:txBody>
      </p:sp>
      <p:sp>
        <p:nvSpPr>
          <p:cNvPr id="9" name="Next dot 1"/>
          <p:cNvSpPr/>
          <p:nvPr/>
        </p:nvSpPr>
        <p:spPr>
          <a:xfrm>
            <a:off x="16145835" y="3760013"/>
            <a:ext cx="1327069" cy="1327069"/>
          </a:xfrm>
          <a:prstGeom prst="ellipse">
            <a:avLst/>
          </a:prstGeom>
          <a:solidFill>
            <a:srgbClr val="1E2C33"/>
          </a:solidFill>
          <a:ln w="60960">
            <a:solidFill>
              <a:srgbClr val="F4A252"/>
            </a:solidFill>
            <a:prstDash val="solid"/>
          </a:ln>
        </p:spPr>
        <p:txBody>
          <a:bodyPr/>
          <a:lstStyle/>
          <a:p>
            <a:endParaRPr lang="en-US"/>
          </a:p>
        </p:txBody>
      </p:sp>
      <p:sp>
        <p:nvSpPr>
          <p:cNvPr id="10" name="Next number 1"/>
          <p:cNvSpPr txBox="1"/>
          <p:nvPr/>
        </p:nvSpPr>
        <p:spPr>
          <a:xfrm>
            <a:off x="16145835" y="3760013"/>
            <a:ext cx="1327069" cy="1327069"/>
          </a:xfrm>
          <a:prstGeom prst="rect">
            <a:avLst/>
          </a:prstGeom>
          <a:noFill/>
          <a:ln/>
        </p:spPr>
        <p:txBody>
          <a:bodyPr wrap="square" lIns="0" tIns="0" rIns="0" bIns="0" rtlCol="0" anchor="ctr"/>
          <a:lstStyle/>
          <a:p>
            <a:pPr marL="0" indent="0" algn="ctr">
              <a:buNone/>
            </a:pPr>
            <a:r>
              <a:rPr lang="en-US" sz="3870" b="1" dirty="0">
                <a:solidFill>
                  <a:srgbClr val="F4A252"/>
                </a:solidFill>
                <a:latin typeface="Arial" pitchFamily="34" charset="0"/>
                <a:ea typeface="Arial" pitchFamily="34" charset="-122"/>
                <a:cs typeface="Arial" pitchFamily="34" charset="-120"/>
              </a:rPr>
              <a:t>1</a:t>
            </a:r>
            <a:endParaRPr lang="en-US" sz="3870" dirty="0"/>
          </a:p>
        </p:txBody>
      </p:sp>
      <p:sp>
        <p:nvSpPr>
          <p:cNvPr id="11" name="Next step 1"/>
          <p:cNvSpPr txBox="1"/>
          <p:nvPr/>
        </p:nvSpPr>
        <p:spPr>
          <a:xfrm>
            <a:off x="18025842" y="3671499"/>
            <a:ext cx="10174072" cy="1880006"/>
          </a:xfrm>
          <a:prstGeom prst="rect">
            <a:avLst/>
          </a:prstGeom>
          <a:noFill/>
          <a:ln/>
        </p:spPr>
        <p:txBody>
          <a:bodyPr wrap="square" lIns="0" tIns="0" rIns="0" bIns="0" rtlCol="0" anchor="t"/>
          <a:lstStyle/>
          <a:p>
            <a:pPr marL="0" indent="0">
              <a:buNone/>
            </a:pPr>
            <a:r>
              <a:rPr lang="en-US" sz="4110" b="1" dirty="0">
                <a:solidFill>
                  <a:srgbClr val="FFFFFF"/>
                </a:solidFill>
                <a:latin typeface="Arial" pitchFamily="34" charset="0"/>
                <a:ea typeface="Arial" pitchFamily="34" charset="-122"/>
                <a:cs typeface="Arial" pitchFamily="34" charset="-120"/>
              </a:rPr>
              <a:t>Pilot one college</a:t>
            </a:r>
            <a:endParaRPr lang="en-US" sz="4110" dirty="0"/>
          </a:p>
          <a:p>
            <a:pPr marL="0" indent="0">
              <a:buNone/>
            </a:pPr>
            <a:r>
              <a:rPr lang="en-US" sz="3390" dirty="0">
                <a:solidFill>
                  <a:srgbClr val="CFC3B3"/>
                </a:solidFill>
                <a:latin typeface="Arial" pitchFamily="34" charset="0"/>
                <a:ea typeface="Arial" pitchFamily="34" charset="-122"/>
                <a:cs typeface="Arial" pitchFamily="34" charset="-120"/>
              </a:rPr>
              <a:t>Real Edugate exports, one term</a:t>
            </a:r>
            <a:endParaRPr lang="en-US" sz="4110" dirty="0"/>
          </a:p>
        </p:txBody>
      </p:sp>
      <p:sp>
        <p:nvSpPr>
          <p:cNvPr id="12" name="Next line 1"/>
          <p:cNvSpPr/>
          <p:nvPr/>
        </p:nvSpPr>
        <p:spPr>
          <a:xfrm>
            <a:off x="16809415" y="5131247"/>
            <a:ext cx="0" cy="928939"/>
          </a:xfrm>
          <a:prstGeom prst="line">
            <a:avLst/>
          </a:prstGeom>
          <a:noFill/>
          <a:ln w="60960">
            <a:solidFill>
              <a:srgbClr val="3A4A52"/>
            </a:solidFill>
            <a:prstDash val="solid"/>
          </a:ln>
        </p:spPr>
        <p:txBody>
          <a:bodyPr/>
          <a:lstStyle/>
          <a:p>
            <a:endParaRPr lang="en-US"/>
          </a:p>
        </p:txBody>
      </p:sp>
      <p:sp>
        <p:nvSpPr>
          <p:cNvPr id="13" name="Next dot 2"/>
          <p:cNvSpPr/>
          <p:nvPr/>
        </p:nvSpPr>
        <p:spPr>
          <a:xfrm>
            <a:off x="16145835" y="6082314"/>
            <a:ext cx="1327069" cy="1327069"/>
          </a:xfrm>
          <a:prstGeom prst="ellipse">
            <a:avLst/>
          </a:prstGeom>
          <a:solidFill>
            <a:srgbClr val="1E2C33"/>
          </a:solidFill>
          <a:ln w="60960">
            <a:solidFill>
              <a:srgbClr val="F4A252"/>
            </a:solidFill>
            <a:prstDash val="solid"/>
          </a:ln>
        </p:spPr>
        <p:txBody>
          <a:bodyPr/>
          <a:lstStyle/>
          <a:p>
            <a:endParaRPr lang="en-US"/>
          </a:p>
        </p:txBody>
      </p:sp>
      <p:sp>
        <p:nvSpPr>
          <p:cNvPr id="14" name="Next number 2"/>
          <p:cNvSpPr txBox="1"/>
          <p:nvPr/>
        </p:nvSpPr>
        <p:spPr>
          <a:xfrm>
            <a:off x="16145835" y="6082314"/>
            <a:ext cx="1327069" cy="1327069"/>
          </a:xfrm>
          <a:prstGeom prst="rect">
            <a:avLst/>
          </a:prstGeom>
          <a:noFill/>
          <a:ln/>
        </p:spPr>
        <p:txBody>
          <a:bodyPr wrap="square" lIns="0" tIns="0" rIns="0" bIns="0" rtlCol="0" anchor="ctr"/>
          <a:lstStyle/>
          <a:p>
            <a:pPr marL="0" indent="0" algn="ctr">
              <a:buNone/>
            </a:pPr>
            <a:r>
              <a:rPr lang="en-US" sz="3870" b="1" dirty="0">
                <a:solidFill>
                  <a:srgbClr val="F4A252"/>
                </a:solidFill>
                <a:latin typeface="Arial" pitchFamily="34" charset="0"/>
                <a:ea typeface="Arial" pitchFamily="34" charset="-122"/>
                <a:cs typeface="Arial" pitchFamily="34" charset="-120"/>
              </a:rPr>
              <a:t>2</a:t>
            </a:r>
            <a:endParaRPr lang="en-US" sz="3870" dirty="0"/>
          </a:p>
        </p:txBody>
      </p:sp>
      <p:sp>
        <p:nvSpPr>
          <p:cNvPr id="15" name="Next step 2"/>
          <p:cNvSpPr txBox="1"/>
          <p:nvPr/>
        </p:nvSpPr>
        <p:spPr>
          <a:xfrm>
            <a:off x="18025842" y="5993892"/>
            <a:ext cx="10174072" cy="1880006"/>
          </a:xfrm>
          <a:prstGeom prst="rect">
            <a:avLst/>
          </a:prstGeom>
          <a:noFill/>
          <a:ln/>
        </p:spPr>
        <p:txBody>
          <a:bodyPr wrap="square" lIns="0" tIns="0" rIns="0" bIns="0" rtlCol="0" anchor="t"/>
          <a:lstStyle/>
          <a:p>
            <a:pPr marL="0" indent="0">
              <a:buNone/>
            </a:pPr>
            <a:r>
              <a:rPr lang="en-US" sz="4110" b="1" dirty="0">
                <a:solidFill>
                  <a:srgbClr val="FFFFFF"/>
                </a:solidFill>
                <a:latin typeface="Arial" pitchFamily="34" charset="0"/>
                <a:ea typeface="Arial" pitchFamily="34" charset="-122"/>
                <a:cs typeface="Arial" pitchFamily="34" charset="-120"/>
              </a:rPr>
              <a:t>Connect real data</a:t>
            </a:r>
            <a:endParaRPr lang="en-US" sz="4110" dirty="0"/>
          </a:p>
          <a:p>
            <a:pPr marL="0" indent="0">
              <a:buNone/>
            </a:pPr>
            <a:r>
              <a:rPr lang="en-US" sz="3390" dirty="0">
                <a:solidFill>
                  <a:srgbClr val="CFC3B3"/>
                </a:solidFill>
                <a:latin typeface="Arial" pitchFamily="34" charset="0"/>
                <a:ea typeface="Arial" pitchFamily="34" charset="-122"/>
                <a:cs typeface="Arial" pitchFamily="34" charset="-120"/>
              </a:rPr>
              <a:t>Room bookings and instructors</a:t>
            </a:r>
            <a:endParaRPr lang="en-US" sz="4110" dirty="0"/>
          </a:p>
        </p:txBody>
      </p:sp>
      <p:sp>
        <p:nvSpPr>
          <p:cNvPr id="16" name="Next line 2"/>
          <p:cNvSpPr/>
          <p:nvPr/>
        </p:nvSpPr>
        <p:spPr>
          <a:xfrm>
            <a:off x="16809415" y="7453640"/>
            <a:ext cx="0" cy="928939"/>
          </a:xfrm>
          <a:prstGeom prst="line">
            <a:avLst/>
          </a:prstGeom>
          <a:noFill/>
          <a:ln w="60960">
            <a:solidFill>
              <a:srgbClr val="3A4A52"/>
            </a:solidFill>
            <a:prstDash val="solid"/>
          </a:ln>
        </p:spPr>
        <p:txBody>
          <a:bodyPr/>
          <a:lstStyle/>
          <a:p>
            <a:endParaRPr lang="en-US"/>
          </a:p>
        </p:txBody>
      </p:sp>
      <p:sp>
        <p:nvSpPr>
          <p:cNvPr id="17" name="Next dot 3"/>
          <p:cNvSpPr/>
          <p:nvPr/>
        </p:nvSpPr>
        <p:spPr>
          <a:xfrm>
            <a:off x="16145835" y="8404708"/>
            <a:ext cx="1327069" cy="1327069"/>
          </a:xfrm>
          <a:prstGeom prst="ellipse">
            <a:avLst/>
          </a:prstGeom>
          <a:solidFill>
            <a:srgbClr val="1E2C33"/>
          </a:solidFill>
          <a:ln w="60960">
            <a:solidFill>
              <a:srgbClr val="F4A252"/>
            </a:solidFill>
            <a:prstDash val="solid"/>
          </a:ln>
        </p:spPr>
        <p:txBody>
          <a:bodyPr/>
          <a:lstStyle/>
          <a:p>
            <a:endParaRPr lang="en-US"/>
          </a:p>
        </p:txBody>
      </p:sp>
      <p:sp>
        <p:nvSpPr>
          <p:cNvPr id="18" name="Next number 3"/>
          <p:cNvSpPr txBox="1"/>
          <p:nvPr/>
        </p:nvSpPr>
        <p:spPr>
          <a:xfrm>
            <a:off x="16145835" y="8404708"/>
            <a:ext cx="1327069" cy="1327069"/>
          </a:xfrm>
          <a:prstGeom prst="rect">
            <a:avLst/>
          </a:prstGeom>
          <a:noFill/>
          <a:ln/>
        </p:spPr>
        <p:txBody>
          <a:bodyPr wrap="square" lIns="0" tIns="0" rIns="0" bIns="0" rtlCol="0" anchor="ctr"/>
          <a:lstStyle/>
          <a:p>
            <a:pPr marL="0" indent="0" algn="ctr">
              <a:buNone/>
            </a:pPr>
            <a:r>
              <a:rPr lang="en-US" sz="3870" b="1" dirty="0">
                <a:solidFill>
                  <a:srgbClr val="F4A252"/>
                </a:solidFill>
                <a:latin typeface="Arial" pitchFamily="34" charset="0"/>
                <a:ea typeface="Arial" pitchFamily="34" charset="-122"/>
                <a:cs typeface="Arial" pitchFamily="34" charset="-120"/>
              </a:rPr>
              <a:t>3</a:t>
            </a:r>
            <a:endParaRPr lang="en-US" sz="3870" dirty="0"/>
          </a:p>
        </p:txBody>
      </p:sp>
      <p:sp>
        <p:nvSpPr>
          <p:cNvPr id="19" name="Next step 3"/>
          <p:cNvSpPr txBox="1"/>
          <p:nvPr/>
        </p:nvSpPr>
        <p:spPr>
          <a:xfrm>
            <a:off x="18025842" y="8316194"/>
            <a:ext cx="10174072" cy="1880006"/>
          </a:xfrm>
          <a:prstGeom prst="rect">
            <a:avLst/>
          </a:prstGeom>
          <a:noFill/>
          <a:ln/>
        </p:spPr>
        <p:txBody>
          <a:bodyPr wrap="square" lIns="0" tIns="0" rIns="0" bIns="0" rtlCol="0" anchor="t"/>
          <a:lstStyle/>
          <a:p>
            <a:pPr marL="0" indent="0">
              <a:buNone/>
            </a:pPr>
            <a:r>
              <a:rPr lang="en-US" sz="4110" b="1" dirty="0">
                <a:solidFill>
                  <a:srgbClr val="FFFFFF"/>
                </a:solidFill>
                <a:latin typeface="Arial" pitchFamily="34" charset="0"/>
                <a:ea typeface="Arial" pitchFamily="34" charset="-122"/>
                <a:cs typeface="Arial" pitchFamily="34" charset="-120"/>
              </a:rPr>
              <a:t>Measure the effect</a:t>
            </a:r>
            <a:endParaRPr lang="en-US" sz="4110" dirty="0"/>
          </a:p>
          <a:p>
            <a:pPr marL="0" indent="0">
              <a:buNone/>
            </a:pPr>
            <a:r>
              <a:rPr lang="en-US" sz="3390" dirty="0">
                <a:solidFill>
                  <a:srgbClr val="CFC3B3"/>
                </a:solidFill>
                <a:latin typeface="Arial" pitchFamily="34" charset="0"/>
                <a:ea typeface="Arial" pitchFamily="34" charset="-122"/>
                <a:cs typeface="Arial" pitchFamily="34" charset="-120"/>
              </a:rPr>
              <a:t>Attendance before and after</a:t>
            </a:r>
            <a:endParaRPr lang="en-US" sz="4110" dirty="0"/>
          </a:p>
        </p:txBody>
      </p:sp>
      <p:sp>
        <p:nvSpPr>
          <p:cNvPr id="20" name="Closing line"/>
          <p:cNvSpPr txBox="1"/>
          <p:nvPr/>
        </p:nvSpPr>
        <p:spPr>
          <a:xfrm>
            <a:off x="1327069" y="11611783"/>
            <a:ext cx="17694097" cy="1769364"/>
          </a:xfrm>
          <a:prstGeom prst="rect">
            <a:avLst/>
          </a:prstGeom>
          <a:noFill/>
          <a:ln/>
        </p:spPr>
        <p:txBody>
          <a:bodyPr wrap="square" lIns="0" tIns="0" rIns="0" bIns="0" rtlCol="0" anchor="t"/>
          <a:lstStyle/>
          <a:p>
            <a:pPr marL="0" indent="0">
              <a:buNone/>
            </a:pPr>
            <a:r>
              <a:rPr lang="en-US" sz="8710" i="1" dirty="0">
                <a:solidFill>
                  <a:srgbClr val="FFFFFF"/>
                </a:solidFill>
                <a:latin typeface="Georgia" pitchFamily="34" charset="0"/>
                <a:ea typeface="Georgia" pitchFamily="34" charset="-122"/>
                <a:cs typeface="Georgia" pitchFamily="34" charset="-120"/>
              </a:rPr>
              <a:t>Every hour matters.</a:t>
            </a:r>
            <a:endParaRPr lang="en-US" sz="8710" dirty="0"/>
          </a:p>
        </p:txBody>
      </p:sp>
      <p:sp>
        <p:nvSpPr>
          <p:cNvPr id="21" name="Thanks"/>
          <p:cNvSpPr txBox="1"/>
          <p:nvPr/>
        </p:nvSpPr>
        <p:spPr>
          <a:xfrm>
            <a:off x="1327069" y="13491698"/>
            <a:ext cx="17694097" cy="884682"/>
          </a:xfrm>
          <a:prstGeom prst="rect">
            <a:avLst/>
          </a:prstGeom>
          <a:noFill/>
          <a:ln/>
        </p:spPr>
        <p:txBody>
          <a:bodyPr wrap="square" lIns="0" tIns="0" rIns="0" bIns="0" rtlCol="0" anchor="t"/>
          <a:lstStyle/>
          <a:p>
            <a:pPr marL="0" indent="0">
              <a:buNone/>
            </a:pPr>
            <a:r>
              <a:rPr lang="en-US" sz="3390" dirty="0">
                <a:solidFill>
                  <a:srgbClr val="A9A193"/>
                </a:solidFill>
                <a:latin typeface="Arial" pitchFamily="34" charset="0"/>
                <a:ea typeface="Arial" pitchFamily="34" charset="-122"/>
                <a:cs typeface="Arial" pitchFamily="34" charset="-120"/>
              </a:rPr>
              <a:t>Thank you · questions welcome</a:t>
            </a:r>
            <a:endParaRPr lang="en-US" sz="3390" dirty="0"/>
          </a:p>
        </p:txBody>
      </p:sp>
    </p:spTree>
  </p:cSld>
  <p:clrMapOvr>
    <a:masterClrMapping/>
  </p:clrMapOvr>
</p:sld>
</file>

<file path=ppt/theme/theme1.xml><?xml version="1.0" encoding="utf-8"?>
<a:theme xmlns:a="http://schemas.openxmlformats.org/drawingml/2006/main" name="Mizan">
  <a:themeElements>
    <a:clrScheme name="Mizan">
      <a:dk1>
        <a:srgbClr val="172126"/>
      </a:dk1>
      <a:lt1>
        <a:srgbClr val="FFFCF7"/>
      </a:lt1>
      <a:dk2>
        <a:srgbClr val="111C21"/>
      </a:dk2>
      <a:lt2>
        <a:srgbClr val="EEE8DE"/>
      </a:lt2>
      <a:accent1>
        <a:srgbClr val="F4A252"/>
      </a:accent1>
      <a:accent2>
        <a:srgbClr val="529573"/>
      </a:accent2>
      <a:accent3>
        <a:srgbClr val="4B6C9F"/>
      </a:accent3>
      <a:accent4>
        <a:srgbClr val="B95042"/>
      </a:accent4>
      <a:accent5>
        <a:srgbClr val="EAAA62"/>
      </a:accent5>
      <a:accent6>
        <a:srgbClr val="68645B"/>
      </a:accent6>
      <a:hlink>
        <a:srgbClr val="315583"/>
      </a:hlink>
      <a:folHlink>
        <a:srgbClr val="303533"/>
      </a:folHlink>
    </a:clrScheme>
    <a:fontScheme name="Miza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1794</Words>
  <Application>Microsoft Office PowerPoint</Application>
  <PresentationFormat>Custom</PresentationFormat>
  <Paragraphs>132</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Georgia</vt:lpstr>
      <vt:lpstr>Mizan</vt:lpstr>
      <vt:lpstr>PowerPoint Presentation</vt:lpstr>
      <vt:lpstr>Gaps between classes cost students their attendance</vt:lpstr>
      <vt:lpstr>One change touches rooms, professors and hundreds of students</vt:lpstr>
      <vt:lpstr>Mizan measures, improves and checks, then people decide</vt:lpstr>
      <vt:lpstr>Live demo: a whole semester improved in 15 seconds</vt:lpstr>
      <vt:lpstr>Your real Edugate schedule in, a better one out</vt:lpstr>
      <vt:lpstr>Built to be trusted: local AI, rules enforced by code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Mizan — Farq 2026 final</dc:title>
  <dc:subject>PptxGenJS Presentation</dc:subject>
  <dc:creator>Mizan team</dc:creator>
  <cp:lastModifiedBy>ali bin ali</cp:lastModifiedBy>
  <cp:revision>2</cp:revision>
  <dcterms:created xsi:type="dcterms:W3CDTF">2026-10-04T06:06:49Z</dcterms:created>
  <dcterms:modified xsi:type="dcterms:W3CDTF">2026-10-04T06:11:21Z</dcterms:modified>
</cp:coreProperties>
</file>