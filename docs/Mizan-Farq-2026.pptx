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8"/>
    <p:sldId id="263" r:id="rId9"/>
  </p:sldIdLst>
  <p:sldSz cx="29489400" cy="15240000"/>
  <p:notesSz cx="15240000" cy="29489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307F00D-FDA6-4493-8213-BC9C809603DC}">
          <p14:sldIdLst>
            <p14:sldId id="256"/>
          </p14:sldIdLst>
        </p14:section>
        <p14:section name="Problem" id="{7794F5C2-BDD6-36A5-6A75-9FAABE940FEE}">
          <p14:sldIdLst>
            <p14:sldId id="257"/>
            <p14:sldId id="258"/>
          </p14:sldIdLst>
        </p14:section>
        <p14:section name="Solution" id="{E550209F-3F0B-EE56-BE44-14DD0F986802}">
          <p14:sldIdLst>
            <p14:sldId id="259"/>
          </p14:sldIdLst>
        </p14:section>
        <p14:section name="Demo" id="{C9B1D731-5EC7-E5BC-D338-DFF941FCBEF8}">
          <p14:sldIdLst>
            <p14:sldId id="260"/>
            <p14:sldId id="261"/>
          </p14:sldIdLst>
        </p14:section>
        <p14:section name="Technology" id="{7CCCC48D-DAC2-9033-D766-04E95D2C13EB}">
          <p14:sldIdLst>
            <p14:sldId id="262"/>
          </p14:sldIdLst>
        </p14:section>
        <p14:section name="Close" id="{7B9E9FFD-6CB3-AE99-C72D-E34BE644D5B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6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decisions (of 120)</c:v>
                </c:pt>
              </c:strCache>
            </c:strRef>
          </c:tx>
          <c:spPr>
            <a:solidFill>
              <a:srgbClr val="CFC3B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FC3B3"/>
              </a:solidFill>
            </c:spPr>
            <c:extLst>
              <c:ext xmlns:c16="http://schemas.microsoft.com/office/drawing/2014/chart" uri="{C3380CC4-5D6E-409C-BE32-E72D297353CC}">
                <c16:uniqueId val="{00000001-1DDF-4958-B726-B6501121E071}"/>
              </c:ext>
            </c:extLst>
          </c:dPt>
          <c:dPt>
            <c:idx val="1"/>
            <c:invertIfNegative val="0"/>
            <c:bubble3D val="0"/>
            <c:spPr>
              <a:solidFill>
                <a:srgbClr val="E3C9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DF-4958-B726-B6501121E071}"/>
              </c:ext>
            </c:extLst>
          </c:dPt>
          <c:dPt>
            <c:idx val="2"/>
            <c:invertIfNegative val="1"/>
            <c:bubble3D val="0"/>
            <c:spPr>
              <a:solidFill>
                <a:srgbClr val="F4A252"/>
              </a:solidFill>
            </c:spPr>
            <c:extLst>
              <c:ext xmlns:c16="http://schemas.microsoft.com/office/drawing/2014/chart" uri="{C3380CC4-5D6E-409C-BE32-E72D297353CC}">
                <c16:uniqueId val="{00000005-1647-4C4E-9E11-F0282D80C6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140" b="0" i="0" u="none" strike="noStrike">
                    <a:solidFill>
                      <a:srgbClr val="1721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Base, old prompt</c:v>
                </c:pt>
                <c:pt idx="1">
                  <c:v>Base, new prompt</c:v>
                </c:pt>
                <c:pt idx="2">
                  <c:v>Fine-tuned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96</c:v>
                </c:pt>
                <c:pt idx="2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DF-4958-B726-B6501121E0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900" b="0" i="0" u="none" strike="noStrike">
                <a:solidFill>
                  <a:srgbClr val="1721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225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[0:00–0:20 · Whole team · 20 s]</a:t>
            </a:r>
          </a:p>
          <a:p>
            <a:r>
              <a:t>SULTAN: "Good morning. We are team Mizan." (Sultan, Ali and Mishary each say their name and role in one line, as on the cards.)</a:t>
            </a:r>
          </a:p>
          <a:p>
            <a:r>
              <a:t>SULTAN: "Mizan is a local AI assistant that makes a university timetable better for students — and every change still goes through a person."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[0:20–1:00 · Sultan · 40 s]</a:t>
            </a:r>
          </a:p>
          <a:p>
            <a:r>
              <a:t>"A timetable decides when students come, wait and leave. Research shows it matters.</a:t>
            </a:r>
          </a:p>
          <a:p>
            <a:r>
              <a:t>At Prince Sultan University in Riyadh, three timetable factors predicted absences with 87% accuracy — one is free time between classes. In the same study, more absences meant lower GPA: a correlation of −0.71.</a:t>
            </a:r>
          </a:p>
          <a:p>
            <a:r>
              <a:t>A UK study with randomly assigned timetables found the same: back-to-back classes raise attendance; single-class days lower it.</a:t>
            </a:r>
          </a:p>
          <a:p>
            <a:r>
              <a:t>And rooms sit empty: about 20% use across 30 UK universities.</a:t>
            </a:r>
          </a:p>
          <a:p>
            <a:r>
              <a:t>The timetable is a lever every university controls — but today it is built to be valid, not good for students."</a:t>
            </a:r>
          </a:p>
          <a:p>
            <a:r>
              <a:t>Q&amp;A note: we do NOT claim higher grades; the grade link is a correlation. We claim attendance and student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[1:00–1:25 · Sultan · 25 s]</a:t>
            </a:r>
          </a:p>
          <a:p>
            <a:r>
              <a:t>"Why not just improve it? Because every change ripples: move one class and you re-check the room, the professor, every enrolled student and their other classes.</a:t>
            </a:r>
          </a:p>
          <a:p>
            <a:r>
              <a:t>We collected 30 real requests from professors — move a class, find a quiz time, merge two sections.</a:t>
            </a:r>
          </a:p>
          <a:p>
            <a:r>
              <a:t>In our demo, one move to Sunday 10:00 creates 77 conflicts. By hand, this doesn't scale."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[1:25–1:50 · Mishary · 25 s]</a:t>
            </a:r>
          </a:p>
          <a:p>
            <a:r>
              <a:t>"Mizan works in five steps. Import a whole semester — or a single student's Edugate PDF or app screenshot. Measure gaps, campus days and room use. Improve with a solver that only proposes valid timetables. Approve: the committee sees benefit and harm side by side. Export back to the Edugate layout.</a:t>
            </a:r>
          </a:p>
          <a:p>
            <a:r>
              <a:t>It serves the committee, chairs, professors, students and hiring managers. Ali will show you." </a:t>
            </a:r>
          </a:p>
          <a:p>
            <a:r>
              <a:t/>
            </a:r>
          </a:p>
          <a:p>
            <a:r>
              <a:t/>
            </a:r>
          </a:p>
          <a:p>
            <a:r>
              <a:t>→ SWITCH TO THE BROWSER (Ali). Back to the deck afterwards, on the Trust slide.</a:t>
            </a:r>
          </a:p>
          <a:p>
            <a:r>
              <a:t/>
            </a:r>
          </a:p>
          <a:p>
            <a:r>
              <a:t>[1:50–3:00 · Ali · LIVE DEMO · 70 s] (laptop; no AI needed for this part)</a:t>
            </a:r>
          </a:p>
          <a:p>
            <a:r>
              <a:t>1. Overview: "This demo semester has 1,500 synthetic students. Its start is deliberately poor: 10 hours of gaps each per week. The point is the method."</a:t>
            </a:r>
          </a:p>
          <a:p>
            <a:r>
              <a:t>2. Optimize semester → Run (15 s). While it runs: "The solver searches valid timetables, and a separate validator re-checks every result."</a:t>
            </a:r>
          </a:p>
          <a:p>
            <a:r>
              <a:t>3. Evidence: "About 1,800 student-hours a week given back, 225 students better off, zero worse off, zero conflicts — benefit and harm shown separately."</a:t>
            </a:r>
          </a:p>
          <a:p>
            <a:r>
              <a:t>4. Approve → the dialog stays open → Publish: "Nothing changes until a person approves and publishes."</a:t>
            </a:r>
          </a:p>
          <a:p>
            <a:r>
              <a:t>If anything fails: play the backup demo video on the desktop.</a:t>
            </a:r>
          </a:p>
          <a:p>
            <a:r>
              <a:t/>
            </a:r>
          </a:p>
          <a:p>
            <a:r>
              <a:t>[3:00–3:30 · Ali · LIVE · 30 s]</a:t>
            </a:r>
          </a:p>
          <a:p>
            <a:r>
              <a:t>"It also speaks Al Yamamah's own format." Semester lab → Edugate import: upload the app screenshot (reads in about a second, on this laptop; the file isn't stored). "Anything unsure is highlighted for you to check."</a:t>
            </a:r>
          </a:p>
          <a:p>
            <a:r>
              <a:t>Then download the prepared PDF: "The result comes back in the Edugate layout, changed rows shaded. Instructors and room sizes aren't on a student schedule, so Mizan marks them as assumed and won't publish until they're verified."</a:t>
            </a:r>
          </a:p>
          <a:p>
            <a:r>
              <a:t>Before the pitch: import your schedule and optimize it once, so the export is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[3:30–4:10 · Ali · 40 s]</a:t>
            </a:r>
          </a:p>
          <a:p>
            <a:r>
              <a:t>"Three reasons to trust it. One: the AI runs on this laptop — no cloud, no student data leaves the university. We tested our coordinator agent on 120 synthetic decisions: a better prompt took the base model from 75 to 96 correct, and fine-tuning added about 10 more, to 106.</a:t>
            </a:r>
          </a:p>
          <a:p>
            <a:r>
              <a:t>Two: the AI never decides a hard rule or the final outcome. A solver finds valid timetables and a separate validator re-checks every one.</a:t>
            </a:r>
          </a:p>
          <a:p>
            <a:r>
              <a:t>Three: 99 automated tests and three browser test suites pass, and Arabic and English always show the same numbers."</a:t>
            </a:r>
          </a:p>
          <a:p>
            <a:r>
              <a:t>Q&amp;A: fine-tuning alone fixed 14 decisions and broke 4 (p ≈ 0.03); the test cases come from the same generator as the training data. Never quote "111".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[4:10–4:50 · Mishary · 40 s] then [4:50–5:00 · Sultan · 10 s]</a:t>
            </a:r>
          </a:p>
          <a:p>
            <a:r>
              <a:t>MISHARY: "For students: fewer idle hours and campus days, so more reasons to attend. For the committee: every change checked in seconds, with evidence instead of email threads. For the university: unused rooms made visible, and data that stays on campus.</a:t>
            </a:r>
          </a:p>
          <a:p>
            <a:r>
              <a:t>Next: a pilot with one college on real Edugate data with verified rooms and instructors; then a semester calendar for one-off changes, exams and Ramadan timings; then approvals and notices so students are told when their timetable changes."</a:t>
            </a:r>
          </a:p>
          <a:p>
            <a:r>
              <a:t>SULTAN: "Every hour matters. Thank you — we're happy to take questions."</a:t>
            </a:r>
          </a:p>
          <a:p>
            <a:r>
              <a:t>Q&amp;A owners: problem and research → Sultan; AI, solver, data and security → Ali; value, pilot, cost and users → Mishary. Staffing example if asked: "36 of the 112 students who need Machine Learning would have no seat."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ZAN_DARK">
    <p:bg>
      <p:bgPr>
        <a:solidFill>
          <a:srgbClr val="11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ZAN_CONTENT"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7069" y="928939"/>
            <a:ext cx="26762293" cy="176936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</a:t>
            </a:r>
            <a:endParaRPr lang="en-US" sz="7260" dirty="0"/>
          </a:p>
        </p:txBody>
      </p:sp>
      <p:sp>
        <p:nvSpPr>
          <p:cNvPr id="3" name="Text 0"/>
          <p:cNvSpPr/>
          <p:nvPr/>
        </p:nvSpPr>
        <p:spPr>
          <a:xfrm>
            <a:off x="1327069" y="14332214"/>
            <a:ext cx="13270596" cy="55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8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MIZAN  ·  Farq 2026</a:t>
            </a:r>
            <a:endParaRPr lang="en-US" sz="2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27097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27097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mpus photo" descr="C:\Users\Admin\AppData\Local\Temp\claude\C--Users-Admin-Documents-GitHub-Mizan\b7a3e5b0-497b-48e5-8b06-72387145df4d\scratchpad\deck\img_campu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367028" y="0"/>
            <a:ext cx="13122372" cy="15236830"/>
          </a:xfrm>
          <a:prstGeom prst="rect">
            <a:avLst/>
          </a:prstGeom>
        </p:spPr>
      </p:pic>
      <p:sp>
        <p:nvSpPr>
          <p:cNvPr id="3" name="Photo shade"/>
          <p:cNvSpPr/>
          <p:nvPr/>
        </p:nvSpPr>
        <p:spPr>
          <a:xfrm>
            <a:off x="16367028" y="0"/>
            <a:ext cx="13122372" cy="15236830"/>
          </a:xfrm>
          <a:prstGeom prst="rect">
            <a:avLst/>
          </a:prstGeom>
          <a:solidFill>
            <a:srgbClr val="111C21">
              <a:alpha val="55000"/>
            </a:srgbClr>
          </a:solidFill>
          <a:ln w="12700">
            <a:solidFill>
              <a:srgbClr val="111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rand mark"/>
          <p:cNvSpPr/>
          <p:nvPr/>
        </p:nvSpPr>
        <p:spPr>
          <a:xfrm>
            <a:off x="1327069" y="1327069"/>
            <a:ext cx="1238555" cy="1238555"/>
          </a:xfrm>
          <a:prstGeom prst="roundRect">
            <a:avLst>
              <a:gd name="adj" fmla="val 14286"/>
            </a:avLst>
          </a:prstGeom>
          <a:solidFill>
            <a:srgbClr val="F4A252"/>
          </a:solidFill>
          <a:ln w="12700">
            <a:solidFill>
              <a:srgbClr val="F4A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rand letter"/>
          <p:cNvSpPr txBox="1"/>
          <p:nvPr/>
        </p:nvSpPr>
        <p:spPr>
          <a:xfrm>
            <a:off x="1327069" y="1327069"/>
            <a:ext cx="1238555" cy="1238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20" b="1" dirty="0">
                <a:solidFill>
                  <a:srgbClr val="111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en-US" sz="5320" dirty="0"/>
          </a:p>
        </p:txBody>
      </p:sp>
      <p:sp>
        <p:nvSpPr>
          <p:cNvPr id="6" name="Brand name"/>
          <p:cNvSpPr txBox="1"/>
          <p:nvPr/>
        </p:nvSpPr>
        <p:spPr>
          <a:xfrm>
            <a:off x="2919496" y="1504005"/>
            <a:ext cx="884700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70" b="1" kern="0" spc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MIZAN</a:t>
            </a:r>
            <a:r>
              <a:rPr lang="en-US" sz="387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ميزان</a:t>
            </a:r>
            <a:endParaRPr lang="en-US" sz="3870" dirty="0"/>
          </a:p>
        </p:txBody>
      </p:sp>
      <p:sp>
        <p:nvSpPr>
          <p:cNvPr id="7" name="Headline"/>
          <p:cNvSpPr txBox="1"/>
          <p:nvPr/>
        </p:nvSpPr>
        <p:spPr>
          <a:xfrm>
            <a:off x="1327069" y="3870564"/>
            <a:ext cx="14597573" cy="33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8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hour of the week,</a:t>
            </a:r>
            <a:endParaRPr lang="en-US" sz="9680" dirty="0"/>
          </a:p>
          <a:p>
            <a:pPr marL="0" indent="0">
              <a:buNone/>
            </a:pPr>
            <a:r>
              <a:rPr lang="en-US" sz="968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balance</a:t>
            </a:r>
            <a:endParaRPr lang="en-US" sz="9680" dirty="0"/>
          </a:p>
        </p:txBody>
      </p:sp>
      <p:sp>
        <p:nvSpPr>
          <p:cNvPr id="8" name="Tagline"/>
          <p:cNvSpPr txBox="1"/>
          <p:nvPr/>
        </p:nvSpPr>
        <p:spPr>
          <a:xfrm>
            <a:off x="1327069" y="7409383"/>
            <a:ext cx="13712891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70" dirty="0">
                <a:solidFill>
                  <a:srgbClr val="E3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AI assistant that makes university timetables better for students and leaves every decision with people.</a:t>
            </a:r>
            <a:endParaRPr lang="en-US" sz="3870" dirty="0"/>
          </a:p>
        </p:txBody>
      </p:sp>
      <p:sp>
        <p:nvSpPr>
          <p:cNvPr id="9" name="Team label"/>
          <p:cNvSpPr txBox="1"/>
          <p:nvPr/>
        </p:nvSpPr>
        <p:spPr>
          <a:xfrm>
            <a:off x="1327069" y="10218329"/>
            <a:ext cx="6635252" cy="55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20" b="1" kern="0" spc="480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2420" dirty="0"/>
          </a:p>
        </p:txBody>
      </p:sp>
      <p:sp>
        <p:nvSpPr>
          <p:cNvPr id="10" name="Team card 1"/>
          <p:cNvSpPr/>
          <p:nvPr/>
        </p:nvSpPr>
        <p:spPr>
          <a:xfrm>
            <a:off x="1327069" y="10948203"/>
            <a:ext cx="3317626" cy="1813621"/>
          </a:xfrm>
          <a:prstGeom prst="roundRect">
            <a:avLst>
              <a:gd name="adj" fmla="val 7316"/>
            </a:avLst>
          </a:prstGeom>
          <a:solidFill>
            <a:srgbClr val="1E2C33"/>
          </a:solidFill>
          <a:ln w="12700">
            <a:solidFill>
              <a:srgbClr val="1E2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am member 1"/>
          <p:cNvSpPr txBox="1"/>
          <p:nvPr/>
        </p:nvSpPr>
        <p:spPr>
          <a:xfrm>
            <a:off x="1592428" y="11191524"/>
            <a:ext cx="2875331" cy="1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Sultan Albinali</a:t>
            </a:r>
            <a:endParaRPr lang="en-US" sz="2900" dirty="0"/>
          </a:p>
          <a:p>
            <a:pPr marL="0" indent="0">
              <a:buNone/>
            </a:pPr>
            <a:r>
              <a:rPr lang="en-US" sz="242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research</a:t>
            </a:r>
            <a:endParaRPr lang="en-US" sz="2900" dirty="0"/>
          </a:p>
        </p:txBody>
      </p:sp>
      <p:sp>
        <p:nvSpPr>
          <p:cNvPr id="14" name="Team card 3"/>
          <p:cNvSpPr/>
          <p:nvPr/>
        </p:nvSpPr>
        <p:spPr>
          <a:xfrm>
            <a:off x="4910054" y="10948203"/>
            <a:ext cx="3317626" cy="1813621"/>
          </a:xfrm>
          <a:prstGeom prst="roundRect">
            <a:avLst>
              <a:gd name="adj" fmla="val 7316"/>
            </a:avLst>
          </a:prstGeom>
          <a:solidFill>
            <a:srgbClr val="1E2C33"/>
          </a:solidFill>
          <a:ln w="12700">
            <a:solidFill>
              <a:srgbClr val="1E2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am member 3"/>
          <p:cNvSpPr txBox="1"/>
          <p:nvPr/>
        </p:nvSpPr>
        <p:spPr>
          <a:xfrm>
            <a:off x="5175504" y="11191524"/>
            <a:ext cx="2875331" cy="1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Albinali</a:t>
            </a:r>
            <a:endParaRPr lang="en-US" sz="2900" dirty="0"/>
          </a:p>
          <a:p>
            <a:pPr marL="0" indent="0">
              <a:buNone/>
            </a:pPr>
            <a:r>
              <a:rPr lang="en-US" sz="242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optimization</a:t>
            </a:r>
            <a:endParaRPr lang="en-US" sz="2900" dirty="0"/>
          </a:p>
        </p:txBody>
      </p:sp>
      <p:sp>
        <p:nvSpPr>
          <p:cNvPr id="16" name="Team card 4"/>
          <p:cNvSpPr/>
          <p:nvPr/>
        </p:nvSpPr>
        <p:spPr>
          <a:xfrm>
            <a:off x="8493130" y="10948203"/>
            <a:ext cx="3317626" cy="1813621"/>
          </a:xfrm>
          <a:prstGeom prst="roundRect">
            <a:avLst>
              <a:gd name="adj" fmla="val 7316"/>
            </a:avLst>
          </a:prstGeom>
          <a:solidFill>
            <a:srgbClr val="1E2C33"/>
          </a:solidFill>
          <a:ln w="12700">
            <a:solidFill>
              <a:srgbClr val="1E2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am member 4"/>
          <p:cNvSpPr txBox="1"/>
          <p:nvPr/>
        </p:nvSpPr>
        <p:spPr>
          <a:xfrm>
            <a:off x="8625855" y="11191524"/>
            <a:ext cx="3052175" cy="1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Mishary </a:t>
            </a:r>
            <a:r>
              <a:rPr lang="en-US" sz="2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AlAwadh</a:t>
            </a:r>
            <a:endParaRPr lang="en-US" sz="2900" dirty="0"/>
          </a:p>
          <a:p>
            <a:pPr marL="0" indent="0">
              <a:buNone/>
            </a:pPr>
            <a:r>
              <a:rPr lang="en-US" sz="242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&amp; next steps</a:t>
            </a:r>
            <a:endParaRPr lang="en-US" sz="2900" dirty="0"/>
          </a:p>
        </p:txBody>
      </p:sp>
      <p:sp>
        <p:nvSpPr>
          <p:cNvPr id="18" name="Event"/>
          <p:cNvSpPr txBox="1"/>
          <p:nvPr/>
        </p:nvSpPr>
        <p:spPr>
          <a:xfrm>
            <a:off x="1327069" y="13934084"/>
            <a:ext cx="14376471" cy="66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20" dirty="0">
                <a:solidFill>
                  <a:srgbClr val="A9A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Farq Hackathon 2026</a:t>
            </a:r>
            <a:endParaRPr lang="en-US" sz="24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7069" y="928939"/>
            <a:ext cx="26762293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between classes cost students their attendance</a:t>
            </a:r>
            <a:endParaRPr lang="en-US" sz="7260" dirty="0"/>
          </a:p>
        </p:txBody>
      </p:sp>
      <p:sp>
        <p:nvSpPr>
          <p:cNvPr id="3" name="Stat card 1"/>
          <p:cNvSpPr/>
          <p:nvPr/>
        </p:nvSpPr>
        <p:spPr>
          <a:xfrm>
            <a:off x="1327069" y="3428268"/>
            <a:ext cx="6237122" cy="8736452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at 1"/>
          <p:cNvSpPr txBox="1"/>
          <p:nvPr/>
        </p:nvSpPr>
        <p:spPr>
          <a:xfrm>
            <a:off x="1880006" y="3981206"/>
            <a:ext cx="5308183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40" dirty="0">
                <a:solidFill>
                  <a:srgbClr val="B9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0640" dirty="0"/>
          </a:p>
        </p:txBody>
      </p:sp>
      <p:sp>
        <p:nvSpPr>
          <p:cNvPr id="5" name="Stat label 1"/>
          <p:cNvSpPr txBox="1"/>
          <p:nvPr/>
        </p:nvSpPr>
        <p:spPr>
          <a:xfrm>
            <a:off x="1880006" y="6303508"/>
            <a:ext cx="5197632" cy="353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9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predicting student absences from three timetable factors. One of them is free time between classes.</a:t>
            </a:r>
            <a:endParaRPr lang="en-US" sz="3390" dirty="0"/>
          </a:p>
        </p:txBody>
      </p:sp>
      <p:sp>
        <p:nvSpPr>
          <p:cNvPr id="6" name="Stat source 1"/>
          <p:cNvSpPr txBox="1"/>
          <p:nvPr/>
        </p:nvSpPr>
        <p:spPr>
          <a:xfrm>
            <a:off x="1880006" y="10505816"/>
            <a:ext cx="5197632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2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Sultan University, Riyadh · 4,325 students · PLoS ONE 2021</a:t>
            </a:r>
            <a:endParaRPr lang="en-US" sz="2420" dirty="0"/>
          </a:p>
        </p:txBody>
      </p:sp>
      <p:sp>
        <p:nvSpPr>
          <p:cNvPr id="7" name="Stat card 2"/>
          <p:cNvSpPr/>
          <p:nvPr/>
        </p:nvSpPr>
        <p:spPr>
          <a:xfrm>
            <a:off x="8095000" y="3428268"/>
            <a:ext cx="6237122" cy="8736452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 2"/>
          <p:cNvSpPr txBox="1"/>
          <p:nvPr/>
        </p:nvSpPr>
        <p:spPr>
          <a:xfrm>
            <a:off x="8647938" y="3981206"/>
            <a:ext cx="5308183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40" dirty="0">
                <a:solidFill>
                  <a:srgbClr val="B9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−0.71</a:t>
            </a:r>
            <a:endParaRPr lang="en-US" sz="10640" dirty="0"/>
          </a:p>
        </p:txBody>
      </p:sp>
      <p:sp>
        <p:nvSpPr>
          <p:cNvPr id="9" name="Stat label 2"/>
          <p:cNvSpPr txBox="1"/>
          <p:nvPr/>
        </p:nvSpPr>
        <p:spPr>
          <a:xfrm>
            <a:off x="8647938" y="6303508"/>
            <a:ext cx="5197632" cy="353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9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between absences and GPA in the same Saudi study. More absences, lower grades.</a:t>
            </a:r>
            <a:endParaRPr lang="en-US" sz="3390" dirty="0"/>
          </a:p>
        </p:txBody>
      </p:sp>
      <p:sp>
        <p:nvSpPr>
          <p:cNvPr id="10" name="Stat source 2"/>
          <p:cNvSpPr txBox="1"/>
          <p:nvPr/>
        </p:nvSpPr>
        <p:spPr>
          <a:xfrm>
            <a:off x="8647938" y="10505816"/>
            <a:ext cx="5197632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2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Larabi-Marie-Sainte et al., PLoS ONE 2021</a:t>
            </a:r>
            <a:endParaRPr lang="en-US" sz="2420" dirty="0"/>
          </a:p>
        </p:txBody>
      </p:sp>
      <p:sp>
        <p:nvSpPr>
          <p:cNvPr id="11" name="Stat card 3"/>
          <p:cNvSpPr/>
          <p:nvPr/>
        </p:nvSpPr>
        <p:spPr>
          <a:xfrm>
            <a:off x="14863023" y="3428268"/>
            <a:ext cx="6237122" cy="8736452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 3"/>
          <p:cNvSpPr txBox="1"/>
          <p:nvPr/>
        </p:nvSpPr>
        <p:spPr>
          <a:xfrm>
            <a:off x="15415961" y="3981206"/>
            <a:ext cx="5308183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40" dirty="0">
                <a:solidFill>
                  <a:srgbClr val="529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+1.5 pts</a:t>
            </a:r>
            <a:endParaRPr lang="en-US" sz="10640" dirty="0"/>
          </a:p>
        </p:txBody>
      </p:sp>
      <p:sp>
        <p:nvSpPr>
          <p:cNvPr id="13" name="Stat label 3"/>
          <p:cNvSpPr txBox="1"/>
          <p:nvPr/>
        </p:nvSpPr>
        <p:spPr>
          <a:xfrm>
            <a:off x="15415961" y="6303508"/>
            <a:ext cx="5197632" cy="353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9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when classes run back to back. A day with a single class lowers it (−0.9 pts).</a:t>
            </a:r>
            <a:endParaRPr lang="en-US" sz="3390" dirty="0"/>
          </a:p>
        </p:txBody>
      </p:sp>
      <p:sp>
        <p:nvSpPr>
          <p:cNvPr id="14" name="Stat source 3"/>
          <p:cNvSpPr txBox="1"/>
          <p:nvPr/>
        </p:nvSpPr>
        <p:spPr>
          <a:xfrm>
            <a:off x="15415961" y="10505816"/>
            <a:ext cx="5197632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2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university · 307,488 class events · IZA DP 17979, 2025</a:t>
            </a:r>
            <a:endParaRPr lang="en-US" sz="2420" dirty="0"/>
          </a:p>
        </p:txBody>
      </p:sp>
      <p:sp>
        <p:nvSpPr>
          <p:cNvPr id="15" name="Stat card 4"/>
          <p:cNvSpPr/>
          <p:nvPr/>
        </p:nvSpPr>
        <p:spPr>
          <a:xfrm>
            <a:off x="21631046" y="3428268"/>
            <a:ext cx="6237122" cy="8736452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at 4"/>
          <p:cNvSpPr txBox="1"/>
          <p:nvPr/>
        </p:nvSpPr>
        <p:spPr>
          <a:xfrm>
            <a:off x="22183984" y="3981206"/>
            <a:ext cx="5308183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40" dirty="0">
                <a:solidFill>
                  <a:srgbClr val="4B6C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</a:t>
            </a:r>
            <a:endParaRPr lang="en-US" sz="10640" dirty="0"/>
          </a:p>
        </p:txBody>
      </p:sp>
      <p:sp>
        <p:nvSpPr>
          <p:cNvPr id="17" name="Stat label 4"/>
          <p:cNvSpPr txBox="1"/>
          <p:nvPr/>
        </p:nvSpPr>
        <p:spPr>
          <a:xfrm>
            <a:off x="22183984" y="6303508"/>
            <a:ext cx="5197632" cy="353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9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use of university teaching rooms. Some buildings sit near 10%.</a:t>
            </a:r>
            <a:endParaRPr lang="en-US" sz="3390" dirty="0"/>
          </a:p>
        </p:txBody>
      </p:sp>
      <p:sp>
        <p:nvSpPr>
          <p:cNvPr id="18" name="Stat source 4"/>
          <p:cNvSpPr txBox="1"/>
          <p:nvPr/>
        </p:nvSpPr>
        <p:spPr>
          <a:xfrm>
            <a:off x="22183984" y="10505816"/>
            <a:ext cx="5197632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2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UK universities · Smart Space Forum, July 2026</a:t>
            </a:r>
            <a:endParaRPr lang="en-US" sz="2420" dirty="0"/>
          </a:p>
        </p:txBody>
      </p:sp>
      <p:sp>
        <p:nvSpPr>
          <p:cNvPr id="19" name="Takeaway"/>
          <p:cNvSpPr txBox="1"/>
          <p:nvPr/>
        </p:nvSpPr>
        <p:spPr>
          <a:xfrm>
            <a:off x="1327069" y="12717658"/>
            <a:ext cx="26762293" cy="110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110" i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timetable is a lever every university already controls. Today it is built to be valid, not to be good for students.</a:t>
            </a:r>
            <a:endParaRPr lang="en-US" sz="4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27097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7069" y="928939"/>
            <a:ext cx="26762293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change touches rooms, professors and hundreds of students</a:t>
            </a:r>
            <a:endParaRPr lang="en-US" sz="7260" dirty="0"/>
          </a:p>
        </p:txBody>
      </p:sp>
      <p:sp>
        <p:nvSpPr>
          <p:cNvPr id="3" name="Why icon bg 1"/>
          <p:cNvSpPr/>
          <p:nvPr/>
        </p:nvSpPr>
        <p:spPr>
          <a:xfrm>
            <a:off x="1327069" y="3538819"/>
            <a:ext cx="1371326" cy="1371326"/>
          </a:xfrm>
          <a:prstGeom prst="roundRect">
            <a:avLst>
              <a:gd name="adj" fmla="val 49997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Why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813" y="3870564"/>
            <a:ext cx="707746" cy="707746"/>
          </a:xfrm>
          <a:prstGeom prst="rect">
            <a:avLst/>
          </a:prstGeom>
        </p:spPr>
      </p:pic>
      <p:sp>
        <p:nvSpPr>
          <p:cNvPr id="5" name="Why head 1"/>
          <p:cNvSpPr txBox="1"/>
          <p:nvPr/>
        </p:nvSpPr>
        <p:spPr>
          <a:xfrm>
            <a:off x="3207075" y="3494562"/>
            <a:ext cx="11501140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is where it stops</a:t>
            </a:r>
            <a:endParaRPr lang="en-US" sz="4350" dirty="0"/>
          </a:p>
        </p:txBody>
      </p:sp>
      <p:sp>
        <p:nvSpPr>
          <p:cNvPr id="6" name="Why body 1"/>
          <p:cNvSpPr txBox="1"/>
          <p:nvPr/>
        </p:nvSpPr>
        <p:spPr>
          <a:xfrm>
            <a:off x="3207075" y="4467758"/>
            <a:ext cx="11501140" cy="199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9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timetable without clashes is hard enough to build. Improving it by hand means re-checking every room, professor and student again.</a:t>
            </a:r>
            <a:endParaRPr lang="en-US" sz="3390" dirty="0"/>
          </a:p>
        </p:txBody>
      </p:sp>
      <p:sp>
        <p:nvSpPr>
          <p:cNvPr id="7" name="Why icon bg 2"/>
          <p:cNvSpPr/>
          <p:nvPr/>
        </p:nvSpPr>
        <p:spPr>
          <a:xfrm>
            <a:off x="1327069" y="6856446"/>
            <a:ext cx="1371326" cy="1371326"/>
          </a:xfrm>
          <a:prstGeom prst="roundRect">
            <a:avLst>
              <a:gd name="adj" fmla="val 49997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Why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813" y="7188190"/>
            <a:ext cx="707746" cy="707746"/>
          </a:xfrm>
          <a:prstGeom prst="rect">
            <a:avLst/>
          </a:prstGeom>
        </p:spPr>
      </p:pic>
      <p:sp>
        <p:nvSpPr>
          <p:cNvPr id="9" name="Why head 2"/>
          <p:cNvSpPr txBox="1"/>
          <p:nvPr/>
        </p:nvSpPr>
        <p:spPr>
          <a:xfrm>
            <a:off x="3207075" y="6812189"/>
            <a:ext cx="11501140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arrive one by one</a:t>
            </a:r>
            <a:endParaRPr lang="en-US" sz="4350" dirty="0"/>
          </a:p>
        </p:txBody>
      </p:sp>
      <p:sp>
        <p:nvSpPr>
          <p:cNvPr id="10" name="Why body 2"/>
          <p:cNvSpPr txBox="1"/>
          <p:nvPr/>
        </p:nvSpPr>
        <p:spPr>
          <a:xfrm>
            <a:off x="3207075" y="7785384"/>
            <a:ext cx="11501140" cy="199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9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collected 30 real requests from professors: move a class, find a time for a quiz, merge two sections. Each one needs every enrolled student checked.</a:t>
            </a:r>
            <a:endParaRPr lang="en-US" sz="3390" dirty="0"/>
          </a:p>
        </p:txBody>
      </p:sp>
      <p:sp>
        <p:nvSpPr>
          <p:cNvPr id="11" name="Why icon bg 3"/>
          <p:cNvSpPr/>
          <p:nvPr/>
        </p:nvSpPr>
        <p:spPr>
          <a:xfrm>
            <a:off x="1327069" y="10174072"/>
            <a:ext cx="1371326" cy="1371326"/>
          </a:xfrm>
          <a:prstGeom prst="roundRect">
            <a:avLst>
              <a:gd name="adj" fmla="val 49997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Why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8813" y="10505816"/>
            <a:ext cx="707746" cy="707746"/>
          </a:xfrm>
          <a:prstGeom prst="rect">
            <a:avLst/>
          </a:prstGeom>
        </p:spPr>
      </p:pic>
      <p:sp>
        <p:nvSpPr>
          <p:cNvPr id="13" name="Why head 3"/>
          <p:cNvSpPr txBox="1"/>
          <p:nvPr/>
        </p:nvSpPr>
        <p:spPr>
          <a:xfrm>
            <a:off x="3207075" y="10129906"/>
            <a:ext cx="11501140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move can break a lot</a:t>
            </a:r>
            <a:endParaRPr lang="en-US" sz="4350" dirty="0"/>
          </a:p>
        </p:txBody>
      </p:sp>
      <p:sp>
        <p:nvSpPr>
          <p:cNvPr id="14" name="Why body 3"/>
          <p:cNvSpPr txBox="1"/>
          <p:nvPr/>
        </p:nvSpPr>
        <p:spPr>
          <a:xfrm>
            <a:off x="3207075" y="11103011"/>
            <a:ext cx="11501140" cy="199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9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demo semester, moving one section to Sunday 10:00 creates 77 conflicts. Mizan explains each one and offers 3 valid alternatives.</a:t>
            </a:r>
            <a:endParaRPr lang="en-US" sz="3390" dirty="0"/>
          </a:p>
        </p:txBody>
      </p:sp>
      <p:sp>
        <p:nvSpPr>
          <p:cNvPr id="15" name="Ripple line 1"/>
          <p:cNvSpPr/>
          <p:nvPr/>
        </p:nvSpPr>
        <p:spPr>
          <a:xfrm>
            <a:off x="17251710" y="4976439"/>
            <a:ext cx="4755246" cy="2985882"/>
          </a:xfrm>
          <a:prstGeom prst="line">
            <a:avLst/>
          </a:prstGeom>
          <a:noFill/>
          <a:ln w="60960">
            <a:solidFill>
              <a:srgbClr val="CFC3B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Ripple line 2"/>
          <p:cNvSpPr/>
          <p:nvPr/>
        </p:nvSpPr>
        <p:spPr>
          <a:xfrm flipH="1">
            <a:off x="22007048" y="4976439"/>
            <a:ext cx="4755246" cy="2985882"/>
          </a:xfrm>
          <a:prstGeom prst="line">
            <a:avLst/>
          </a:prstGeom>
          <a:noFill/>
          <a:ln w="60960">
            <a:solidFill>
              <a:srgbClr val="CFC3B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Ripple line 3"/>
          <p:cNvSpPr/>
          <p:nvPr/>
        </p:nvSpPr>
        <p:spPr>
          <a:xfrm flipH="1">
            <a:off x="17251710" y="7962321"/>
            <a:ext cx="4755246" cy="2985882"/>
          </a:xfrm>
          <a:prstGeom prst="line">
            <a:avLst/>
          </a:prstGeom>
          <a:noFill/>
          <a:ln w="60960">
            <a:solidFill>
              <a:srgbClr val="CFC3B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Ripple line 4"/>
          <p:cNvSpPr/>
          <p:nvPr/>
        </p:nvSpPr>
        <p:spPr>
          <a:xfrm>
            <a:off x="22007048" y="7962321"/>
            <a:ext cx="4755246" cy="2985882"/>
          </a:xfrm>
          <a:prstGeom prst="line">
            <a:avLst/>
          </a:prstGeom>
          <a:noFill/>
          <a:ln w="60960">
            <a:solidFill>
              <a:srgbClr val="CFC3B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Ripple node 1"/>
          <p:cNvSpPr/>
          <p:nvPr/>
        </p:nvSpPr>
        <p:spPr>
          <a:xfrm>
            <a:off x="15526512" y="3693627"/>
            <a:ext cx="3450306" cy="2565624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B6C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ipple label 1"/>
          <p:cNvSpPr txBox="1"/>
          <p:nvPr/>
        </p:nvSpPr>
        <p:spPr>
          <a:xfrm>
            <a:off x="15592897" y="3870564"/>
            <a:ext cx="3317626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40" b="1" dirty="0">
                <a:solidFill>
                  <a:srgbClr val="4B6C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</a:t>
            </a:r>
            <a:endParaRPr lang="en-US" sz="3140" dirty="0"/>
          </a:p>
        </p:txBody>
      </p:sp>
      <p:sp>
        <p:nvSpPr>
          <p:cNvPr id="21" name="Ripple node 2"/>
          <p:cNvSpPr/>
          <p:nvPr/>
        </p:nvSpPr>
        <p:spPr>
          <a:xfrm>
            <a:off x="25037095" y="3693627"/>
            <a:ext cx="3450306" cy="2565624"/>
          </a:xfrm>
          <a:prstGeom prst="ellipse">
            <a:avLst/>
          </a:prstGeom>
          <a:solidFill>
            <a:srgbClr val="FFFFFF"/>
          </a:solidFill>
          <a:ln w="76200">
            <a:solidFill>
              <a:srgbClr val="529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ipple label 2"/>
          <p:cNvSpPr txBox="1"/>
          <p:nvPr/>
        </p:nvSpPr>
        <p:spPr>
          <a:xfrm>
            <a:off x="25103480" y="3870564"/>
            <a:ext cx="3317626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40" b="1" dirty="0">
                <a:solidFill>
                  <a:srgbClr val="529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3140" dirty="0"/>
          </a:p>
        </p:txBody>
      </p:sp>
      <p:sp>
        <p:nvSpPr>
          <p:cNvPr id="23" name="Ripple node 3"/>
          <p:cNvSpPr/>
          <p:nvPr/>
        </p:nvSpPr>
        <p:spPr>
          <a:xfrm>
            <a:off x="15526512" y="9665391"/>
            <a:ext cx="3450306" cy="2565624"/>
          </a:xfrm>
          <a:prstGeom prst="ellipse">
            <a:avLst/>
          </a:prstGeom>
          <a:solidFill>
            <a:srgbClr val="FFFFFF"/>
          </a:solidFill>
          <a:ln w="76200">
            <a:solidFill>
              <a:srgbClr val="B9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ipple label 3"/>
          <p:cNvSpPr txBox="1"/>
          <p:nvPr/>
        </p:nvSpPr>
        <p:spPr>
          <a:xfrm>
            <a:off x="15592897" y="9842327"/>
            <a:ext cx="3317626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40" b="1" dirty="0">
                <a:solidFill>
                  <a:srgbClr val="B9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enrolled</a:t>
            </a:r>
            <a:endParaRPr lang="en-US" sz="3140" dirty="0"/>
          </a:p>
          <a:p>
            <a:pPr marL="0" indent="0" algn="ctr">
              <a:buNone/>
            </a:pPr>
            <a:r>
              <a:rPr lang="en-US" sz="3140" b="1" dirty="0">
                <a:solidFill>
                  <a:srgbClr val="B9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3140" dirty="0"/>
          </a:p>
        </p:txBody>
      </p:sp>
      <p:sp>
        <p:nvSpPr>
          <p:cNvPr id="25" name="Ripple node 4"/>
          <p:cNvSpPr/>
          <p:nvPr/>
        </p:nvSpPr>
        <p:spPr>
          <a:xfrm>
            <a:off x="25037095" y="9665391"/>
            <a:ext cx="3450306" cy="2565624"/>
          </a:xfrm>
          <a:prstGeom prst="ellipse">
            <a:avLst/>
          </a:prstGeom>
          <a:solidFill>
            <a:srgbClr val="FFFFFF"/>
          </a:solidFill>
          <a:ln w="76200">
            <a:solidFill>
              <a:srgbClr val="6864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ipple label 4"/>
          <p:cNvSpPr txBox="1"/>
          <p:nvPr/>
        </p:nvSpPr>
        <p:spPr>
          <a:xfrm>
            <a:off x="25103480" y="9842327"/>
            <a:ext cx="3317626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40" b="1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3140" dirty="0"/>
          </a:p>
          <a:p>
            <a:pPr marL="0" indent="0" algn="ctr">
              <a:buNone/>
            </a:pPr>
            <a:r>
              <a:rPr lang="en-US" sz="3140" b="1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3140" dirty="0"/>
          </a:p>
        </p:txBody>
      </p:sp>
      <p:sp>
        <p:nvSpPr>
          <p:cNvPr id="27" name="Ripple centre"/>
          <p:cNvSpPr/>
          <p:nvPr/>
        </p:nvSpPr>
        <p:spPr>
          <a:xfrm>
            <a:off x="20127041" y="6082314"/>
            <a:ext cx="3760013" cy="3760013"/>
          </a:xfrm>
          <a:prstGeom prst="ellipse">
            <a:avLst/>
          </a:prstGeom>
          <a:solidFill>
            <a:srgbClr val="F4A252"/>
          </a:solidFill>
          <a:ln w="12700">
            <a:solidFill>
              <a:srgbClr val="F4A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ipple centre label"/>
          <p:cNvSpPr txBox="1"/>
          <p:nvPr/>
        </p:nvSpPr>
        <p:spPr>
          <a:xfrm>
            <a:off x="20237592" y="6856446"/>
            <a:ext cx="3538819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70" b="1" dirty="0">
                <a:solidFill>
                  <a:srgbClr val="111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one</a:t>
            </a:r>
            <a:endParaRPr lang="en-US" sz="3870" dirty="0"/>
          </a:p>
          <a:p>
            <a:pPr marL="0" indent="0" algn="ctr">
              <a:buNone/>
            </a:pPr>
            <a:r>
              <a:rPr lang="en-US" sz="3870" b="1" dirty="0">
                <a:solidFill>
                  <a:srgbClr val="111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387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27097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7069" y="928939"/>
            <a:ext cx="26762293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Mizan measures, improves and checks, then people decide</a:t>
            </a:r>
            <a:endParaRPr lang="en-US" sz="7260" dirty="0"/>
          </a:p>
        </p:txBody>
      </p:sp>
      <p:sp>
        <p:nvSpPr>
          <p:cNvPr id="3" name="Step card 1"/>
          <p:cNvSpPr/>
          <p:nvPr/>
        </p:nvSpPr>
        <p:spPr>
          <a:xfrm>
            <a:off x="1327069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ep icon bg 1"/>
          <p:cNvSpPr/>
          <p:nvPr/>
        </p:nvSpPr>
        <p:spPr>
          <a:xfrm>
            <a:off x="1880006" y="4091757"/>
            <a:ext cx="1592428" cy="1592428"/>
          </a:xfrm>
          <a:prstGeom prst="ellipse">
            <a:avLst/>
          </a:prstGeom>
          <a:solidFill>
            <a:srgbClr val="4B6C9F"/>
          </a:solidFill>
          <a:ln w="12700">
            <a:solidFill>
              <a:srgbClr val="4B6C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Step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136" y="4489887"/>
            <a:ext cx="796260" cy="796260"/>
          </a:xfrm>
          <a:prstGeom prst="rect">
            <a:avLst/>
          </a:prstGeom>
        </p:spPr>
      </p:pic>
      <p:sp>
        <p:nvSpPr>
          <p:cNvPr id="6" name="Step number 1"/>
          <p:cNvSpPr txBox="1"/>
          <p:nvPr/>
        </p:nvSpPr>
        <p:spPr>
          <a:xfrm>
            <a:off x="4865888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40" dirty="0"/>
          </a:p>
        </p:txBody>
      </p:sp>
      <p:sp>
        <p:nvSpPr>
          <p:cNvPr id="7" name="Step head 1"/>
          <p:cNvSpPr txBox="1"/>
          <p:nvPr/>
        </p:nvSpPr>
        <p:spPr>
          <a:xfrm>
            <a:off x="1880006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4350" dirty="0"/>
          </a:p>
        </p:txBody>
      </p:sp>
      <p:sp>
        <p:nvSpPr>
          <p:cNvPr id="8" name="Step body 1"/>
          <p:cNvSpPr txBox="1"/>
          <p:nvPr/>
        </p:nvSpPr>
        <p:spPr>
          <a:xfrm>
            <a:off x="1880006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Edugate PDF, app screenshot or a full semester file. Read on this PC.</a:t>
            </a:r>
            <a:endParaRPr lang="en-US" sz="3140" dirty="0"/>
          </a:p>
        </p:txBody>
      </p:sp>
      <p:pic>
        <p:nvPicPr>
          <p:cNvPr id="9" name="Step arrow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379" y="6635252"/>
            <a:ext cx="442387" cy="884682"/>
          </a:xfrm>
          <a:prstGeom prst="rect">
            <a:avLst/>
          </a:prstGeom>
        </p:spPr>
      </p:pic>
      <p:sp>
        <p:nvSpPr>
          <p:cNvPr id="10" name="Step card 2"/>
          <p:cNvSpPr/>
          <p:nvPr/>
        </p:nvSpPr>
        <p:spPr>
          <a:xfrm>
            <a:off x="6768023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icon bg 2"/>
          <p:cNvSpPr/>
          <p:nvPr/>
        </p:nvSpPr>
        <p:spPr>
          <a:xfrm>
            <a:off x="7320961" y="4091757"/>
            <a:ext cx="1592428" cy="1592428"/>
          </a:xfrm>
          <a:prstGeom prst="ellipse">
            <a:avLst/>
          </a:prstGeom>
          <a:solidFill>
            <a:srgbClr val="4B6C9F"/>
          </a:solidFill>
          <a:ln w="12700">
            <a:solidFill>
              <a:srgbClr val="4B6C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Step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999" y="4489887"/>
            <a:ext cx="796260" cy="796260"/>
          </a:xfrm>
          <a:prstGeom prst="rect">
            <a:avLst/>
          </a:prstGeom>
        </p:spPr>
      </p:pic>
      <p:sp>
        <p:nvSpPr>
          <p:cNvPr id="13" name="Step number 2"/>
          <p:cNvSpPr txBox="1"/>
          <p:nvPr/>
        </p:nvSpPr>
        <p:spPr>
          <a:xfrm>
            <a:off x="10306842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40" dirty="0"/>
          </a:p>
        </p:txBody>
      </p:sp>
      <p:sp>
        <p:nvSpPr>
          <p:cNvPr id="14" name="Step head 2"/>
          <p:cNvSpPr txBox="1"/>
          <p:nvPr/>
        </p:nvSpPr>
        <p:spPr>
          <a:xfrm>
            <a:off x="7320961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4350" dirty="0"/>
          </a:p>
        </p:txBody>
      </p:sp>
      <p:sp>
        <p:nvSpPr>
          <p:cNvPr id="15" name="Step body 2"/>
          <p:cNvSpPr txBox="1"/>
          <p:nvPr/>
        </p:nvSpPr>
        <p:spPr>
          <a:xfrm>
            <a:off x="7320961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hours, campus days, room use and a quality score for every student.</a:t>
            </a:r>
            <a:endParaRPr lang="en-US" sz="3140" dirty="0"/>
          </a:p>
        </p:txBody>
      </p:sp>
      <p:pic>
        <p:nvPicPr>
          <p:cNvPr id="16" name="Step arrow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2334" y="6635252"/>
            <a:ext cx="442387" cy="884682"/>
          </a:xfrm>
          <a:prstGeom prst="rect">
            <a:avLst/>
          </a:prstGeom>
        </p:spPr>
      </p:pic>
      <p:sp>
        <p:nvSpPr>
          <p:cNvPr id="17" name="Step card 3"/>
          <p:cNvSpPr/>
          <p:nvPr/>
        </p:nvSpPr>
        <p:spPr>
          <a:xfrm>
            <a:off x="12208886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 icon bg 3"/>
          <p:cNvSpPr/>
          <p:nvPr/>
        </p:nvSpPr>
        <p:spPr>
          <a:xfrm>
            <a:off x="12761824" y="4091757"/>
            <a:ext cx="1592428" cy="1592428"/>
          </a:xfrm>
          <a:prstGeom prst="ellipse">
            <a:avLst/>
          </a:prstGeom>
          <a:solidFill>
            <a:srgbClr val="F4A252"/>
          </a:solidFill>
          <a:ln w="12700">
            <a:solidFill>
              <a:srgbClr val="F4A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Step icon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59953" y="4489887"/>
            <a:ext cx="796260" cy="796260"/>
          </a:xfrm>
          <a:prstGeom prst="rect">
            <a:avLst/>
          </a:prstGeom>
        </p:spPr>
      </p:pic>
      <p:sp>
        <p:nvSpPr>
          <p:cNvPr id="20" name="Step number 3"/>
          <p:cNvSpPr txBox="1"/>
          <p:nvPr/>
        </p:nvSpPr>
        <p:spPr>
          <a:xfrm>
            <a:off x="15747705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40" dirty="0"/>
          </a:p>
        </p:txBody>
      </p:sp>
      <p:sp>
        <p:nvSpPr>
          <p:cNvPr id="21" name="Step head 3"/>
          <p:cNvSpPr txBox="1"/>
          <p:nvPr/>
        </p:nvSpPr>
        <p:spPr>
          <a:xfrm>
            <a:off x="12761824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4350" dirty="0"/>
          </a:p>
        </p:txBody>
      </p:sp>
      <p:sp>
        <p:nvSpPr>
          <p:cNvPr id="22" name="Step body 3"/>
          <p:cNvSpPr txBox="1"/>
          <p:nvPr/>
        </p:nvSpPr>
        <p:spPr>
          <a:xfrm>
            <a:off x="12761824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solver searches valid timetables; six AI agents explain the trade-offs.</a:t>
            </a:r>
            <a:endParaRPr lang="en-US" sz="3140" dirty="0"/>
          </a:p>
        </p:txBody>
      </p:sp>
      <p:pic>
        <p:nvPicPr>
          <p:cNvPr id="23" name="Step arrow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3288" y="6635252"/>
            <a:ext cx="442387" cy="884682"/>
          </a:xfrm>
          <a:prstGeom prst="rect">
            <a:avLst/>
          </a:prstGeom>
        </p:spPr>
      </p:pic>
      <p:sp>
        <p:nvSpPr>
          <p:cNvPr id="24" name="Step card 4"/>
          <p:cNvSpPr/>
          <p:nvPr/>
        </p:nvSpPr>
        <p:spPr>
          <a:xfrm>
            <a:off x="17649840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ep icon bg 4"/>
          <p:cNvSpPr/>
          <p:nvPr/>
        </p:nvSpPr>
        <p:spPr>
          <a:xfrm>
            <a:off x="18202778" y="4091757"/>
            <a:ext cx="1592428" cy="1592428"/>
          </a:xfrm>
          <a:prstGeom prst="ellipse">
            <a:avLst/>
          </a:prstGeom>
          <a:solidFill>
            <a:srgbClr val="529573"/>
          </a:solidFill>
          <a:ln w="12700">
            <a:solidFill>
              <a:srgbClr val="529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Step icon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00908" y="4489887"/>
            <a:ext cx="796260" cy="796260"/>
          </a:xfrm>
          <a:prstGeom prst="rect">
            <a:avLst/>
          </a:prstGeom>
        </p:spPr>
      </p:pic>
      <p:sp>
        <p:nvSpPr>
          <p:cNvPr id="27" name="Step number 4"/>
          <p:cNvSpPr txBox="1"/>
          <p:nvPr/>
        </p:nvSpPr>
        <p:spPr>
          <a:xfrm>
            <a:off x="21188660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40" dirty="0"/>
          </a:p>
        </p:txBody>
      </p:sp>
      <p:sp>
        <p:nvSpPr>
          <p:cNvPr id="28" name="Step head 4"/>
          <p:cNvSpPr txBox="1"/>
          <p:nvPr/>
        </p:nvSpPr>
        <p:spPr>
          <a:xfrm>
            <a:off x="18202778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4350" dirty="0"/>
          </a:p>
        </p:txBody>
      </p:sp>
      <p:sp>
        <p:nvSpPr>
          <p:cNvPr id="29" name="Step body 4"/>
          <p:cNvSpPr txBox="1"/>
          <p:nvPr/>
        </p:nvSpPr>
        <p:spPr>
          <a:xfrm>
            <a:off x="18202778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and harm side by side. Nothing is published without a person.</a:t>
            </a:r>
            <a:endParaRPr lang="en-US" sz="3140" dirty="0"/>
          </a:p>
        </p:txBody>
      </p:sp>
      <p:pic>
        <p:nvPicPr>
          <p:cNvPr id="30" name="Step arrow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4151" y="6635252"/>
            <a:ext cx="442387" cy="884682"/>
          </a:xfrm>
          <a:prstGeom prst="rect">
            <a:avLst/>
          </a:prstGeom>
        </p:spPr>
      </p:pic>
      <p:sp>
        <p:nvSpPr>
          <p:cNvPr id="31" name="Step card 5"/>
          <p:cNvSpPr/>
          <p:nvPr/>
        </p:nvSpPr>
        <p:spPr>
          <a:xfrm>
            <a:off x="23090795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ep icon bg 5"/>
          <p:cNvSpPr/>
          <p:nvPr/>
        </p:nvSpPr>
        <p:spPr>
          <a:xfrm>
            <a:off x="23643732" y="4091757"/>
            <a:ext cx="1592428" cy="1592428"/>
          </a:xfrm>
          <a:prstGeom prst="ellipse">
            <a:avLst/>
          </a:prstGeom>
          <a:solidFill>
            <a:srgbClr val="529573"/>
          </a:solidFill>
          <a:ln w="12700">
            <a:solidFill>
              <a:srgbClr val="529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Step icon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41862" y="4489887"/>
            <a:ext cx="796260" cy="796260"/>
          </a:xfrm>
          <a:prstGeom prst="rect">
            <a:avLst/>
          </a:prstGeom>
        </p:spPr>
      </p:pic>
      <p:sp>
        <p:nvSpPr>
          <p:cNvPr id="34" name="Step number 5"/>
          <p:cNvSpPr txBox="1"/>
          <p:nvPr/>
        </p:nvSpPr>
        <p:spPr>
          <a:xfrm>
            <a:off x="26629614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40" dirty="0"/>
          </a:p>
        </p:txBody>
      </p:sp>
      <p:sp>
        <p:nvSpPr>
          <p:cNvPr id="35" name="Step head 5"/>
          <p:cNvSpPr txBox="1"/>
          <p:nvPr/>
        </p:nvSpPr>
        <p:spPr>
          <a:xfrm>
            <a:off x="23643732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4350" dirty="0"/>
          </a:p>
        </p:txBody>
      </p:sp>
      <p:sp>
        <p:nvSpPr>
          <p:cNvPr id="36" name="Step body 5"/>
          <p:cNvSpPr txBox="1"/>
          <p:nvPr/>
        </p:nvSpPr>
        <p:spPr>
          <a:xfrm>
            <a:off x="23643732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result in the Edugate layout, changed rows marked.</a:t>
            </a:r>
            <a:endParaRPr lang="en-US" sz="3140" dirty="0"/>
          </a:p>
        </p:txBody>
      </p:sp>
      <p:sp>
        <p:nvSpPr>
          <p:cNvPr id="37" name="Users label"/>
          <p:cNvSpPr txBox="1"/>
          <p:nvPr/>
        </p:nvSpPr>
        <p:spPr>
          <a:xfrm>
            <a:off x="1327069" y="11456883"/>
            <a:ext cx="4423501" cy="66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20" b="1" kern="0" spc="48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</a:t>
            </a:r>
            <a:endParaRPr lang="en-US" sz="2420" dirty="0"/>
          </a:p>
        </p:txBody>
      </p:sp>
      <p:sp>
        <p:nvSpPr>
          <p:cNvPr id="38" name="User chip 1"/>
          <p:cNvSpPr/>
          <p:nvPr/>
        </p:nvSpPr>
        <p:spPr>
          <a:xfrm>
            <a:off x="1327069" y="12275271"/>
            <a:ext cx="4777374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User 1"/>
          <p:cNvSpPr txBox="1"/>
          <p:nvPr/>
        </p:nvSpPr>
        <p:spPr>
          <a:xfrm>
            <a:off x="1327069" y="12275271"/>
            <a:ext cx="4777374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committee</a:t>
            </a:r>
            <a:endParaRPr lang="en-US" sz="2900" dirty="0"/>
          </a:p>
        </p:txBody>
      </p:sp>
      <p:sp>
        <p:nvSpPr>
          <p:cNvPr id="40" name="User chip 2"/>
          <p:cNvSpPr/>
          <p:nvPr/>
        </p:nvSpPr>
        <p:spPr>
          <a:xfrm>
            <a:off x="6502573" y="12275271"/>
            <a:ext cx="3998854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User 2"/>
          <p:cNvSpPr txBox="1"/>
          <p:nvPr/>
        </p:nvSpPr>
        <p:spPr>
          <a:xfrm>
            <a:off x="6502573" y="12275271"/>
            <a:ext cx="3998854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chair</a:t>
            </a:r>
            <a:endParaRPr lang="en-US" sz="2900" dirty="0"/>
          </a:p>
        </p:txBody>
      </p:sp>
      <p:sp>
        <p:nvSpPr>
          <p:cNvPr id="42" name="User chip 3"/>
          <p:cNvSpPr/>
          <p:nvPr/>
        </p:nvSpPr>
        <p:spPr>
          <a:xfrm>
            <a:off x="10899557" y="12275271"/>
            <a:ext cx="9643262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User 3"/>
          <p:cNvSpPr txBox="1"/>
          <p:nvPr/>
        </p:nvSpPr>
        <p:spPr>
          <a:xfrm>
            <a:off x="10899557" y="12275271"/>
            <a:ext cx="9643262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Professors · “Ask Mizan” in Arabic or English</a:t>
            </a:r>
            <a:endParaRPr lang="en-US" sz="2900" dirty="0"/>
          </a:p>
        </p:txBody>
      </p:sp>
      <p:sp>
        <p:nvSpPr>
          <p:cNvPr id="44" name="User chip 4"/>
          <p:cNvSpPr/>
          <p:nvPr/>
        </p:nvSpPr>
        <p:spPr>
          <a:xfrm>
            <a:off x="20940949" y="12275271"/>
            <a:ext cx="2441814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User 4"/>
          <p:cNvSpPr txBox="1"/>
          <p:nvPr/>
        </p:nvSpPr>
        <p:spPr>
          <a:xfrm>
            <a:off x="20940949" y="12275271"/>
            <a:ext cx="2441814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2900" dirty="0"/>
          </a:p>
        </p:txBody>
      </p:sp>
      <p:sp>
        <p:nvSpPr>
          <p:cNvPr id="46" name="User chip 5"/>
          <p:cNvSpPr/>
          <p:nvPr/>
        </p:nvSpPr>
        <p:spPr>
          <a:xfrm>
            <a:off x="23780892" y="12275271"/>
            <a:ext cx="3804270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User 5"/>
          <p:cNvSpPr txBox="1"/>
          <p:nvPr/>
        </p:nvSpPr>
        <p:spPr>
          <a:xfrm>
            <a:off x="23780892" y="12275271"/>
            <a:ext cx="3804270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managers</a:t>
            </a:r>
            <a:endParaRPr lang="en-US" sz="29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27097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7069" y="928939"/>
            <a:ext cx="26762293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trusted: local AI, rules enforced by code</a:t>
            </a:r>
            <a:endParaRPr lang="en-US" sz="7260" dirty="0"/>
          </a:p>
        </p:txBody>
      </p:sp>
      <p:sp>
        <p:nvSpPr>
          <p:cNvPr id="3" name="Trust card 1"/>
          <p:cNvSpPr/>
          <p:nvPr/>
        </p:nvSpPr>
        <p:spPr>
          <a:xfrm>
            <a:off x="1327069" y="3317626"/>
            <a:ext cx="8515259" cy="1050581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rust icon bg 1"/>
          <p:cNvSpPr/>
          <p:nvPr/>
        </p:nvSpPr>
        <p:spPr>
          <a:xfrm>
            <a:off x="1946392" y="3870564"/>
            <a:ext cx="1371326" cy="1371326"/>
          </a:xfrm>
          <a:prstGeom prst="ellipse">
            <a:avLst/>
          </a:prstGeom>
          <a:solidFill>
            <a:srgbClr val="F4A252"/>
          </a:solidFill>
          <a:ln w="12700">
            <a:solidFill>
              <a:srgbClr val="F4A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Trust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136" y="4202308"/>
            <a:ext cx="707746" cy="707746"/>
          </a:xfrm>
          <a:prstGeom prst="rect">
            <a:avLst/>
          </a:prstGeom>
        </p:spPr>
      </p:pic>
      <p:sp>
        <p:nvSpPr>
          <p:cNvPr id="6" name="Trust head 1"/>
          <p:cNvSpPr txBox="1"/>
          <p:nvPr/>
        </p:nvSpPr>
        <p:spPr>
          <a:xfrm>
            <a:off x="3649370" y="3981206"/>
            <a:ext cx="5861121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1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stays on campus</a:t>
            </a:r>
            <a:endParaRPr lang="en-US" sz="4110" dirty="0"/>
          </a:p>
        </p:txBody>
      </p:sp>
      <p:sp>
        <p:nvSpPr>
          <p:cNvPr id="7" name="Trust card 2"/>
          <p:cNvSpPr/>
          <p:nvPr/>
        </p:nvSpPr>
        <p:spPr>
          <a:xfrm>
            <a:off x="10395265" y="3317626"/>
            <a:ext cx="8515259" cy="1050581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rust icon bg 2"/>
          <p:cNvSpPr/>
          <p:nvPr/>
        </p:nvSpPr>
        <p:spPr>
          <a:xfrm>
            <a:off x="11014588" y="3870564"/>
            <a:ext cx="1371326" cy="1371326"/>
          </a:xfrm>
          <a:prstGeom prst="ellipse">
            <a:avLst/>
          </a:prstGeom>
          <a:solidFill>
            <a:srgbClr val="529573"/>
          </a:solidFill>
          <a:ln w="12700">
            <a:solidFill>
              <a:srgbClr val="529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Trust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6332" y="4202308"/>
            <a:ext cx="707746" cy="707746"/>
          </a:xfrm>
          <a:prstGeom prst="rect">
            <a:avLst/>
          </a:prstGeom>
        </p:spPr>
      </p:pic>
      <p:sp>
        <p:nvSpPr>
          <p:cNvPr id="10" name="Trust head 2"/>
          <p:cNvSpPr txBox="1"/>
          <p:nvPr/>
        </p:nvSpPr>
        <p:spPr>
          <a:xfrm>
            <a:off x="12717658" y="3981206"/>
            <a:ext cx="5861121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1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rules are code, not AI</a:t>
            </a:r>
            <a:endParaRPr lang="en-US" sz="4110" dirty="0"/>
          </a:p>
        </p:txBody>
      </p:sp>
      <p:sp>
        <p:nvSpPr>
          <p:cNvPr id="11" name="Trust card 3"/>
          <p:cNvSpPr/>
          <p:nvPr/>
        </p:nvSpPr>
        <p:spPr>
          <a:xfrm>
            <a:off x="19463461" y="3317626"/>
            <a:ext cx="8515259" cy="1050581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rust icon bg 3"/>
          <p:cNvSpPr/>
          <p:nvPr/>
        </p:nvSpPr>
        <p:spPr>
          <a:xfrm>
            <a:off x="20082784" y="3870564"/>
            <a:ext cx="1371326" cy="1371326"/>
          </a:xfrm>
          <a:prstGeom prst="ellipse">
            <a:avLst/>
          </a:prstGeom>
          <a:solidFill>
            <a:srgbClr val="4B6C9F"/>
          </a:solidFill>
          <a:ln w="12700">
            <a:solidFill>
              <a:srgbClr val="4B6C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Trust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4529" y="4202308"/>
            <a:ext cx="707746" cy="707746"/>
          </a:xfrm>
          <a:prstGeom prst="rect">
            <a:avLst/>
          </a:prstGeom>
        </p:spPr>
      </p:pic>
      <p:sp>
        <p:nvSpPr>
          <p:cNvPr id="14" name="Trust head 3"/>
          <p:cNvSpPr txBox="1"/>
          <p:nvPr/>
        </p:nvSpPr>
        <p:spPr>
          <a:xfrm>
            <a:off x="21785854" y="3981206"/>
            <a:ext cx="5861121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1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like a product</a:t>
            </a:r>
            <a:endParaRPr lang="en-US" sz="4110" dirty="0"/>
          </a:p>
        </p:txBody>
      </p:sp>
      <p:sp>
        <p:nvSpPr>
          <p:cNvPr id="15" name="AI text"/>
          <p:cNvSpPr txBox="1"/>
          <p:nvPr/>
        </p:nvSpPr>
        <p:spPr>
          <a:xfrm>
            <a:off x="1946392" y="5750570"/>
            <a:ext cx="7409383" cy="276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50"/>
              </a:spcAft>
              <a:buNone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Qwen3-8B runs on this laptop. No cloud, no student data leaves the PC.</a:t>
            </a:r>
            <a:endParaRPr lang="en-US" sz="3140" dirty="0"/>
          </a:p>
          <a:p>
            <a:pPr marL="0" indent="0">
              <a:spcAft>
                <a:spcPts val="1450"/>
              </a:spcAft>
              <a:buNone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fine-tuned the coordinator agent. Correct decisions out of 120 synthetic test cases:</a:t>
            </a:r>
            <a:endParaRPr lang="en-US" sz="3140" dirty="0"/>
          </a:p>
        </p:txBody>
      </p:sp>
      <p:graphicFrame>
        <p:nvGraphicFramePr>
          <p:cNvPr id="16" name="Coordinator chart"/>
          <p:cNvGraphicFramePr/>
          <p:nvPr/>
        </p:nvGraphicFramePr>
        <p:xfrm>
          <a:off x="1658813" y="8515259"/>
          <a:ext cx="7851770" cy="4976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Trust list 4.98"/>
          <p:cNvSpPr txBox="1"/>
          <p:nvPr/>
        </p:nvSpPr>
        <p:spPr>
          <a:xfrm>
            <a:off x="11014588" y="5750570"/>
            <a:ext cx="7409383" cy="7630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0530" indent="-430530">
              <a:spcAft>
                <a:spcPts val="2180"/>
              </a:spcAft>
              <a:buSzPct val="100000"/>
              <a:buChar char="•"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OR-Tools solver searches valid timetables.</a:t>
            </a:r>
            <a:endParaRPr lang="en-US" sz="3140" dirty="0"/>
          </a:p>
          <a:p>
            <a:pPr marL="430530" indent="-430530">
              <a:spcAft>
                <a:spcPts val="2180"/>
              </a:spcAft>
              <a:buSzPct val="100000"/>
              <a:buChar char="•"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validator re-checks every result before anyone sees it.</a:t>
            </a:r>
            <a:endParaRPr lang="en-US" sz="3140" dirty="0"/>
          </a:p>
          <a:p>
            <a:pPr marL="430530" indent="-430530">
              <a:spcAft>
                <a:spcPts val="2180"/>
              </a:spcAft>
              <a:buSzPct val="100000"/>
              <a:buChar char="•"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never decides a hard rule: no clash, room or capacity is left to the model.</a:t>
            </a:r>
            <a:endParaRPr lang="en-US" sz="3140" dirty="0"/>
          </a:p>
          <a:p>
            <a:pPr marL="430530" indent="-430530">
              <a:spcAft>
                <a:spcPts val="2180"/>
              </a:spcAft>
              <a:buSzPct val="100000"/>
              <a:buChar char="•"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say OPTIMAL, FEASIBLE or INFEASIBLE, and never claim more.</a:t>
            </a:r>
            <a:endParaRPr lang="en-US" sz="3140" dirty="0"/>
          </a:p>
        </p:txBody>
      </p:sp>
      <p:sp>
        <p:nvSpPr>
          <p:cNvPr id="18" name="Trust list 9.08"/>
          <p:cNvSpPr txBox="1"/>
          <p:nvPr/>
        </p:nvSpPr>
        <p:spPr>
          <a:xfrm>
            <a:off x="20082784" y="5750570"/>
            <a:ext cx="7409383" cy="7630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0530" indent="-430530">
              <a:spcAft>
                <a:spcPts val="2180"/>
              </a:spcAft>
              <a:buSzPct val="100000"/>
              <a:buChar char="•"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automated tests and 3 browser test suites pass.</a:t>
            </a:r>
            <a:endParaRPr lang="en-US" sz="3140" dirty="0"/>
          </a:p>
          <a:p>
            <a:pPr marL="430530" indent="-430530">
              <a:spcAft>
                <a:spcPts val="2180"/>
              </a:spcAft>
              <a:buSzPct val="100000"/>
              <a:buChar char="•"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15 acceptance criteria are mapped to passing tests.</a:t>
            </a:r>
            <a:endParaRPr lang="en-US" sz="3140" dirty="0"/>
          </a:p>
          <a:p>
            <a:pPr marL="430530" indent="-430530">
              <a:spcAft>
                <a:spcPts val="2180"/>
              </a:spcAft>
              <a:buSzPct val="100000"/>
              <a:buChar char="•"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and English show identical figures, checked automatically.</a:t>
            </a:r>
            <a:endParaRPr lang="en-US" sz="3140" dirty="0"/>
          </a:p>
          <a:p>
            <a:pPr marL="430530" indent="-430530">
              <a:spcAft>
                <a:spcPts val="2180"/>
              </a:spcAft>
              <a:buSzPct val="100000"/>
              <a:buChar char="•"/>
            </a:pPr>
            <a:r>
              <a:rPr lang="en-US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is logged in an audit trail.</a:t>
            </a:r>
            <a:endParaRPr lang="en-US" sz="3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27097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 title"/>
          <p:cNvSpPr txBox="1"/>
          <p:nvPr/>
        </p:nvSpPr>
        <p:spPr>
          <a:xfrm>
            <a:off x="1327069" y="1216426"/>
            <a:ext cx="26541100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74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demo to a pilot at Al Yamamah</a:t>
            </a:r>
            <a:endParaRPr lang="en-US" sz="7740" dirty="0"/>
          </a:p>
        </p:txBody>
      </p:sp>
      <p:sp>
        <p:nvSpPr>
          <p:cNvPr id="3" name="Value who 1"/>
          <p:cNvSpPr txBox="1"/>
          <p:nvPr/>
        </p:nvSpPr>
        <p:spPr>
          <a:xfrm>
            <a:off x="1327069" y="3760013"/>
            <a:ext cx="4202308" cy="110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4350" dirty="0"/>
          </a:p>
        </p:txBody>
      </p:sp>
      <p:sp>
        <p:nvSpPr>
          <p:cNvPr id="4" name="Value what 1"/>
          <p:cNvSpPr txBox="1"/>
          <p:nvPr/>
        </p:nvSpPr>
        <p:spPr>
          <a:xfrm>
            <a:off x="5529377" y="3760013"/>
            <a:ext cx="8847003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30" dirty="0">
                <a:solidFill>
                  <a:srgbClr val="E3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idle hours and campus days, so more reasons to attend</a:t>
            </a:r>
            <a:endParaRPr lang="en-US" sz="3630" dirty="0"/>
          </a:p>
        </p:txBody>
      </p:sp>
      <p:sp>
        <p:nvSpPr>
          <p:cNvPr id="5" name="Value who 2"/>
          <p:cNvSpPr txBox="1"/>
          <p:nvPr/>
        </p:nvSpPr>
        <p:spPr>
          <a:xfrm>
            <a:off x="1327069" y="6082314"/>
            <a:ext cx="4202308" cy="110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</a:t>
            </a:r>
            <a:endParaRPr lang="en-US" sz="4350" dirty="0"/>
          </a:p>
        </p:txBody>
      </p:sp>
      <p:sp>
        <p:nvSpPr>
          <p:cNvPr id="6" name="Value what 2"/>
          <p:cNvSpPr txBox="1"/>
          <p:nvPr/>
        </p:nvSpPr>
        <p:spPr>
          <a:xfrm>
            <a:off x="5529377" y="6082314"/>
            <a:ext cx="8847003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30" dirty="0">
                <a:solidFill>
                  <a:srgbClr val="E3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checked in seconds, with evidence instead of email threads</a:t>
            </a:r>
            <a:endParaRPr lang="en-US" sz="3630" dirty="0"/>
          </a:p>
        </p:txBody>
      </p:sp>
      <p:sp>
        <p:nvSpPr>
          <p:cNvPr id="7" name="Value who 3"/>
          <p:cNvSpPr txBox="1"/>
          <p:nvPr/>
        </p:nvSpPr>
        <p:spPr>
          <a:xfrm>
            <a:off x="1327069" y="8404708"/>
            <a:ext cx="4202308" cy="110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35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350" dirty="0"/>
          </a:p>
        </p:txBody>
      </p:sp>
      <p:sp>
        <p:nvSpPr>
          <p:cNvPr id="8" name="Value what 3"/>
          <p:cNvSpPr txBox="1"/>
          <p:nvPr/>
        </p:nvSpPr>
        <p:spPr>
          <a:xfrm>
            <a:off x="5529377" y="8404708"/>
            <a:ext cx="8847003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30" dirty="0">
                <a:solidFill>
                  <a:srgbClr val="E3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unused room capacity; keep data on campus</a:t>
            </a:r>
            <a:endParaRPr lang="en-US" sz="3630" dirty="0"/>
          </a:p>
        </p:txBody>
      </p:sp>
      <p:sp>
        <p:nvSpPr>
          <p:cNvPr id="9" name="Next dot 1"/>
          <p:cNvSpPr/>
          <p:nvPr/>
        </p:nvSpPr>
        <p:spPr>
          <a:xfrm>
            <a:off x="16145835" y="3760013"/>
            <a:ext cx="1327069" cy="1327069"/>
          </a:xfrm>
          <a:prstGeom prst="ellipse">
            <a:avLst/>
          </a:prstGeom>
          <a:solidFill>
            <a:srgbClr val="1E2C33"/>
          </a:solidFill>
          <a:ln w="60960">
            <a:solidFill>
              <a:srgbClr val="F4A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ext number 1"/>
          <p:cNvSpPr txBox="1"/>
          <p:nvPr/>
        </p:nvSpPr>
        <p:spPr>
          <a:xfrm>
            <a:off x="16145835" y="3760013"/>
            <a:ext cx="1327069" cy="132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7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70" dirty="0"/>
          </a:p>
        </p:txBody>
      </p:sp>
      <p:sp>
        <p:nvSpPr>
          <p:cNvPr id="11" name="Next step 1"/>
          <p:cNvSpPr txBox="1"/>
          <p:nvPr/>
        </p:nvSpPr>
        <p:spPr>
          <a:xfrm>
            <a:off x="18025842" y="3671499"/>
            <a:ext cx="10174072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one college</a:t>
            </a:r>
            <a:endParaRPr lang="en-US" sz="4110" dirty="0"/>
          </a:p>
          <a:p>
            <a:pPr marL="0" indent="0">
              <a:buNone/>
            </a:pPr>
            <a:r>
              <a:rPr lang="en-US" sz="339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Edugate data, verified rooms and instructors</a:t>
            </a:r>
            <a:endParaRPr lang="en-US" sz="4110" dirty="0"/>
          </a:p>
        </p:txBody>
      </p:sp>
      <p:sp>
        <p:nvSpPr>
          <p:cNvPr id="12" name="Next line 1"/>
          <p:cNvSpPr/>
          <p:nvPr/>
        </p:nvSpPr>
        <p:spPr>
          <a:xfrm>
            <a:off x="16809415" y="5131247"/>
            <a:ext cx="0" cy="928939"/>
          </a:xfrm>
          <a:prstGeom prst="line">
            <a:avLst/>
          </a:prstGeom>
          <a:noFill/>
          <a:ln w="60960">
            <a:solidFill>
              <a:srgbClr val="3A4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ext dot 2"/>
          <p:cNvSpPr/>
          <p:nvPr/>
        </p:nvSpPr>
        <p:spPr>
          <a:xfrm>
            <a:off x="16145835" y="6082314"/>
            <a:ext cx="1327069" cy="1327069"/>
          </a:xfrm>
          <a:prstGeom prst="ellipse">
            <a:avLst/>
          </a:prstGeom>
          <a:solidFill>
            <a:srgbClr val="1E2C33"/>
          </a:solidFill>
          <a:ln w="60960">
            <a:solidFill>
              <a:srgbClr val="F4A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ext number 2"/>
          <p:cNvSpPr txBox="1"/>
          <p:nvPr/>
        </p:nvSpPr>
        <p:spPr>
          <a:xfrm>
            <a:off x="16145835" y="6082314"/>
            <a:ext cx="1327069" cy="132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7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70" dirty="0"/>
          </a:p>
        </p:txBody>
      </p:sp>
      <p:sp>
        <p:nvSpPr>
          <p:cNvPr id="15" name="Next step 2"/>
          <p:cNvSpPr txBox="1"/>
          <p:nvPr/>
        </p:nvSpPr>
        <p:spPr>
          <a:xfrm>
            <a:off x="18025842" y="5993892"/>
            <a:ext cx="10174072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calendar</a:t>
            </a:r>
            <a:endParaRPr lang="en-US" sz="4110" dirty="0"/>
          </a:p>
          <a:p>
            <a:pPr marL="0" indent="0">
              <a:buNone/>
            </a:pPr>
            <a:r>
              <a:rPr lang="en-US" sz="339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One-off changes, exams, Ramadan timings</a:t>
            </a:r>
            <a:endParaRPr lang="en-US" sz="4110" dirty="0"/>
          </a:p>
        </p:txBody>
      </p:sp>
      <p:sp>
        <p:nvSpPr>
          <p:cNvPr id="16" name="Next line 2"/>
          <p:cNvSpPr/>
          <p:nvPr/>
        </p:nvSpPr>
        <p:spPr>
          <a:xfrm>
            <a:off x="16809415" y="7453640"/>
            <a:ext cx="0" cy="928939"/>
          </a:xfrm>
          <a:prstGeom prst="line">
            <a:avLst/>
          </a:prstGeom>
          <a:noFill/>
          <a:ln w="60960">
            <a:solidFill>
              <a:srgbClr val="3A4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Next dot 3"/>
          <p:cNvSpPr/>
          <p:nvPr/>
        </p:nvSpPr>
        <p:spPr>
          <a:xfrm>
            <a:off x="16145835" y="8404708"/>
            <a:ext cx="1327069" cy="1327069"/>
          </a:xfrm>
          <a:prstGeom prst="ellipse">
            <a:avLst/>
          </a:prstGeom>
          <a:solidFill>
            <a:srgbClr val="1E2C33"/>
          </a:solidFill>
          <a:ln w="60960">
            <a:solidFill>
              <a:srgbClr val="F4A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Next number 3"/>
          <p:cNvSpPr txBox="1"/>
          <p:nvPr/>
        </p:nvSpPr>
        <p:spPr>
          <a:xfrm>
            <a:off x="16145835" y="8404708"/>
            <a:ext cx="1327069" cy="132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7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70" dirty="0"/>
          </a:p>
        </p:txBody>
      </p:sp>
      <p:sp>
        <p:nvSpPr>
          <p:cNvPr id="19" name="Next step 3"/>
          <p:cNvSpPr txBox="1"/>
          <p:nvPr/>
        </p:nvSpPr>
        <p:spPr>
          <a:xfrm>
            <a:off x="18025842" y="8316194"/>
            <a:ext cx="10174072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and notices</a:t>
            </a:r>
            <a:endParaRPr lang="en-US" sz="4110" dirty="0"/>
          </a:p>
          <a:p>
            <a:pPr marL="0" indent="0">
              <a:buNone/>
            </a:pPr>
            <a:r>
              <a:rPr lang="en-US" sz="339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Department, then registrar; students are told</a:t>
            </a:r>
            <a:endParaRPr lang="en-US" sz="4110" dirty="0"/>
          </a:p>
        </p:txBody>
      </p:sp>
      <p:sp>
        <p:nvSpPr>
          <p:cNvPr id="20" name="Closing line"/>
          <p:cNvSpPr txBox="1"/>
          <p:nvPr/>
        </p:nvSpPr>
        <p:spPr>
          <a:xfrm>
            <a:off x="1327069" y="11611783"/>
            <a:ext cx="17694097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1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hour matters.</a:t>
            </a:r>
            <a:endParaRPr lang="en-US" sz="8710" dirty="0"/>
          </a:p>
        </p:txBody>
      </p:sp>
      <p:sp>
        <p:nvSpPr>
          <p:cNvPr id="21" name="Thanks"/>
          <p:cNvSpPr txBox="1"/>
          <p:nvPr/>
        </p:nvSpPr>
        <p:spPr>
          <a:xfrm>
            <a:off x="1327069" y="13491698"/>
            <a:ext cx="17694097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90" dirty="0">
                <a:solidFill>
                  <a:srgbClr val="A9A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· questions welcome</a:t>
            </a:r>
            <a:endParaRPr lang="en-US" sz="33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zan">
  <a:themeElements>
    <a:clrScheme name="Mizan">
      <a:dk1>
        <a:srgbClr val="172126"/>
      </a:dk1>
      <a:lt1>
        <a:srgbClr val="FFFCF7"/>
      </a:lt1>
      <a:dk2>
        <a:srgbClr val="111C21"/>
      </a:dk2>
      <a:lt2>
        <a:srgbClr val="EEE8DE"/>
      </a:lt2>
      <a:accent1>
        <a:srgbClr val="F4A252"/>
      </a:accent1>
      <a:accent2>
        <a:srgbClr val="529573"/>
      </a:accent2>
      <a:accent3>
        <a:srgbClr val="4B6C9F"/>
      </a:accent3>
      <a:accent4>
        <a:srgbClr val="B95042"/>
      </a:accent4>
      <a:accent5>
        <a:srgbClr val="EAAA62"/>
      </a:accent5>
      <a:accent6>
        <a:srgbClr val="68645B"/>
      </a:accent6>
      <a:hlink>
        <a:srgbClr val="315583"/>
      </a:hlink>
      <a:folHlink>
        <a:srgbClr val="303533"/>
      </a:folHlink>
    </a:clrScheme>
    <a:fontScheme name="Miza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1914</Words>
  <Application>Microsoft Office PowerPoint</Application>
  <PresentationFormat>Custom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Mizan</vt:lpstr>
      <vt:lpstr>PowerPoint Presentation</vt:lpstr>
      <vt:lpstr>Gaps between classes cost students their attendance</vt:lpstr>
      <vt:lpstr>One change touches rooms, professors and hundreds of students</vt:lpstr>
      <vt:lpstr>Mizan measures, improves and checks, then people decide</vt:lpstr>
      <vt:lpstr>Live demo: a whole semester improved in 15 seconds</vt:lpstr>
      <vt:lpstr>Your real Edugate schedule in, a better one out</vt:lpstr>
      <vt:lpstr>Built to be trusted: local AI, rules enforced by code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Mizan — Farq 2026 final</dc:title>
  <dc:subject>PptxGenJS Presentation</dc:subject>
  <dc:creator>Mizan team</dc:creator>
  <cp:lastModifiedBy>ali bin ali</cp:lastModifiedBy>
  <cp:revision>2</cp:revision>
  <dcterms:created xsi:type="dcterms:W3CDTF">2026-10-04T06:06:49Z</dcterms:created>
  <dcterms:modified xsi:type="dcterms:W3CDTF">2026-10-05T01:44:21Z</dcterms:modified>
</cp:coreProperties>
</file>